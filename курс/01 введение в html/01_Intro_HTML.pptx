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390" r:id="rId3"/>
    <p:sldId id="270" r:id="rId4"/>
    <p:sldId id="271" r:id="rId5"/>
    <p:sldId id="314" r:id="rId6"/>
    <p:sldId id="389" r:id="rId7"/>
    <p:sldId id="285" r:id="rId8"/>
    <p:sldId id="273" r:id="rId9"/>
    <p:sldId id="274" r:id="rId10"/>
    <p:sldId id="313" r:id="rId11"/>
    <p:sldId id="275" r:id="rId12"/>
    <p:sldId id="276" r:id="rId13"/>
    <p:sldId id="278" r:id="rId14"/>
    <p:sldId id="279" r:id="rId15"/>
    <p:sldId id="281" r:id="rId16"/>
    <p:sldId id="288" r:id="rId17"/>
    <p:sldId id="300" r:id="rId18"/>
    <p:sldId id="295" r:id="rId19"/>
    <p:sldId id="304" r:id="rId20"/>
    <p:sldId id="302" r:id="rId21"/>
    <p:sldId id="303" r:id="rId22"/>
    <p:sldId id="328" r:id="rId2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1E6644B4-65A5-4627-939F-F5AC1E1D260F}">
          <p14:sldIdLst>
            <p14:sldId id="256"/>
            <p14:sldId id="390"/>
            <p14:sldId id="270"/>
            <p14:sldId id="271"/>
            <p14:sldId id="314"/>
            <p14:sldId id="389"/>
            <p14:sldId id="285"/>
            <p14:sldId id="273"/>
            <p14:sldId id="274"/>
            <p14:sldId id="313"/>
            <p14:sldId id="275"/>
            <p14:sldId id="276"/>
            <p14:sldId id="278"/>
            <p14:sldId id="279"/>
            <p14:sldId id="281"/>
            <p14:sldId id="288"/>
            <p14:sldId id="300"/>
            <p14:sldId id="295"/>
            <p14:sldId id="304"/>
            <p14:sldId id="302"/>
            <p14:sldId id="303"/>
            <p14:sldId id="32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Роман Никифоров" initials="РН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DE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99" autoAdjust="0"/>
    <p:restoredTop sz="94638" autoAdjust="0"/>
  </p:normalViewPr>
  <p:slideViewPr>
    <p:cSldViewPr>
      <p:cViewPr varScale="1">
        <p:scale>
          <a:sx n="114" d="100"/>
          <a:sy n="114" d="100"/>
        </p:scale>
        <p:origin x="152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0A73BB-53F0-4879-B27B-271F03EFF402}" type="datetimeFigureOut">
              <a:rPr lang="ru-RU" smtClean="0"/>
              <a:t>11.01.2022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234601-5097-4E42-926E-E1C31A4D0B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7502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defRPr sz="4800" b="1" cap="none" spc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defRPr>
            </a:lvl1pPr>
            <a:extLst/>
          </a:lstStyle>
          <a:p>
            <a:r>
              <a:rPr kumimoji="0" lang="ru-RU" dirty="0"/>
              <a:t>Образец заголовка</a:t>
            </a:r>
            <a:endParaRPr kumimoji="0" lang="en-US" dirty="0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D6EF158-505A-45E0-A8F6-08FACAFEA132}" type="datetimeFigureOut">
              <a:rPr lang="ru-RU" smtClean="0"/>
              <a:t>11.01.2022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11.01.2022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/>
          <a:lstStyle>
            <a:lvl1pPr algn="ctr">
              <a:defRPr/>
            </a:lvl1pPr>
            <a:extLst/>
          </a:lstStyle>
          <a:p>
            <a:r>
              <a:rPr kumimoji="0" lang="ru-RU" dirty="0"/>
              <a:t>Образец заголовка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</a:bodyPr>
          <a:lstStyle>
            <a:lvl1pPr algn="r">
              <a:buNone/>
              <a:defRPr sz="4800" b="1" cap="none" spc="0" baseline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dirty="0"/>
              <a:t>Образец заголовка</a:t>
            </a:r>
            <a:endParaRPr kumimoji="0"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11.01.2022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11.01.2022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11.01.2022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11.01.2022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11.01.2022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4D6EF158-505A-45E0-A8F6-08FACAFEA132}" type="datetimeFigureOut">
              <a:rPr lang="ru-RU" smtClean="0"/>
              <a:t>11.01.2022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D6EF158-505A-45E0-A8F6-08FACAFEA132}" type="datetimeFigureOut">
              <a:rPr lang="ru-RU" smtClean="0"/>
              <a:t>11.01.2022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11.01.2022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11.01.2022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4D6EF158-505A-45E0-A8F6-08FACAFEA132}" type="datetimeFigureOut">
              <a:rPr lang="ru-RU" smtClean="0"/>
              <a:t>11.01.2022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goo.gl/c3XFPf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6858000"/>
          </a:xfrm>
          <a:noFill/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>
            <a:norm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r>
              <a:rPr lang="ru-RU" sz="3600" kern="1300" dirty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Введение в </a:t>
            </a:r>
            <a:r>
              <a:rPr lang="en-US" sz="3600" kern="1300" dirty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HTML</a:t>
            </a:r>
            <a:br>
              <a:rPr lang="en-US" sz="3600" kern="1300" dirty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</a:br>
            <a:br>
              <a:rPr lang="en-US" sz="6000" dirty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</a:br>
            <a:r>
              <a:rPr lang="en-US" sz="2400" dirty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https://academy.beetroot.se</a:t>
            </a:r>
            <a:endParaRPr lang="ru-RU" sz="2400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116632"/>
            <a:ext cx="4608511" cy="184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66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9512" y="548680"/>
            <a:ext cx="8856984" cy="1877437"/>
          </a:xfrm>
          <a:prstGeom prst="rect">
            <a:avLst/>
          </a:prstGeom>
          <a:solidFill>
            <a:srgbClr val="FFFF00">
              <a:alpha val="1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Мы будем набирать код в файлах которые имеют расширение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.html</a:t>
            </a:r>
            <a:endParaRPr lang="ru-RU" sz="24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(например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index.html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или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myfile.html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)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endParaRPr lang="ru-RU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Расширение файла имеет значение для локальной машины, так как именно по расширению файла операционная система </a:t>
            </a:r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Windows </a:t>
            </a:r>
            <a:r>
              <a:rPr lang="ru-RU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определяет с помощью какой программы надо открывать этот файл</a:t>
            </a:r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.</a:t>
            </a:r>
            <a:endParaRPr lang="ru-RU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6177" y="2549803"/>
            <a:ext cx="8890317" cy="2031325"/>
          </a:xfrm>
          <a:prstGeom prst="rect">
            <a:avLst/>
          </a:prstGeom>
          <a:solidFill>
            <a:srgbClr val="92D050">
              <a:alpha val="12000"/>
            </a:srgb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HTML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файл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ru-RU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еще называют  </a:t>
            </a:r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HTML-</a:t>
            </a:r>
            <a:r>
              <a:rPr lang="ru-RU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документом</a:t>
            </a:r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ru-RU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или страницей </a:t>
            </a:r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HTML)</a:t>
            </a:r>
            <a:endParaRPr lang="ru-RU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endParaRPr lang="ru-RU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i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HTML </a:t>
            </a:r>
            <a:r>
              <a:rPr lang="ru-RU" b="1" i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документы (файлы) хранятся на серверах (на хостингах)</a:t>
            </a:r>
          </a:p>
          <a:p>
            <a:endParaRPr lang="ru-RU" dirty="0">
              <a:latin typeface="Courier New" pitchFamily="49" charset="0"/>
              <a:cs typeface="Courier New" pitchFamily="49" charset="0"/>
            </a:endParaRPr>
          </a:p>
          <a:p>
            <a:r>
              <a:rPr lang="ru-RU" dirty="0">
                <a:latin typeface="Courier New" pitchFamily="49" charset="0"/>
                <a:cs typeface="Courier New" pitchFamily="49" charset="0"/>
              </a:rPr>
              <a:t>С точки зрения сети  Интернет расширение файла не имеет никакого значения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так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как с сервера браузер получает </a:t>
            </a:r>
          </a:p>
          <a:p>
            <a:r>
              <a:rPr lang="ru-RU" dirty="0">
                <a:latin typeface="Courier New" pitchFamily="49" charset="0"/>
                <a:cs typeface="Courier New" pitchFamily="49" charset="0"/>
              </a:rPr>
              <a:t>не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html-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файл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в явном виде, а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html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-код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52859" y="35332"/>
            <a:ext cx="1683237" cy="36933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HTML </a:t>
            </a:r>
            <a:r>
              <a:rPr lang="ru-RU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файлы</a:t>
            </a:r>
            <a:r>
              <a:rPr lang="en-US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b="1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140" y="4850576"/>
            <a:ext cx="8929356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Контент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HTML-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документа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– это текст, изображения, видео, аудио</a:t>
            </a:r>
          </a:p>
          <a:p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То есть это те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сущности, которые надо отобразить на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html-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странице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997735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15593" y="1569918"/>
            <a:ext cx="9188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solidFill>
                  <a:srgbClr val="C00000"/>
                </a:solidFill>
              </a:rPr>
              <a:t>&lt;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63665" y="1580599"/>
            <a:ext cx="47051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7200" b="1" dirty="0" err="1">
                <a:solidFill>
                  <a:srgbClr val="C00000"/>
                </a:solidFill>
              </a:rPr>
              <a:t>Имя_тега</a:t>
            </a:r>
            <a:r>
              <a:rPr lang="en-US" sz="7200" b="1" dirty="0">
                <a:solidFill>
                  <a:srgbClr val="C00000"/>
                </a:solidFill>
              </a:rPr>
              <a:t> 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12137" y="1569918"/>
            <a:ext cx="12121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C00000"/>
                </a:solidFill>
              </a:rPr>
              <a:t>&gt; 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8361" y="3284984"/>
            <a:ext cx="19431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&lt;html&gt;</a:t>
            </a:r>
            <a:endParaRPr lang="ru-RU" sz="3600" b="1" dirty="0"/>
          </a:p>
          <a:p>
            <a:endParaRPr lang="ru-RU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2334434" y="3284983"/>
            <a:ext cx="12089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&lt;p&gt;</a:t>
            </a:r>
            <a:endParaRPr lang="ru-RU" sz="3600" b="1" dirty="0"/>
          </a:p>
          <a:p>
            <a:endParaRPr lang="ru-RU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3693849" y="3318083"/>
            <a:ext cx="15808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&lt;div&gt;</a:t>
            </a:r>
            <a:endParaRPr lang="ru-RU" sz="3600" b="1" dirty="0"/>
          </a:p>
          <a:p>
            <a:endParaRPr lang="ru-RU" sz="1200" dirty="0"/>
          </a:p>
        </p:txBody>
      </p:sp>
      <p:sp>
        <p:nvSpPr>
          <p:cNvPr id="12" name="TextBox 11"/>
          <p:cNvSpPr txBox="1"/>
          <p:nvPr/>
        </p:nvSpPr>
        <p:spPr>
          <a:xfrm>
            <a:off x="5580112" y="3318083"/>
            <a:ext cx="17716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&lt;</a:t>
            </a:r>
            <a:r>
              <a:rPr lang="en-US" sz="3600" b="1" dirty="0" err="1"/>
              <a:t>img</a:t>
            </a:r>
            <a:r>
              <a:rPr lang="en-US" sz="3600" b="1" dirty="0"/>
              <a:t>&gt;</a:t>
            </a:r>
            <a:endParaRPr lang="ru-RU" sz="3600" b="1" dirty="0"/>
          </a:p>
          <a:p>
            <a:endParaRPr lang="ru-RU" sz="1200" dirty="0"/>
          </a:p>
        </p:txBody>
      </p:sp>
      <p:sp>
        <p:nvSpPr>
          <p:cNvPr id="2" name="TextBox 1"/>
          <p:cNvSpPr txBox="1"/>
          <p:nvPr/>
        </p:nvSpPr>
        <p:spPr>
          <a:xfrm>
            <a:off x="107140" y="2852936"/>
            <a:ext cx="1512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Например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361" y="4509120"/>
            <a:ext cx="8816127" cy="1569660"/>
          </a:xfrm>
          <a:prstGeom prst="rect">
            <a:avLst/>
          </a:prstGeom>
          <a:noFill/>
          <a:ln w="127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Все имена тегов в языке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HTML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заранее определены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, и разработчик 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не может использовать свои имена тегов</a:t>
            </a:r>
          </a:p>
          <a:p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Существующие теги можно посмотреть на сайте  консорциума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W3C 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hlinkClick r:id="rId2"/>
              </a:rPr>
              <a:t>http://goo.gl/c3XFPf</a:t>
            </a:r>
            <a:r>
              <a:rPr 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24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15816" y="35332"/>
            <a:ext cx="3201043" cy="36933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Теговая модель  </a:t>
            </a:r>
            <a:r>
              <a:rPr lang="en-US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HTML </a:t>
            </a:r>
            <a:endParaRPr lang="ru-RU" b="1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140" y="480154"/>
            <a:ext cx="8929356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Контент в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HTML–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документе  заключается в теги (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tag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640488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  <p:bldP spid="10" grpId="0"/>
      <p:bldP spid="11" grpId="0"/>
      <p:bldP spid="12" grpId="0"/>
      <p:bldP spid="2" grpId="0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95536" y="548680"/>
            <a:ext cx="8208912" cy="2956266"/>
          </a:xfrm>
          <a:prstGeom prst="rect">
            <a:avLst/>
          </a:prstGeom>
          <a:solidFill>
            <a:srgbClr val="FFFF00">
              <a:alpha val="11000"/>
            </a:srgb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Парные теги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ru-RU" sz="1600" b="1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теги имеющие закрывающую пару</a:t>
            </a:r>
            <a:endParaRPr lang="en-US" sz="1600" b="1" i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i="1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       </a:t>
            </a:r>
            <a:r>
              <a:rPr lang="en-US" b="1" dirty="0">
                <a:solidFill>
                  <a:schemeClr val="tx1"/>
                </a:solidFill>
              </a:rPr>
              <a:t>&lt;html&gt;…… &lt;/html&gt;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       &lt;head&gt;…… &lt;/head&gt;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       &lt;div&gt;…… &lt;/div&gt;</a:t>
            </a:r>
          </a:p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" name="Правая фигурная скобка 8"/>
          <p:cNvSpPr/>
          <p:nvPr/>
        </p:nvSpPr>
        <p:spPr>
          <a:xfrm rot="5400000">
            <a:off x="1979712" y="120570"/>
            <a:ext cx="504056" cy="2808312"/>
          </a:xfrm>
          <a:prstGeom prst="rightBrace">
            <a:avLst>
              <a:gd name="adj1" fmla="val 8333"/>
              <a:gd name="adj2" fmla="val 51494"/>
            </a:avLst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авая фигурная скобка 9"/>
          <p:cNvSpPr/>
          <p:nvPr/>
        </p:nvSpPr>
        <p:spPr>
          <a:xfrm rot="5400000">
            <a:off x="1979712" y="912657"/>
            <a:ext cx="504056" cy="2808312"/>
          </a:xfrm>
          <a:prstGeom prst="rightBrace">
            <a:avLst>
              <a:gd name="adj1" fmla="val 8333"/>
              <a:gd name="adj2" fmla="val 51494"/>
            </a:avLst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авая фигурная скобка 10"/>
          <p:cNvSpPr/>
          <p:nvPr/>
        </p:nvSpPr>
        <p:spPr>
          <a:xfrm rot="5400000">
            <a:off x="1763688" y="1920769"/>
            <a:ext cx="504056" cy="2376264"/>
          </a:xfrm>
          <a:prstGeom prst="rightBrace">
            <a:avLst>
              <a:gd name="adj1" fmla="val 8333"/>
              <a:gd name="adj2" fmla="val 51494"/>
            </a:avLst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5076056" y="1560730"/>
            <a:ext cx="3456384" cy="1152128"/>
          </a:xfrm>
          <a:prstGeom prst="roundRect">
            <a:avLst/>
          </a:prstGeom>
          <a:solidFill>
            <a:srgbClr val="FFC000">
              <a:alpha val="23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Контейнер, </a:t>
            </a:r>
            <a:r>
              <a:rPr lang="ru-RU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который также может включать в себя другие теги, текст</a:t>
            </a:r>
          </a:p>
        </p:txBody>
      </p:sp>
      <p:cxnSp>
        <p:nvCxnSpPr>
          <p:cNvPr id="14" name="Прямая со стрелкой 13"/>
          <p:cNvCxnSpPr/>
          <p:nvPr/>
        </p:nvCxnSpPr>
        <p:spPr>
          <a:xfrm>
            <a:off x="3635896" y="1524726"/>
            <a:ext cx="1440160" cy="3960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 flipV="1">
            <a:off x="3635896" y="2208802"/>
            <a:ext cx="1440160" cy="10801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 flipV="1">
            <a:off x="3203848" y="2568842"/>
            <a:ext cx="1872208" cy="54005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Прямоугольник 12"/>
          <p:cNvSpPr/>
          <p:nvPr/>
        </p:nvSpPr>
        <p:spPr>
          <a:xfrm>
            <a:off x="395536" y="3717032"/>
            <a:ext cx="8208912" cy="2520280"/>
          </a:xfrm>
          <a:prstGeom prst="rect">
            <a:avLst/>
          </a:prstGeom>
          <a:solidFill>
            <a:srgbClr val="92D050">
              <a:alpha val="13000"/>
            </a:srgb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Например </a:t>
            </a:r>
          </a:p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ru-RU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&lt;div&gt;</a:t>
            </a:r>
          </a:p>
          <a:p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&lt;div&gt;</a:t>
            </a:r>
          </a:p>
          <a:p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&lt;p&gt;</a:t>
            </a:r>
            <a:r>
              <a:rPr lang="ru-RU" sz="2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Это параграф </a:t>
            </a:r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 </a:t>
            </a:r>
            <a:r>
              <a:rPr lang="ru-RU" sz="2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текстом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&lt;/p&gt;</a:t>
            </a:r>
          </a:p>
          <a:p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&lt;/div&gt; </a:t>
            </a:r>
          </a:p>
          <a:p>
            <a:r>
              <a:rPr lang="en-US" sz="24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&lt;/div&gt;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9912" y="35332"/>
            <a:ext cx="1656184" cy="36933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Виды тегов</a:t>
            </a:r>
          </a:p>
        </p:txBody>
      </p:sp>
    </p:spTree>
    <p:extLst>
      <p:ext uri="{BB962C8B-B14F-4D97-AF65-F5344CB8AC3E}">
        <p14:creationId xmlns:p14="http://schemas.microsoft.com/office/powerpoint/2010/main" val="3351525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7504" y="44624"/>
            <a:ext cx="8856984" cy="1656184"/>
          </a:xfrm>
          <a:prstGeom prst="rect">
            <a:avLst/>
          </a:prstGeom>
          <a:solidFill>
            <a:srgbClr val="FFFF00">
              <a:alpha val="11000"/>
            </a:srgb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dirty="0">
                <a:solidFill>
                  <a:srgbClr val="C00000"/>
                </a:solidFill>
              </a:rPr>
              <a:t>Одиночные теги, например </a:t>
            </a:r>
          </a:p>
          <a:p>
            <a:r>
              <a:rPr lang="en-US" dirty="0">
                <a:solidFill>
                  <a:srgbClr val="C00000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</a:rPr>
              <a:t>&lt;meta&gt;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&lt;</a:t>
            </a:r>
            <a:r>
              <a:rPr lang="en-US" dirty="0" err="1">
                <a:solidFill>
                  <a:schemeClr val="tx1"/>
                </a:solidFill>
              </a:rPr>
              <a:t>br</a:t>
            </a:r>
            <a:r>
              <a:rPr lang="en-US" dirty="0">
                <a:solidFill>
                  <a:schemeClr val="tx1"/>
                </a:solidFill>
              </a:rPr>
              <a:t>&gt;</a:t>
            </a:r>
            <a:r>
              <a:rPr lang="ru-RU" dirty="0">
                <a:solidFill>
                  <a:schemeClr val="tx1"/>
                </a:solidFill>
              </a:rPr>
              <a:t> </a:t>
            </a:r>
          </a:p>
          <a:p>
            <a:r>
              <a:rPr lang="en-US" dirty="0">
                <a:solidFill>
                  <a:schemeClr val="tx1"/>
                </a:solidFill>
              </a:rPr>
              <a:t>	&lt;</a:t>
            </a:r>
            <a:r>
              <a:rPr lang="en-US" dirty="0" err="1">
                <a:solidFill>
                  <a:schemeClr val="tx1"/>
                </a:solidFill>
              </a:rPr>
              <a:t>img</a:t>
            </a:r>
            <a:r>
              <a:rPr lang="en-US" dirty="0">
                <a:solidFill>
                  <a:schemeClr val="tx1"/>
                </a:solidFill>
              </a:rPr>
              <a:t>&gt;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&lt;</a:t>
            </a:r>
            <a:r>
              <a:rPr lang="en-US" dirty="0" err="1">
                <a:solidFill>
                  <a:schemeClr val="tx1"/>
                </a:solidFill>
              </a:rPr>
              <a:t>hr</a:t>
            </a:r>
            <a:r>
              <a:rPr lang="en-US" dirty="0">
                <a:solidFill>
                  <a:schemeClr val="tx1"/>
                </a:solidFill>
              </a:rPr>
              <a:t>&gt;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79512" y="1844824"/>
            <a:ext cx="8712968" cy="2520280"/>
          </a:xfrm>
          <a:prstGeom prst="rect">
            <a:avLst/>
          </a:prstGeom>
          <a:solidFill>
            <a:srgbClr val="92D050">
              <a:alpha val="13000"/>
            </a:srgb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Например </a:t>
            </a:r>
          </a:p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ru-RU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&lt;p&gt;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ru-RU" sz="2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Это первая строка текста</a:t>
            </a:r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400" b="1" dirty="0" err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24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ru-RU" sz="24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Это вторая   </a:t>
            </a:r>
          </a:p>
          <a:p>
            <a:r>
              <a:rPr lang="ru-RU" sz="2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строка текста</a:t>
            </a:r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400" b="1" dirty="0" err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img</a:t>
            </a:r>
            <a:r>
              <a:rPr lang="en-US" sz="24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src</a:t>
            </a:r>
            <a:r>
              <a:rPr lang="en-US" sz="24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="myimg.jpg"&gt;</a:t>
            </a:r>
          </a:p>
          <a:p>
            <a:endParaRPr lang="en-US" sz="2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&lt;/p&gt;</a:t>
            </a:r>
          </a:p>
        </p:txBody>
      </p:sp>
    </p:spTree>
    <p:extLst>
      <p:ext uri="{BB962C8B-B14F-4D97-AF65-F5344CB8AC3E}">
        <p14:creationId xmlns:p14="http://schemas.microsoft.com/office/powerpoint/2010/main" val="2946198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7088" y="476672"/>
            <a:ext cx="9009408" cy="648072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Элемент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– это пара тегов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открывающий и закрывающий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и размещенные между ними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символьные данные (текст, или код)  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9912" y="35332"/>
            <a:ext cx="1656184" cy="36933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Элемент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9933" y="1340768"/>
            <a:ext cx="6083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имя_тега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Содержимое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имя_тега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7504" y="2492896"/>
            <a:ext cx="227498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Открывающий тег</a:t>
            </a:r>
          </a:p>
        </p:txBody>
      </p:sp>
      <p:cxnSp>
        <p:nvCxnSpPr>
          <p:cNvPr id="5" name="Прямая со стрелкой 4"/>
          <p:cNvCxnSpPr>
            <a:endCxn id="2" idx="0"/>
          </p:cNvCxnSpPr>
          <p:nvPr/>
        </p:nvCxnSpPr>
        <p:spPr>
          <a:xfrm flipH="1">
            <a:off x="1244995" y="1802433"/>
            <a:ext cx="1526805" cy="69046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/>
          <p:nvPr/>
        </p:nvCxnSpPr>
        <p:spPr>
          <a:xfrm>
            <a:off x="6327012" y="1737829"/>
            <a:ext cx="776357" cy="7550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84168" y="2500410"/>
            <a:ext cx="225254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Закрывающий тег</a:t>
            </a:r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4283968" y="1737829"/>
            <a:ext cx="7865" cy="7550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658490" y="2491266"/>
            <a:ext cx="114967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Контент</a:t>
            </a:r>
          </a:p>
        </p:txBody>
      </p:sp>
      <p:grpSp>
        <p:nvGrpSpPr>
          <p:cNvPr id="29" name="Группа 28"/>
          <p:cNvGrpSpPr/>
          <p:nvPr/>
        </p:nvGrpSpPr>
        <p:grpSpPr>
          <a:xfrm>
            <a:off x="228785" y="3284984"/>
            <a:ext cx="8447671" cy="792088"/>
            <a:chOff x="228785" y="2276872"/>
            <a:chExt cx="8447671" cy="792088"/>
          </a:xfrm>
        </p:grpSpPr>
        <p:sp>
          <p:nvSpPr>
            <p:cNvPr id="30" name="Прямоугольник 29"/>
            <p:cNvSpPr/>
            <p:nvPr/>
          </p:nvSpPr>
          <p:spPr>
            <a:xfrm>
              <a:off x="3347864" y="2276872"/>
              <a:ext cx="5328592" cy="792088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&lt;title&gt;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Пример 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web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-документа</a:t>
              </a:r>
              <a:r>
                <a:rPr lang="en-US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&lt;/title&gt;</a:t>
              </a:r>
              <a:endPara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28785" y="2483604"/>
              <a:ext cx="1976823" cy="369332"/>
            </a:xfrm>
            <a:prstGeom prst="rect">
              <a:avLst/>
            </a:prstGeom>
            <a:noFill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Элемент 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title</a:t>
              </a:r>
              <a:endParaRPr lang="ru-RU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Прямая со стрелкой 31"/>
            <p:cNvCxnSpPr>
              <a:endCxn id="30" idx="1"/>
            </p:cNvCxnSpPr>
            <p:nvPr/>
          </p:nvCxnSpPr>
          <p:spPr>
            <a:xfrm>
              <a:off x="2195736" y="2672916"/>
              <a:ext cx="1152128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3" name="Группа 32"/>
          <p:cNvGrpSpPr/>
          <p:nvPr/>
        </p:nvGrpSpPr>
        <p:grpSpPr>
          <a:xfrm>
            <a:off x="228784" y="4365104"/>
            <a:ext cx="8447672" cy="792088"/>
            <a:chOff x="228784" y="3356992"/>
            <a:chExt cx="8447672" cy="792088"/>
          </a:xfrm>
        </p:grpSpPr>
        <p:sp>
          <p:nvSpPr>
            <p:cNvPr id="34" name="Прямоугольник 33"/>
            <p:cNvSpPr/>
            <p:nvPr/>
          </p:nvSpPr>
          <p:spPr>
            <a:xfrm>
              <a:off x="3347864" y="3356992"/>
              <a:ext cx="5328592" cy="792088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&lt;p&gt;</a:t>
              </a:r>
              <a:r>
                <a:rPr lang="ru-RU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Первый параграф</a:t>
              </a:r>
              <a:r>
                <a:rPr lang="en-US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&lt;/p&gt;</a:t>
              </a:r>
              <a:endPara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28784" y="3563724"/>
              <a:ext cx="1563248" cy="369332"/>
            </a:xfrm>
            <a:prstGeom prst="rect">
              <a:avLst/>
            </a:prstGeom>
            <a:noFill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>
              <a:defPPr>
                <a:defRPr lang="ru-RU"/>
              </a:defPPr>
              <a:lvl1pPr>
                <a:defRPr b="1"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r>
                <a:rPr lang="ru-RU" dirty="0"/>
                <a:t>Элемент </a:t>
              </a:r>
              <a:r>
                <a:rPr lang="en-US" dirty="0"/>
                <a:t> p</a:t>
              </a:r>
              <a:endParaRPr lang="ru-RU" dirty="0"/>
            </a:p>
          </p:txBody>
        </p:sp>
        <p:cxnSp>
          <p:nvCxnSpPr>
            <p:cNvPr id="36" name="Прямая со стрелкой 35"/>
            <p:cNvCxnSpPr>
              <a:stCxn id="35" idx="3"/>
              <a:endCxn id="34" idx="1"/>
            </p:cNvCxnSpPr>
            <p:nvPr/>
          </p:nvCxnSpPr>
          <p:spPr>
            <a:xfrm>
              <a:off x="1792032" y="3748390"/>
              <a:ext cx="1555832" cy="464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7" name="Группа 36"/>
          <p:cNvGrpSpPr/>
          <p:nvPr/>
        </p:nvGrpSpPr>
        <p:grpSpPr>
          <a:xfrm>
            <a:off x="228784" y="5445224"/>
            <a:ext cx="8447672" cy="1296144"/>
            <a:chOff x="228784" y="3356992"/>
            <a:chExt cx="8447672" cy="1296144"/>
          </a:xfrm>
        </p:grpSpPr>
        <p:sp>
          <p:nvSpPr>
            <p:cNvPr id="38" name="Прямоугольник 37"/>
            <p:cNvSpPr/>
            <p:nvPr/>
          </p:nvSpPr>
          <p:spPr>
            <a:xfrm>
              <a:off x="3347864" y="3356992"/>
              <a:ext cx="5328592" cy="1296144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&lt;div&gt;</a:t>
              </a:r>
            </a:p>
            <a:p>
              <a:r>
                <a:rPr lang="en-US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 </a:t>
              </a:r>
              <a:r>
                <a:rPr lang="en-US" b="1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&lt;p&gt;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Первый параграф</a:t>
              </a:r>
              <a:r>
                <a:rPr lang="en-US" b="1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&lt;/p&gt;</a:t>
              </a:r>
            </a:p>
            <a:p>
              <a:r>
                <a:rPr lang="en-US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 </a:t>
              </a:r>
              <a:r>
                <a:rPr lang="en-US" b="1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&lt;p&gt;</a:t>
              </a:r>
              <a:r>
                <a:rPr lang="ru-RU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Второй параграф</a:t>
              </a:r>
              <a:r>
                <a:rPr lang="en-US" b="1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&lt;/p&gt;</a:t>
              </a:r>
              <a:endParaRPr lang="ru-RU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&lt;/div&gt;</a:t>
              </a:r>
              <a:endPara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28784" y="3820398"/>
              <a:ext cx="1838965" cy="369332"/>
            </a:xfrm>
            <a:prstGeom prst="rect">
              <a:avLst/>
            </a:prstGeom>
            <a:noFill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>
              <a:defPPr>
                <a:defRPr lang="ru-RU"/>
              </a:defPPr>
              <a:lvl1pPr>
                <a:defRPr b="1"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r>
                <a:rPr lang="ru-RU" dirty="0"/>
                <a:t>Элемент </a:t>
              </a:r>
              <a:r>
                <a:rPr lang="en-US" dirty="0"/>
                <a:t> div</a:t>
              </a:r>
              <a:endParaRPr lang="ru-RU" dirty="0"/>
            </a:p>
          </p:txBody>
        </p:sp>
        <p:cxnSp>
          <p:nvCxnSpPr>
            <p:cNvPr id="40" name="Прямая со стрелкой 39"/>
            <p:cNvCxnSpPr>
              <a:stCxn id="39" idx="3"/>
              <a:endCxn id="38" idx="1"/>
            </p:cNvCxnSpPr>
            <p:nvPr/>
          </p:nvCxnSpPr>
          <p:spPr>
            <a:xfrm>
              <a:off x="2067749" y="4005064"/>
              <a:ext cx="128011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46686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4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259632" y="3429000"/>
            <a:ext cx="7781151" cy="2880320"/>
          </a:xfrm>
          <a:prstGeom prst="rect">
            <a:avLst/>
          </a:prstGeom>
          <a:solidFill>
            <a:srgbClr val="FFFF00">
              <a:alpha val="1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/>
        </p:nvSpPr>
        <p:spPr>
          <a:xfrm>
            <a:off x="1259632" y="1547500"/>
            <a:ext cx="7781151" cy="1881500"/>
          </a:xfrm>
          <a:prstGeom prst="rect">
            <a:avLst/>
          </a:prstGeom>
          <a:solidFill>
            <a:srgbClr val="92D050">
              <a:alpha val="1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107504" y="12687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b="1">
              <a:solidFill>
                <a:schemeClr val="accent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2" name="Группа 11"/>
          <p:cNvGrpSpPr/>
          <p:nvPr/>
        </p:nvGrpSpPr>
        <p:grpSpPr>
          <a:xfrm>
            <a:off x="35496" y="1268760"/>
            <a:ext cx="9001000" cy="5328592"/>
            <a:chOff x="35496" y="476672"/>
            <a:chExt cx="9001000" cy="5328592"/>
          </a:xfrm>
        </p:grpSpPr>
        <p:sp>
          <p:nvSpPr>
            <p:cNvPr id="2" name="TextBox 1"/>
            <p:cNvSpPr txBox="1"/>
            <p:nvPr/>
          </p:nvSpPr>
          <p:spPr>
            <a:xfrm>
              <a:off x="107504" y="476672"/>
              <a:ext cx="10118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&lt;html&gt;</a:t>
              </a:r>
              <a:endPara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35496" y="5435932"/>
              <a:ext cx="11833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&lt;/html&gt;</a:t>
              </a:r>
              <a:endPara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grpSp>
          <p:nvGrpSpPr>
            <p:cNvPr id="9" name="Группа 8"/>
            <p:cNvGrpSpPr/>
            <p:nvPr/>
          </p:nvGrpSpPr>
          <p:grpSpPr>
            <a:xfrm>
              <a:off x="1187624" y="755412"/>
              <a:ext cx="7848872" cy="4771112"/>
              <a:chOff x="1187624" y="755412"/>
              <a:chExt cx="7848872" cy="4771112"/>
            </a:xfrm>
          </p:grpSpPr>
          <p:sp>
            <p:nvSpPr>
              <p:cNvPr id="4" name="TextBox 3"/>
              <p:cNvSpPr txBox="1"/>
              <p:nvPr/>
            </p:nvSpPr>
            <p:spPr>
              <a:xfrm>
                <a:off x="1187624" y="755412"/>
                <a:ext cx="10118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&lt;head&gt;</a:t>
                </a:r>
                <a:endParaRPr lang="ru-RU" b="1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1244580" y="2267580"/>
                <a:ext cx="11496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ru-RU"/>
                </a:defPPr>
                <a:lvl1pPr>
                  <a:defRPr>
                    <a:solidFill>
                      <a:srgbClr val="0070C0"/>
                    </a:solidFill>
                  </a:defRPr>
                </a:lvl1pPr>
              </a:lstStyle>
              <a:p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&lt;/head&gt;</a:t>
                </a:r>
                <a:endParaRPr lang="ru-RU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1244580" y="2627620"/>
                <a:ext cx="10118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accent2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&lt;body&gt;</a:t>
                </a:r>
                <a:endParaRPr lang="ru-RU" b="1" dirty="0">
                  <a:solidFill>
                    <a:schemeClr val="accent2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1236565" y="5157192"/>
                <a:ext cx="11496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ru-RU"/>
                </a:defPPr>
                <a:lvl1pPr>
                  <a:defRPr>
                    <a:solidFill>
                      <a:schemeClr val="accent2">
                        <a:lumMod val="50000"/>
                      </a:schemeClr>
                    </a:solidFill>
                  </a:defRPr>
                </a:lvl1pPr>
              </a:lstStyle>
              <a:p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&lt;/body&gt;</a:t>
                </a:r>
                <a:endParaRPr lang="ru-RU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1942909" y="908720"/>
                <a:ext cx="48718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accent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&lt;title&gt;</a:t>
                </a:r>
                <a:r>
                  <a:rPr lang="ru-RU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Название документа</a:t>
                </a:r>
                <a:r>
                  <a:rPr lang="en-US" b="1" dirty="0">
                    <a:solidFill>
                      <a:schemeClr val="accent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&lt;/title&gt;</a:t>
                </a:r>
                <a:endParaRPr lang="ru-RU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0" name="Прямоугольник 9"/>
              <p:cNvSpPr/>
              <p:nvPr/>
            </p:nvSpPr>
            <p:spPr>
              <a:xfrm>
                <a:off x="2123728" y="1254429"/>
                <a:ext cx="6912768" cy="710788"/>
              </a:xfrm>
              <a:prstGeom prst="rect">
                <a:avLst/>
              </a:prstGeom>
              <a:noFill/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ru-RU" b="1" i="1" dirty="0">
                    <a:solidFill>
                      <a:schemeClr val="accent2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Служебная информация (теги </a:t>
                </a:r>
                <a:r>
                  <a:rPr lang="en-US" b="1" i="1" dirty="0">
                    <a:solidFill>
                      <a:schemeClr val="accent2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&lt;meta&gt;</a:t>
                </a:r>
                <a:r>
                  <a:rPr lang="ru-RU" b="1" i="1" dirty="0">
                    <a:solidFill>
                      <a:schemeClr val="accent2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), описание стилей,</a:t>
                </a:r>
                <a:r>
                  <a:rPr lang="en-US" b="1" i="1" dirty="0">
                    <a:solidFill>
                      <a:schemeClr val="accent2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ru-RU" b="1" i="1" dirty="0">
                    <a:solidFill>
                      <a:schemeClr val="accent2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подключение стилевых файлов, файлов </a:t>
                </a:r>
                <a:r>
                  <a:rPr lang="en-US" b="1" i="1" dirty="0">
                    <a:solidFill>
                      <a:schemeClr val="accent2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JS</a:t>
                </a:r>
                <a:r>
                  <a:rPr lang="ru-RU" b="1" i="1" dirty="0">
                    <a:solidFill>
                      <a:schemeClr val="accent2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</a:p>
            </p:txBody>
          </p:sp>
          <p:sp>
            <p:nvSpPr>
              <p:cNvPr id="11" name="Прямоугольник 10"/>
              <p:cNvSpPr/>
              <p:nvPr/>
            </p:nvSpPr>
            <p:spPr>
              <a:xfrm>
                <a:off x="2123728" y="3078252"/>
                <a:ext cx="6912768" cy="1934924"/>
              </a:xfrm>
              <a:prstGeom prst="rect">
                <a:avLst/>
              </a:prstGeom>
              <a:noFill/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ru-RU" b="1" i="1" dirty="0">
                    <a:solidFill>
                      <a:schemeClr val="accent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Содержимое </a:t>
                </a:r>
                <a:r>
                  <a:rPr lang="en-US" b="1" i="1" dirty="0">
                    <a:solidFill>
                      <a:schemeClr val="accent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HTML </a:t>
                </a:r>
                <a:r>
                  <a:rPr lang="ru-RU" b="1" i="1" dirty="0">
                    <a:solidFill>
                      <a:schemeClr val="accent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документа </a:t>
                </a:r>
              </a:p>
              <a:p>
                <a:r>
                  <a:rPr lang="ru-RU" b="1" i="1" dirty="0">
                    <a:solidFill>
                      <a:schemeClr val="accent2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- теги</a:t>
                </a:r>
              </a:p>
              <a:p>
                <a:r>
                  <a:rPr lang="ru-RU" b="1" i="1" dirty="0">
                    <a:solidFill>
                      <a:schemeClr val="accent2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- </a:t>
                </a:r>
                <a:r>
                  <a:rPr lang="en-US" b="1" i="1" dirty="0">
                    <a:solidFill>
                      <a:schemeClr val="accent2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JS </a:t>
                </a:r>
                <a:r>
                  <a:rPr lang="ru-RU" b="1" i="1" dirty="0">
                    <a:solidFill>
                      <a:schemeClr val="accent2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код</a:t>
                </a:r>
              </a:p>
              <a:p>
                <a:r>
                  <a:rPr lang="ru-RU" b="1" i="1" dirty="0">
                    <a:solidFill>
                      <a:schemeClr val="accent2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- текст</a:t>
                </a:r>
              </a:p>
              <a:p>
                <a:r>
                  <a:rPr lang="ru-RU" b="1" i="1" dirty="0">
                    <a:solidFill>
                      <a:schemeClr val="accent2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- изображения</a:t>
                </a:r>
              </a:p>
              <a:p>
                <a:r>
                  <a:rPr lang="ru-RU" b="1" i="1" dirty="0">
                    <a:solidFill>
                      <a:schemeClr val="accent2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- медиа файлы </a:t>
                </a:r>
              </a:p>
              <a:p>
                <a:r>
                  <a:rPr lang="ru-RU" b="1" i="1" dirty="0">
                    <a:solidFill>
                      <a:schemeClr val="accent2">
                        <a:lumMod val="50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и т.д.</a:t>
                </a:r>
              </a:p>
            </p:txBody>
          </p:sp>
        </p:grpSp>
      </p:grpSp>
      <p:sp>
        <p:nvSpPr>
          <p:cNvPr id="13" name="TextBox 12"/>
          <p:cNvSpPr txBox="1"/>
          <p:nvPr/>
        </p:nvSpPr>
        <p:spPr>
          <a:xfrm>
            <a:off x="107504" y="116632"/>
            <a:ext cx="8928992" cy="923330"/>
          </a:xfrm>
          <a:prstGeom prst="rect">
            <a:avLst/>
          </a:prstGeom>
          <a:noFill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Любой документ должен иметь  3 обязательных элемента </a:t>
            </a:r>
            <a:endParaRPr lang="en-US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buAutoNum type="arabicPeriod"/>
            </a:pPr>
            <a:r>
              <a:rPr lang="ru-RU" dirty="0">
                <a:latin typeface="Courier New" pitchFamily="49" charset="0"/>
                <a:cs typeface="Courier New" pitchFamily="49" charset="0"/>
              </a:rPr>
              <a:t>Один корневой элемент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&lt;html&gt; … &lt;/html&gt;</a:t>
            </a:r>
          </a:p>
          <a:p>
            <a:pPr marL="342900" indent="-342900">
              <a:buAutoNum type="arabicPeriod"/>
            </a:pPr>
            <a:r>
              <a:rPr lang="ru-RU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Два  раздела </a:t>
            </a:r>
            <a:r>
              <a:rPr lang="en-US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- </a:t>
            </a:r>
            <a:r>
              <a:rPr lang="ru-RU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&lt;head&gt;…&lt;/head&gt;    </a:t>
            </a:r>
            <a:r>
              <a:rPr lang="ru-RU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и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&lt;body&gt;…&lt;/body&gt;</a:t>
            </a:r>
            <a:endParaRPr lang="ru-RU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790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2"/>
          <p:cNvSpPr txBox="1">
            <a:spLocks/>
          </p:cNvSpPr>
          <p:nvPr/>
        </p:nvSpPr>
        <p:spPr>
          <a:xfrm>
            <a:off x="2843808" y="116632"/>
            <a:ext cx="3754760" cy="41805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spcBef>
                <a:spcPct val="0"/>
              </a:spcBef>
              <a:buNone/>
              <a:defRPr kumimoji="0" sz="20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ru-RU" dirty="0"/>
              <a:t>Пример </a:t>
            </a:r>
            <a:r>
              <a:rPr lang="en-US" dirty="0"/>
              <a:t>HTML </a:t>
            </a:r>
            <a:r>
              <a:rPr lang="ru-RU" dirty="0"/>
              <a:t>документа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504" y="908720"/>
            <a:ext cx="8712968" cy="4824536"/>
          </a:xfrm>
          <a:prstGeom prst="rect">
            <a:avLst/>
          </a:prstGeom>
          <a:solidFill>
            <a:srgbClr val="FFFF00">
              <a:alpha val="17000"/>
            </a:srgb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>
              <a:defRPr sz="2400" b="1">
                <a:latin typeface="Courier New" pitchFamily="49" charset="0"/>
                <a:cs typeface="Courier New" pitchFamily="49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&lt;html&gt;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00B050"/>
                </a:solidFill>
              </a:rPr>
              <a:t>&lt;head&gt;</a:t>
            </a:r>
          </a:p>
          <a:p>
            <a:r>
              <a:rPr lang="en-US" dirty="0"/>
              <a:t>		</a:t>
            </a:r>
            <a:r>
              <a:rPr lang="en-US" dirty="0">
                <a:solidFill>
                  <a:srgbClr val="7030A0"/>
                </a:solidFill>
              </a:rPr>
              <a:t>&lt;title&gt;</a:t>
            </a:r>
            <a:r>
              <a:rPr lang="ru-RU" dirty="0">
                <a:solidFill>
                  <a:srgbClr val="7030A0"/>
                </a:solidFill>
              </a:rPr>
              <a:t>Название страницы</a:t>
            </a:r>
            <a:r>
              <a:rPr lang="en-US" dirty="0">
                <a:solidFill>
                  <a:srgbClr val="7030A0"/>
                </a:solidFill>
              </a:rPr>
              <a:t>&lt;/title&gt;</a:t>
            </a:r>
            <a:endParaRPr lang="ru-RU" dirty="0">
              <a:solidFill>
                <a:srgbClr val="7030A0"/>
              </a:solidFill>
            </a:endParaRPr>
          </a:p>
          <a:p>
            <a:r>
              <a:rPr lang="ru-RU" dirty="0"/>
              <a:t>		</a:t>
            </a:r>
            <a:r>
              <a:rPr lang="en-US" dirty="0">
                <a:solidFill>
                  <a:srgbClr val="7030A0"/>
                </a:solidFill>
              </a:rPr>
              <a:t>&lt;meta charset=</a:t>
            </a:r>
            <a:r>
              <a:rPr lang="en-US" dirty="0">
                <a:solidFill>
                  <a:srgbClr val="7030A0"/>
                </a:solidFill>
                <a:latin typeface="Courier New"/>
                <a:cs typeface="Courier New"/>
              </a:rPr>
              <a:t>"</a:t>
            </a:r>
            <a:r>
              <a:rPr lang="en-US" dirty="0">
                <a:solidFill>
                  <a:srgbClr val="7030A0"/>
                </a:solidFill>
              </a:rPr>
              <a:t>utf-8</a:t>
            </a:r>
            <a:r>
              <a:rPr lang="en-US" dirty="0">
                <a:solidFill>
                  <a:srgbClr val="7030A0"/>
                </a:solidFill>
                <a:latin typeface="Courier New"/>
                <a:cs typeface="Courier New"/>
              </a:rPr>
              <a:t>"</a:t>
            </a:r>
            <a:r>
              <a:rPr lang="en-US" dirty="0">
                <a:solidFill>
                  <a:srgbClr val="7030A0"/>
                </a:solidFill>
              </a:rPr>
              <a:t>&gt;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00B050"/>
                </a:solidFill>
              </a:rPr>
              <a:t>&lt;/head&gt;</a:t>
            </a:r>
            <a:endParaRPr lang="ru-RU" dirty="0">
              <a:solidFill>
                <a:srgbClr val="00B050"/>
              </a:solidFill>
            </a:endParaRPr>
          </a:p>
          <a:p>
            <a:r>
              <a:rPr lang="ru-RU" dirty="0"/>
              <a:t>	</a:t>
            </a:r>
            <a:r>
              <a:rPr lang="en-US" dirty="0">
                <a:solidFill>
                  <a:srgbClr val="00B050"/>
                </a:solidFill>
              </a:rPr>
              <a:t>&lt;body&gt;</a:t>
            </a:r>
          </a:p>
          <a:p>
            <a:r>
              <a:rPr lang="en-US" dirty="0">
                <a:solidFill>
                  <a:srgbClr val="00B050"/>
                </a:solidFill>
              </a:rPr>
              <a:t>	</a:t>
            </a:r>
          </a:p>
          <a:p>
            <a:r>
              <a:rPr lang="en-US" dirty="0"/>
              <a:t>		</a:t>
            </a:r>
            <a:r>
              <a:rPr lang="en-US" sz="3200" dirty="0"/>
              <a:t>Hello </a:t>
            </a:r>
            <a:r>
              <a:rPr lang="ru-RU" sz="3200" dirty="0"/>
              <a:t>мир !</a:t>
            </a:r>
            <a:endParaRPr lang="en-US" sz="3200" dirty="0"/>
          </a:p>
          <a:p>
            <a:endParaRPr lang="en-US" dirty="0"/>
          </a:p>
          <a:p>
            <a:r>
              <a:rPr lang="en-US" dirty="0"/>
              <a:t>	</a:t>
            </a:r>
            <a:r>
              <a:rPr lang="en-US" dirty="0">
                <a:solidFill>
                  <a:srgbClr val="00B050"/>
                </a:solidFill>
              </a:rPr>
              <a:t>&lt;/body&gt;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&lt;/html&gt;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931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7504" y="548680"/>
            <a:ext cx="8856984" cy="720080"/>
          </a:xfrm>
          <a:prstGeom prst="rect">
            <a:avLst/>
          </a:prstGeom>
          <a:solidFill>
            <a:srgbClr val="FFFF00">
              <a:alpha val="10000"/>
            </a:srgb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Браузеры игнорируют несколько идущих подряд пробелов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между словами и символами в тексте,  и сжимают их до одного.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07504" y="1556792"/>
            <a:ext cx="8856984" cy="360040"/>
          </a:xfrm>
          <a:prstGeom prst="rect">
            <a:avLst/>
          </a:prstGeom>
          <a:solidFill>
            <a:srgbClr val="92D050">
              <a:alpha val="10000"/>
            </a:srgb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Перенос слов и символов браузеры осуществляют по пробелам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67744" y="35332"/>
            <a:ext cx="4536504" cy="36933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Обработка браузерами пробелов</a:t>
            </a:r>
          </a:p>
        </p:txBody>
      </p:sp>
    </p:spTree>
    <p:extLst>
      <p:ext uri="{BB962C8B-B14F-4D97-AF65-F5344CB8AC3E}">
        <p14:creationId xmlns:p14="http://schemas.microsoft.com/office/powerpoint/2010/main" val="67013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2843808" y="140995"/>
            <a:ext cx="3754760" cy="369332"/>
          </a:xfrm>
          <a:noFill/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Классификация элементов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467544" y="980728"/>
            <a:ext cx="8568952" cy="864096"/>
          </a:xfrm>
          <a:prstGeom prst="rect">
            <a:avLst/>
          </a:prstGeom>
          <a:solidFill>
            <a:srgbClr val="FFFF00">
              <a:alpha val="17000"/>
            </a:srgb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Структурные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– элементы обязательные для документа </a:t>
            </a:r>
          </a:p>
          <a:p>
            <a:pPr algn="ctr"/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html, head, body)</a:t>
            </a:r>
            <a:endParaRPr lang="ru-RU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67544" y="2204864"/>
            <a:ext cx="8568952" cy="864096"/>
          </a:xfrm>
          <a:prstGeom prst="rect">
            <a:avLst/>
          </a:prstGeom>
          <a:solidFill>
            <a:srgbClr val="92D050">
              <a:alpha val="14000"/>
            </a:srgb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Блочные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– элементы предназначены для формирования блоков </a:t>
            </a:r>
          </a:p>
          <a:p>
            <a:pPr algn="ctr"/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div, p, H1 – H2, pre, …</a:t>
            </a:r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67544" y="3501008"/>
            <a:ext cx="8568952" cy="864096"/>
          </a:xfrm>
          <a:prstGeom prst="rect">
            <a:avLst/>
          </a:prstGeom>
          <a:solidFill>
            <a:srgbClr val="00B0F0">
              <a:alpha val="12000"/>
            </a:srgb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Текстовые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– элементы создающие разметку текстов </a:t>
            </a:r>
          </a:p>
          <a:p>
            <a:pPr algn="ctr"/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span, strong, u, i, small, …</a:t>
            </a:r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467544" y="4869160"/>
            <a:ext cx="8568952" cy="86409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Специальные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– элементы пустой строки (не содержащие контента) </a:t>
            </a:r>
          </a:p>
          <a:p>
            <a:pPr algn="ctr"/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embed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…</a:t>
            </a:r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97716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835696" y="111986"/>
            <a:ext cx="5184576" cy="369332"/>
          </a:xfr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Вложенные </a:t>
            </a:r>
            <a:r>
              <a:rPr lang="en-US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ru-RU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друг</a:t>
            </a:r>
            <a:r>
              <a:rPr lang="en-US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ru-RU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в друга элементы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35496" y="2924944"/>
            <a:ext cx="8928992" cy="629488"/>
          </a:xfrm>
          <a:prstGeom prst="rect">
            <a:avLst/>
          </a:prstGeom>
          <a:solidFill>
            <a:srgbClr val="FFFF00">
              <a:alpha val="17000"/>
            </a:srgb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Структурные элементы могут включать в себя элементы других                       категорий </a:t>
            </a:r>
            <a:r>
              <a:rPr lang="ru-RU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(то есть блочные, текстовые и специальные)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53714" y="3861048"/>
            <a:ext cx="8910774" cy="701496"/>
          </a:xfrm>
          <a:prstGeom prst="rect">
            <a:avLst/>
          </a:prstGeom>
          <a:solidFill>
            <a:srgbClr val="92D050">
              <a:alpha val="14000"/>
            </a:srgb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Блочные  элементы могут включать в себя блочные,  текстовые и специальные  элементы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35496" y="4959752"/>
            <a:ext cx="8928992" cy="701496"/>
          </a:xfrm>
          <a:prstGeom prst="rect">
            <a:avLst/>
          </a:prstGeom>
          <a:solidFill>
            <a:srgbClr val="00B0F0">
              <a:alpha val="12000"/>
            </a:srgb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Текстовые   элементы могут быть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вложеными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и могут включать в себя только  текстовые элементы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96" y="666562"/>
            <a:ext cx="8928992" cy="1754326"/>
          </a:xfrm>
          <a:prstGeom prst="rect">
            <a:avLst/>
          </a:prstGeom>
          <a:solidFill>
            <a:srgbClr val="92D050">
              <a:alpha val="15000"/>
            </a:srgb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&lt;body&gt;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&lt;div&gt;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	&lt;p&gt;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Параграф вложен в элемент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DIV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&lt;/p&gt;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	&lt;p&gt;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Параграф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&gt; </a:t>
            </a:r>
            <a:r>
              <a:rPr lang="en-US" b="1" i="1" dirty="0">
                <a:latin typeface="Courier New" pitchFamily="49" charset="0"/>
                <a:cs typeface="Courier New" pitchFamily="49" charset="0"/>
              </a:rPr>
              <a:t>c </a:t>
            </a:r>
            <a:r>
              <a:rPr lang="ru-RU" b="1" i="1" dirty="0" err="1">
                <a:latin typeface="Courier New" pitchFamily="49" charset="0"/>
                <a:cs typeface="Courier New" pitchFamily="49" charset="0"/>
              </a:rPr>
              <a:t>вложеным</a:t>
            </a:r>
            <a:r>
              <a:rPr lang="ru-RU" b="1" i="1" dirty="0">
                <a:latin typeface="Courier New" pitchFamily="49" charset="0"/>
                <a:cs typeface="Courier New" pitchFamily="49" charset="0"/>
              </a:rPr>
              <a:t> элементом </a:t>
            </a:r>
            <a:r>
              <a:rPr lang="en-US" b="1" i="1" dirty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&lt;/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&lt;/p&gt;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&lt;/div&gt;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&lt;/body&gt;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5294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2483768" y="140995"/>
            <a:ext cx="4618856" cy="369332"/>
          </a:xfr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Порядок вложения элементов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07504" y="670974"/>
            <a:ext cx="8928992" cy="1512168"/>
          </a:xfrm>
          <a:prstGeom prst="rect">
            <a:avLst/>
          </a:prstGeom>
          <a:solidFill>
            <a:srgbClr val="FFFF00">
              <a:alpha val="17000"/>
            </a:srgb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&lt;p&gt;</a:t>
            </a:r>
            <a:r>
              <a:rPr lang="ru-RU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какой то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текст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4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ru-RU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курсивный</a:t>
            </a:r>
            <a:r>
              <a:rPr lang="ru-RU" sz="2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&lt;u&gt;</a:t>
            </a:r>
            <a:r>
              <a:rPr lang="ru-RU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текст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&lt;/u&gt;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24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&lt;/p&gt;</a:t>
            </a:r>
            <a:endParaRPr lang="ru-RU" sz="20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07504" y="2924944"/>
            <a:ext cx="8928992" cy="15121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&lt;p&gt;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какой то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текст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4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курсивный</a:t>
            </a:r>
            <a:r>
              <a:rPr lang="ru-RU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&lt;u&gt;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текст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24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24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p&gt;</a:t>
            </a:r>
            <a:r>
              <a:rPr lang="en-US" sz="2400" b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u&gt;</a:t>
            </a:r>
            <a:endParaRPr lang="ru-RU" sz="20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 flipV="1">
            <a:off x="899592" y="3032956"/>
            <a:ext cx="7056784" cy="118813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 flipH="1" flipV="1">
            <a:off x="899592" y="3032956"/>
            <a:ext cx="7128792" cy="126014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3265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054660" y="44624"/>
            <a:ext cx="3034680" cy="369332"/>
          </a:xfr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Комментарии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5496" y="620688"/>
            <a:ext cx="9001000" cy="936104"/>
          </a:xfrm>
          <a:prstGeom prst="rect">
            <a:avLst/>
          </a:prstGeom>
          <a:solidFill>
            <a:srgbClr val="FFFF00">
              <a:alpha val="17000"/>
            </a:srgb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&lt;!–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это комментарий, он не выводится браузером на экран 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--&gt;</a:t>
            </a:r>
            <a:endParaRPr lang="ru-RU" sz="24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5496" y="2132856"/>
            <a:ext cx="9001000" cy="1224136"/>
          </a:xfrm>
          <a:prstGeom prst="rect">
            <a:avLst/>
          </a:prstGeom>
          <a:solidFill>
            <a:srgbClr val="92D050">
              <a:alpha val="14000"/>
            </a:srgb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&lt;!-- 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ru-RU" b="1" dirty="0">
              <a:solidFill>
                <a:schemeClr val="accent2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Это комментарий который  написан в двух</a:t>
            </a:r>
          </a:p>
          <a:p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строчках   - то есть это многострочный комментарий    </a:t>
            </a:r>
          </a:p>
          <a:p>
            <a:r>
              <a:rPr lang="ru-RU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--&gt;</a:t>
            </a:r>
            <a:endParaRPr lang="ru-RU" sz="2400" b="1" dirty="0">
              <a:solidFill>
                <a:schemeClr val="accent2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1500" y="3645024"/>
            <a:ext cx="8820980" cy="400110"/>
          </a:xfrm>
          <a:prstGeom prst="rect">
            <a:avLst/>
          </a:prstGeom>
          <a:noFill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 комментарий запрещено вкладывать еще один комментарий</a:t>
            </a:r>
          </a:p>
        </p:txBody>
      </p:sp>
    </p:spTree>
    <p:extLst>
      <p:ext uri="{BB962C8B-B14F-4D97-AF65-F5344CB8AC3E}">
        <p14:creationId xmlns:p14="http://schemas.microsoft.com/office/powerpoint/2010/main" val="2322894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763688" y="71715"/>
            <a:ext cx="5544616" cy="369332"/>
          </a:xfr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Основные правила синтаксиса </a:t>
            </a:r>
            <a:r>
              <a:rPr lang="en-US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HTML</a:t>
            </a:r>
            <a:endParaRPr lang="ru-RU" sz="1800" dirty="0">
              <a:solidFill>
                <a:srgbClr val="002060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07504" y="548680"/>
            <a:ext cx="8928992" cy="504056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Каждый тег начинается с </a:t>
            </a: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и заканчивается </a:t>
            </a:r>
            <a:r>
              <a:rPr lang="en-US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07504" y="1196752"/>
            <a:ext cx="8928992" cy="648072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Браузеры игнорируют нестандартные теги, поэтому есть набор 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четко определенных тегов которые надо использовать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07504" y="1988840"/>
            <a:ext cx="8928992" cy="432048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Имена тегов (как и атрибутов) можно записывать в нижнем регистре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10084" y="2564904"/>
            <a:ext cx="8926411" cy="576064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Допускается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в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html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код включать комментарии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&lt;!--  comments  --&gt;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07503" y="3284984"/>
            <a:ext cx="8928991" cy="1296144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Браузеры игнорируют несколько идущих подряд пробелов, 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и сжимают их до одного, то есть</a:t>
            </a:r>
          </a:p>
          <a:p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&lt;p&gt;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Все равно отобразиться          один пробел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&lt;/p&gt;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107504" y="4725144"/>
            <a:ext cx="8928990" cy="1584176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Элемент, включающий в себя начальные тег другого элемента, должен включать и конечный тег этого элемента (исключение составляют одиночные теги)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&lt;p&gt;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Вложенный элемент  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курсивный текст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еще текст 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&lt;/p&gt;</a:t>
            </a:r>
            <a:endParaRPr lang="ru-RU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561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 animBg="1"/>
      <p:bldP spid="6" grpId="0" animBg="1"/>
      <p:bldP spid="7" grpId="0" animBg="1"/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821547" y="69745"/>
            <a:ext cx="5410944" cy="369332"/>
          </a:xfr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Общая структура  </a:t>
            </a:r>
            <a:r>
              <a:rPr lang="en-US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HTML </a:t>
            </a:r>
            <a:r>
              <a:rPr lang="ru-RU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документа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28983" y="2564904"/>
            <a:ext cx="8640960" cy="86409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accent2"/>
                </a:solidFill>
              </a:rPr>
              <a:t>&lt;!</a:t>
            </a:r>
            <a:r>
              <a:rPr lang="en-US" sz="4400" b="1" dirty="0" err="1">
                <a:solidFill>
                  <a:schemeClr val="accent2"/>
                </a:solidFill>
              </a:rPr>
              <a:t>doctype</a:t>
            </a:r>
            <a:r>
              <a:rPr lang="en-US" sz="4400" b="1" dirty="0">
                <a:solidFill>
                  <a:schemeClr val="accent2"/>
                </a:solidFill>
              </a:rPr>
              <a:t>  html&gt;</a:t>
            </a:r>
            <a:endParaRPr lang="ru-RU" sz="4400" b="1" dirty="0">
              <a:solidFill>
                <a:schemeClr val="accent2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496" y="764704"/>
            <a:ext cx="9036496" cy="1477328"/>
          </a:xfrm>
          <a:prstGeom prst="rect">
            <a:avLst/>
          </a:prstGeom>
          <a:solidFill>
            <a:srgbClr val="FFFF00">
              <a:alpha val="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latin typeface="Courier New" pitchFamily="49" charset="0"/>
                <a:cs typeface="Courier New" pitchFamily="49" charset="0"/>
              </a:rPr>
              <a:t>В начале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HTML-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документа указывается так называемая декларация, в виде элемента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DOCTYPE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-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DTD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D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ocument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T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ype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D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efinition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endParaRPr lang="ru-RU" dirty="0">
              <a:latin typeface="Courier New" pitchFamily="49" charset="0"/>
              <a:cs typeface="Courier New" pitchFamily="49" charset="0"/>
            </a:endParaRPr>
          </a:p>
          <a:p>
            <a:r>
              <a:rPr lang="ru-RU" dirty="0">
                <a:latin typeface="Courier New" pitchFamily="49" charset="0"/>
                <a:cs typeface="Courier New" pitchFamily="49" charset="0"/>
              </a:rPr>
              <a:t>Это служебный элемент, который не отображается и   предназначен он  для указания  браузеру типа текущего документа</a:t>
            </a:r>
          </a:p>
        </p:txBody>
      </p:sp>
    </p:spTree>
    <p:extLst>
      <p:ext uri="{BB962C8B-B14F-4D97-AF65-F5344CB8AC3E}">
        <p14:creationId xmlns:p14="http://schemas.microsoft.com/office/powerpoint/2010/main" val="408233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420320"/>
              </p:ext>
            </p:extLst>
          </p:nvPr>
        </p:nvGraphicFramePr>
        <p:xfrm>
          <a:off x="251520" y="4930368"/>
          <a:ext cx="7848867" cy="1018912"/>
        </p:xfrm>
        <a:graphic>
          <a:graphicData uri="http://schemas.openxmlformats.org/drawingml/2006/table">
            <a:tbl>
              <a:tblPr firstRow="1" bandRow="1" bandCol="1">
                <a:solidFill>
                  <a:schemeClr val="tx2">
                    <a:lumMod val="20000"/>
                    <a:lumOff val="80000"/>
                  </a:schemeClr>
                </a:solidFill>
                <a:tableStyleId>{5C22544A-7EE6-4342-B048-85BDC9FD1C3A}</a:tableStyleId>
              </a:tblPr>
              <a:tblGrid>
                <a:gridCol w="1944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4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41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41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41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h1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h3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h4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h5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H6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соотношение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1.5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1.33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1.17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0.83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0.67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763049" y="31502"/>
            <a:ext cx="3600400" cy="36933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spcBef>
                <a:spcPct val="0"/>
              </a:spcBef>
              <a:buNone/>
              <a:defRPr kumimoji="0" b="1">
                <a:solidFill>
                  <a:srgbClr val="00206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extLst/>
          </a:lstStyle>
          <a:p>
            <a:r>
              <a:rPr lang="ru-RU" dirty="0"/>
              <a:t>Основные </a:t>
            </a:r>
            <a:r>
              <a:rPr lang="en-US" dirty="0"/>
              <a:t>HTML </a:t>
            </a:r>
            <a:r>
              <a:rPr lang="ru-RU" dirty="0"/>
              <a:t>элементы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077492"/>
              </p:ext>
            </p:extLst>
          </p:nvPr>
        </p:nvGraphicFramePr>
        <p:xfrm>
          <a:off x="179512" y="620688"/>
          <a:ext cx="8915694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6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Элемент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Назначение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Особенности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&lt;p&gt;…&lt;/p&gt;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параграф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Блочный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&lt;div&gt;…&lt;/div&gt;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 блок</a:t>
                      </a:r>
                      <a:r>
                        <a:rPr lang="ru-RU" baseline="0" dirty="0">
                          <a:solidFill>
                            <a:schemeClr val="tx1"/>
                          </a:solidFill>
                        </a:rPr>
                        <a:t> на странице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Блочный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	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br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&gt;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Перевод строки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&lt;span&gt;&lt;/span&gt;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В этот элемент можно заключить часть строки для</a:t>
                      </a:r>
                      <a:r>
                        <a:rPr lang="ru-RU" baseline="0" dirty="0">
                          <a:solidFill>
                            <a:schemeClr val="tx1"/>
                          </a:solidFill>
                        </a:rPr>
                        <a:t> форматирования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Строчный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&lt;b&gt;&lt;/b&gt;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Полужирный</a:t>
                      </a:r>
                      <a:r>
                        <a:rPr lang="ru-RU" baseline="0" dirty="0">
                          <a:solidFill>
                            <a:schemeClr val="tx1"/>
                          </a:solidFill>
                        </a:rPr>
                        <a:t>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Строчный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&lt;i&gt;&lt;/i&gt;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Курсивный</a:t>
                      </a:r>
                      <a:r>
                        <a:rPr lang="ru-RU" baseline="0" dirty="0">
                          <a:solidFill>
                            <a:schemeClr val="tx1"/>
                          </a:solidFill>
                        </a:rPr>
                        <a:t>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Строчный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&lt;u&gt;&lt;/u&gt;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Подчеркнутый</a:t>
                      </a:r>
                      <a:r>
                        <a:rPr lang="ru-RU" baseline="0" dirty="0">
                          <a:solidFill>
                            <a:schemeClr val="tx1"/>
                          </a:solidFill>
                        </a:rPr>
                        <a:t>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Строчный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51520" y="4077072"/>
            <a:ext cx="7776864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b="1" dirty="0"/>
              <a:t>Заголовки</a:t>
            </a:r>
            <a:r>
              <a:rPr lang="ru-RU" dirty="0"/>
              <a:t> ( блочный элемент размер шрифта в котором зависит   </a:t>
            </a:r>
          </a:p>
          <a:p>
            <a:r>
              <a:rPr lang="ru-RU" dirty="0"/>
              <a:t>                   от начальных установок браузера)</a:t>
            </a:r>
          </a:p>
        </p:txBody>
      </p:sp>
    </p:spTree>
    <p:extLst>
      <p:ext uri="{BB962C8B-B14F-4D97-AF65-F5344CB8AC3E}">
        <p14:creationId xmlns:p14="http://schemas.microsoft.com/office/powerpoint/2010/main" val="22009796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203848" y="35332"/>
            <a:ext cx="2669468" cy="369332"/>
          </a:xfr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uk-UA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Заголовки</a:t>
            </a:r>
            <a:endParaRPr lang="ru-RU" sz="1800" dirty="0">
              <a:solidFill>
                <a:srgbClr val="002060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44387" name="Rectangle 3"/>
          <p:cNvSpPr>
            <a:spLocks noChangeArrowheads="1"/>
          </p:cNvSpPr>
          <p:nvPr/>
        </p:nvSpPr>
        <p:spPr bwMode="auto">
          <a:xfrm>
            <a:off x="179512" y="980729"/>
            <a:ext cx="3175000" cy="3888431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txBody>
          <a:bodyPr lIns="0" tIns="0" rIns="0" bIns="0"/>
          <a:lstStyle/>
          <a:p>
            <a:pPr marL="228600" indent="-228600" eaLnBrk="0" hangingPunct="0"/>
            <a:endParaRPr lang="ru-RU" sz="2000" b="1" dirty="0">
              <a:latin typeface="Courier New" pitchFamily="49" charset="0"/>
            </a:endParaRPr>
          </a:p>
          <a:p>
            <a:pPr marL="228600" indent="-228600" eaLnBrk="0" hangingPunct="0"/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&lt;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h</a:t>
            </a:r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1&gt;</a:t>
            </a:r>
            <a:r>
              <a:rPr lang="ru-RU" sz="2000" b="1" dirty="0">
                <a:latin typeface="Courier New" pitchFamily="49" charset="0"/>
              </a:rPr>
              <a:t>Заголовок 1</a:t>
            </a:r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&lt;/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h</a:t>
            </a:r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1&gt;</a:t>
            </a:r>
          </a:p>
          <a:p>
            <a:pPr marL="228600" indent="-228600" eaLnBrk="0" hangingPunct="0"/>
            <a:endParaRPr lang="ru-RU" sz="2000" b="1" dirty="0">
              <a:latin typeface="Courier New" pitchFamily="49" charset="0"/>
            </a:endParaRPr>
          </a:p>
          <a:p>
            <a:pPr marL="228600" indent="-228600" eaLnBrk="0" hangingPunct="0"/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&lt;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h</a:t>
            </a:r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2&gt;</a:t>
            </a:r>
            <a:r>
              <a:rPr lang="ru-RU" sz="2000" b="1" dirty="0">
                <a:latin typeface="Courier New" pitchFamily="49" charset="0"/>
              </a:rPr>
              <a:t>Заголовок 2</a:t>
            </a:r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&lt;/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h</a:t>
            </a:r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2&gt;</a:t>
            </a:r>
          </a:p>
          <a:p>
            <a:pPr marL="228600" indent="-228600" eaLnBrk="0" hangingPunct="0"/>
            <a:endParaRPr lang="ru-RU" sz="2000" b="1" dirty="0">
              <a:latin typeface="Courier New" pitchFamily="49" charset="0"/>
            </a:endParaRPr>
          </a:p>
          <a:p>
            <a:pPr marL="228600" indent="-228600" eaLnBrk="0" hangingPunct="0"/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&lt;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h</a:t>
            </a:r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3&gt;</a:t>
            </a:r>
            <a:r>
              <a:rPr lang="ru-RU" sz="2000" b="1" dirty="0">
                <a:latin typeface="Courier New" pitchFamily="49" charset="0"/>
              </a:rPr>
              <a:t>Заголовок 3</a:t>
            </a:r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&lt;/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h</a:t>
            </a:r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3&gt;</a:t>
            </a:r>
          </a:p>
          <a:p>
            <a:pPr marL="228600" indent="-228600" eaLnBrk="0" hangingPunct="0"/>
            <a:endParaRPr lang="ru-RU" sz="2000" b="1" dirty="0">
              <a:latin typeface="Courier New" pitchFamily="49" charset="0"/>
            </a:endParaRPr>
          </a:p>
          <a:p>
            <a:pPr marL="228600" indent="-228600" eaLnBrk="0" hangingPunct="0"/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&lt;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h</a:t>
            </a:r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4&gt;</a:t>
            </a:r>
            <a:r>
              <a:rPr lang="ru-RU" sz="2000" b="1" dirty="0">
                <a:latin typeface="Courier New" pitchFamily="49" charset="0"/>
              </a:rPr>
              <a:t>Заголовок 4</a:t>
            </a:r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&lt;/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h</a:t>
            </a:r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4&gt;</a:t>
            </a:r>
          </a:p>
          <a:p>
            <a:pPr marL="228600" indent="-228600" eaLnBrk="0" hangingPunct="0"/>
            <a:endParaRPr lang="ru-RU" sz="2000" b="1" dirty="0">
              <a:latin typeface="Courier New" pitchFamily="49" charset="0"/>
            </a:endParaRPr>
          </a:p>
          <a:p>
            <a:pPr marL="228600" indent="-228600" eaLnBrk="0" hangingPunct="0"/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&lt;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h</a:t>
            </a:r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5&gt;</a:t>
            </a:r>
            <a:r>
              <a:rPr lang="ru-RU" sz="2000" b="1" dirty="0">
                <a:latin typeface="Courier New" pitchFamily="49" charset="0"/>
              </a:rPr>
              <a:t>Заголовок 5</a:t>
            </a:r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&lt;/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h</a:t>
            </a:r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5&gt;</a:t>
            </a:r>
          </a:p>
          <a:p>
            <a:pPr marL="228600" indent="-228600" eaLnBrk="0" hangingPunct="0"/>
            <a:endParaRPr lang="ru-RU" sz="2000" b="1" dirty="0">
              <a:latin typeface="Courier New" pitchFamily="49" charset="0"/>
            </a:endParaRPr>
          </a:p>
          <a:p>
            <a:pPr marL="228600" indent="-228600" eaLnBrk="0" hangingPunct="0"/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&lt;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h</a:t>
            </a:r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6&gt;</a:t>
            </a:r>
            <a:r>
              <a:rPr lang="ru-RU" sz="2000" b="1" dirty="0">
                <a:latin typeface="Courier New" pitchFamily="49" charset="0"/>
              </a:rPr>
              <a:t>Заголовок 6</a:t>
            </a:r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&lt;/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h</a:t>
            </a:r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6&gt;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5" y="980729"/>
            <a:ext cx="2979265" cy="388843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9512" y="5301208"/>
            <a:ext cx="8784976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h1 – h6  </a:t>
            </a:r>
            <a:r>
              <a:rPr lang="ru-RU" b="1" dirty="0"/>
              <a:t>это блочные элементы, и содержать они могут только строчные </a:t>
            </a:r>
          </a:p>
          <a:p>
            <a:r>
              <a:rPr lang="ru-RU" b="1" dirty="0"/>
              <a:t>             элементы</a:t>
            </a:r>
            <a:r>
              <a:rPr lang="en-US" b="1" dirty="0"/>
              <a:t> 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702533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5" y="2689532"/>
            <a:ext cx="9144000" cy="2851355"/>
          </a:xfrm>
          <a:prstGeom prst="rect">
            <a:avLst/>
          </a:prstGeom>
        </p:spPr>
      </p:pic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>
          <a:xfrm>
            <a:off x="2627784" y="44624"/>
            <a:ext cx="3960440" cy="369332"/>
          </a:xfr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Элемент</a:t>
            </a:r>
            <a:r>
              <a:rPr lang="en-US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ru-RU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  (</a:t>
            </a:r>
            <a:r>
              <a:rPr lang="ru-RU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параграф</a:t>
            </a:r>
            <a:r>
              <a:rPr lang="en-US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257027" name="Text Box 3"/>
          <p:cNvSpPr txBox="1">
            <a:spLocks noChangeArrowheads="1"/>
          </p:cNvSpPr>
          <p:nvPr/>
        </p:nvSpPr>
        <p:spPr bwMode="auto">
          <a:xfrm>
            <a:off x="167407" y="522546"/>
            <a:ext cx="8869089" cy="1754326"/>
          </a:xfrm>
          <a:prstGeom prst="rect">
            <a:avLst/>
          </a:prstGeom>
          <a:noFill/>
          <a:ln w="9525" algn="ctr">
            <a:solidFill>
              <a:srgbClr val="3333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AFAFAF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ru-RU" b="1" dirty="0">
                <a:solidFill>
                  <a:schemeClr val="accent2"/>
                </a:solidFill>
                <a:latin typeface="Courier New" pitchFamily="49" charset="0"/>
              </a:rPr>
              <a:t>&lt;p&gt;</a:t>
            </a:r>
          </a:p>
          <a:p>
            <a:pPr eaLnBrk="0" hangingPunct="0"/>
            <a:r>
              <a:rPr lang="ru-RU" b="1" dirty="0">
                <a:latin typeface="Courier New" pitchFamily="49" charset="0"/>
              </a:rPr>
              <a:t>Параграфы предназначены для логического форматирования текста.</a:t>
            </a:r>
          </a:p>
          <a:p>
            <a:pPr eaLnBrk="0" hangingPunct="0"/>
            <a:r>
              <a:rPr lang="ru-RU" b="1" dirty="0">
                <a:latin typeface="Courier New" pitchFamily="49" charset="0"/>
              </a:rPr>
              <a:t>Между ними образуется пространство для того чтобы визуально разделять текст на параграфы</a:t>
            </a:r>
          </a:p>
          <a:p>
            <a:pPr eaLnBrk="0" hangingPunct="0"/>
            <a:r>
              <a:rPr lang="ru-RU" b="1" dirty="0">
                <a:solidFill>
                  <a:schemeClr val="accent2"/>
                </a:solidFill>
                <a:latin typeface="Courier New" pitchFamily="49" charset="0"/>
              </a:rPr>
              <a:t>&lt;/p&gt;</a:t>
            </a:r>
          </a:p>
          <a:p>
            <a:pPr eaLnBrk="0" hangingPunct="0"/>
            <a:r>
              <a:rPr lang="ru-RU" b="1" dirty="0">
                <a:solidFill>
                  <a:srgbClr val="0070C0"/>
                </a:solidFill>
                <a:latin typeface="Courier New" pitchFamily="49" charset="0"/>
              </a:rPr>
              <a:t>&lt;p&gt;</a:t>
            </a:r>
            <a:r>
              <a:rPr lang="ru-RU" b="1" dirty="0">
                <a:latin typeface="Courier New" pitchFamily="49" charset="0"/>
              </a:rPr>
              <a:t>Это второй параграф</a:t>
            </a:r>
            <a:r>
              <a:rPr lang="ru-RU" b="1" dirty="0">
                <a:solidFill>
                  <a:srgbClr val="0070C0"/>
                </a:solidFill>
                <a:latin typeface="Courier New" pitchFamily="49" charset="0"/>
              </a:rPr>
              <a:t>&lt;/p&gt;</a:t>
            </a:r>
            <a:endParaRPr lang="en-US" b="1" dirty="0">
              <a:solidFill>
                <a:srgbClr val="0070C0"/>
              </a:solidFill>
              <a:latin typeface="Courier New" pitchFamily="49" charset="0"/>
            </a:endParaRPr>
          </a:p>
        </p:txBody>
      </p:sp>
      <p:cxnSp>
        <p:nvCxnSpPr>
          <p:cNvPr id="6" name="Прямая со стрелкой 5"/>
          <p:cNvCxnSpPr/>
          <p:nvPr/>
        </p:nvCxnSpPr>
        <p:spPr>
          <a:xfrm>
            <a:off x="2339752" y="4581128"/>
            <a:ext cx="0" cy="432048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2369643" y="4761148"/>
            <a:ext cx="1296144" cy="104411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619672" y="5807053"/>
            <a:ext cx="446449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Пространство между параграфами</a:t>
            </a:r>
          </a:p>
        </p:txBody>
      </p:sp>
    </p:spTree>
    <p:extLst>
      <p:ext uri="{BB962C8B-B14F-4D97-AF65-F5344CB8AC3E}">
        <p14:creationId xmlns:p14="http://schemas.microsoft.com/office/powerpoint/2010/main" val="3827527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4077072"/>
            <a:ext cx="2687299" cy="2717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>
          <a:xfrm>
            <a:off x="2051720" y="44624"/>
            <a:ext cx="5184576" cy="369332"/>
          </a:xfr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Перенос строк текста в браузере</a:t>
            </a:r>
            <a:endParaRPr lang="en-US" sz="1800" dirty="0">
              <a:solidFill>
                <a:srgbClr val="002060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496" y="539388"/>
            <a:ext cx="8892480" cy="369332"/>
          </a:xfrm>
          <a:prstGeom prst="rect">
            <a:avLst/>
          </a:prstGeom>
          <a:solidFill>
            <a:srgbClr val="92D050">
              <a:alpha val="30000"/>
            </a:srgbClr>
          </a:solidFill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Браузер переносит текст на новую строку по пробельному символу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04" y="4653136"/>
            <a:ext cx="4824536" cy="120032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Всего есть 3 пробельных символа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1. пробел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2. табуляция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клавиша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TAB)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3. клавиша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Enter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8" name="Прямая со стрелкой 7"/>
          <p:cNvCxnSpPr/>
          <p:nvPr/>
        </p:nvCxnSpPr>
        <p:spPr>
          <a:xfrm flipV="1">
            <a:off x="3779912" y="5157193"/>
            <a:ext cx="2592288" cy="130429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96" y="1052735"/>
            <a:ext cx="8844980" cy="347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951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>
          <a:xfrm>
            <a:off x="2339752" y="44624"/>
            <a:ext cx="4392488" cy="369332"/>
          </a:xfr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Элемент</a:t>
            </a:r>
            <a:r>
              <a:rPr lang="en-US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ru-RU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br</a:t>
            </a:r>
            <a:r>
              <a:rPr lang="en-US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– </a:t>
            </a:r>
            <a:r>
              <a:rPr lang="ru-RU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перенос строки</a:t>
            </a:r>
            <a:endParaRPr lang="en-US" sz="1800" dirty="0">
              <a:solidFill>
                <a:srgbClr val="002060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257027" name="Text Box 3"/>
          <p:cNvSpPr txBox="1">
            <a:spLocks noChangeArrowheads="1"/>
          </p:cNvSpPr>
          <p:nvPr/>
        </p:nvSpPr>
        <p:spPr bwMode="auto">
          <a:xfrm>
            <a:off x="35496" y="489446"/>
            <a:ext cx="9036496" cy="923330"/>
          </a:xfrm>
          <a:prstGeom prst="rect">
            <a:avLst/>
          </a:prstGeom>
          <a:noFill/>
          <a:ln w="9525" algn="ctr">
            <a:solidFill>
              <a:srgbClr val="3333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AFAFAF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ru-RU" b="1" dirty="0">
                <a:solidFill>
                  <a:srgbClr val="00B050"/>
                </a:solidFill>
                <a:latin typeface="Courier New" pitchFamily="49" charset="0"/>
              </a:rPr>
              <a:t>&lt;p&gt;</a:t>
            </a:r>
          </a:p>
          <a:p>
            <a:pPr eaLnBrk="0" hangingPunct="0"/>
            <a:r>
              <a:rPr lang="ru-RU" b="1" dirty="0">
                <a:latin typeface="Courier New" pitchFamily="49" charset="0"/>
              </a:rPr>
              <a:t>Это первая строка</a:t>
            </a:r>
            <a:r>
              <a:rPr lang="ru-RU" b="1" dirty="0">
                <a:solidFill>
                  <a:schemeClr val="accent2"/>
                </a:solidFill>
                <a:latin typeface="Courier New" pitchFamily="49" charset="0"/>
              </a:rPr>
              <a:t>&lt;</a:t>
            </a:r>
            <a:r>
              <a:rPr lang="ru-RU" b="1" dirty="0" err="1">
                <a:solidFill>
                  <a:schemeClr val="accent2"/>
                </a:solidFill>
                <a:latin typeface="Courier New" pitchFamily="49" charset="0"/>
              </a:rPr>
              <a:t>br</a:t>
            </a:r>
            <a:r>
              <a:rPr lang="ru-RU" b="1" dirty="0">
                <a:solidFill>
                  <a:schemeClr val="accent2"/>
                </a:solidFill>
                <a:latin typeface="Courier New" pitchFamily="49" charset="0"/>
              </a:rPr>
              <a:t>&gt;</a:t>
            </a:r>
            <a:r>
              <a:rPr lang="ru-RU" b="1" dirty="0">
                <a:latin typeface="Courier New" pitchFamily="49" charset="0"/>
              </a:rPr>
              <a:t>Это вторая строка</a:t>
            </a:r>
            <a:r>
              <a:rPr lang="ru-RU" b="1" dirty="0">
                <a:solidFill>
                  <a:schemeClr val="accent2"/>
                </a:solidFill>
                <a:latin typeface="Courier New" pitchFamily="49" charset="0"/>
              </a:rPr>
              <a:t>&lt;</a:t>
            </a:r>
            <a:r>
              <a:rPr lang="ru-RU" b="1" dirty="0" err="1">
                <a:solidFill>
                  <a:schemeClr val="accent2"/>
                </a:solidFill>
                <a:latin typeface="Courier New" pitchFamily="49" charset="0"/>
              </a:rPr>
              <a:t>br</a:t>
            </a:r>
            <a:r>
              <a:rPr lang="ru-RU" b="1" dirty="0">
                <a:solidFill>
                  <a:schemeClr val="accent2"/>
                </a:solidFill>
                <a:latin typeface="Courier New" pitchFamily="49" charset="0"/>
              </a:rPr>
              <a:t>&gt;</a:t>
            </a:r>
            <a:r>
              <a:rPr lang="ru-RU" b="1" dirty="0">
                <a:latin typeface="Courier New" pitchFamily="49" charset="0"/>
              </a:rPr>
              <a:t>Это третья строка </a:t>
            </a:r>
            <a:r>
              <a:rPr lang="ru-RU" b="1" dirty="0">
                <a:solidFill>
                  <a:schemeClr val="accent2"/>
                </a:solidFill>
                <a:latin typeface="Courier New" pitchFamily="49" charset="0"/>
              </a:rPr>
              <a:t>&lt;</a:t>
            </a:r>
            <a:r>
              <a:rPr lang="ru-RU" b="1" dirty="0" err="1">
                <a:solidFill>
                  <a:schemeClr val="accent2"/>
                </a:solidFill>
                <a:latin typeface="Courier New" pitchFamily="49" charset="0"/>
              </a:rPr>
              <a:t>br</a:t>
            </a:r>
            <a:r>
              <a:rPr lang="ru-RU" b="1" dirty="0">
                <a:solidFill>
                  <a:schemeClr val="accent2"/>
                </a:solidFill>
                <a:latin typeface="Courier New" pitchFamily="49" charset="0"/>
              </a:rPr>
              <a:t>&gt;</a:t>
            </a:r>
          </a:p>
          <a:p>
            <a:pPr eaLnBrk="0" hangingPunct="0"/>
            <a:r>
              <a:rPr lang="ru-RU" b="1" dirty="0">
                <a:solidFill>
                  <a:srgbClr val="00B050"/>
                </a:solidFill>
                <a:latin typeface="Courier New" pitchFamily="49" charset="0"/>
              </a:rPr>
              <a:t>&lt;/p&gt;</a:t>
            </a:r>
            <a:endParaRPr lang="en-US" b="1" dirty="0">
              <a:solidFill>
                <a:srgbClr val="00B050"/>
              </a:solidFill>
              <a:latin typeface="Courier New" pitchFamily="49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1700808"/>
            <a:ext cx="3976006" cy="3709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808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>
          <a:xfrm>
            <a:off x="1259632" y="44624"/>
            <a:ext cx="6624736" cy="369332"/>
          </a:xfr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Элемент</a:t>
            </a:r>
            <a:r>
              <a:rPr lang="en-US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ru-RU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</a:t>
            </a:r>
            <a:r>
              <a:rPr lang="en-US" sz="1800" dirty="0" err="1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hr</a:t>
            </a:r>
            <a:r>
              <a:rPr lang="en-US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 – </a:t>
            </a:r>
            <a:r>
              <a:rPr lang="ru-RU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горизонтальная линия</a:t>
            </a:r>
            <a:endParaRPr lang="en-US" sz="1800" dirty="0">
              <a:solidFill>
                <a:srgbClr val="002060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257027" name="Text Box 3"/>
          <p:cNvSpPr txBox="1">
            <a:spLocks noChangeArrowheads="1"/>
          </p:cNvSpPr>
          <p:nvPr/>
        </p:nvSpPr>
        <p:spPr bwMode="auto">
          <a:xfrm>
            <a:off x="167407" y="692696"/>
            <a:ext cx="8869089" cy="2616101"/>
          </a:xfrm>
          <a:prstGeom prst="rect">
            <a:avLst/>
          </a:prstGeom>
          <a:noFill/>
          <a:ln w="9525" algn="ctr">
            <a:solidFill>
              <a:srgbClr val="3333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AFAFAF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ru-RU" b="1" dirty="0">
                <a:latin typeface="Courier New" pitchFamily="49" charset="0"/>
              </a:rPr>
              <a:t>&lt;p&gt;</a:t>
            </a:r>
          </a:p>
          <a:p>
            <a:pPr eaLnBrk="0" hangingPunct="0"/>
            <a:r>
              <a:rPr lang="ru-RU" b="1" dirty="0">
                <a:latin typeface="Courier New" pitchFamily="49" charset="0"/>
              </a:rPr>
              <a:t>Параграфы предназначены для логического форматирования </a:t>
            </a:r>
            <a:r>
              <a:rPr lang="ru-RU" b="1" dirty="0" err="1">
                <a:latin typeface="Courier New" pitchFamily="49" charset="0"/>
              </a:rPr>
              <a:t>текста.Между</a:t>
            </a:r>
            <a:r>
              <a:rPr lang="ru-RU" b="1" dirty="0">
                <a:latin typeface="Courier New" pitchFamily="49" charset="0"/>
              </a:rPr>
              <a:t> ними образуется пространство для того чтобы визуально разделять текст на параграфы</a:t>
            </a:r>
          </a:p>
          <a:p>
            <a:pPr eaLnBrk="0" hangingPunct="0"/>
            <a:r>
              <a:rPr lang="ru-RU" b="1" dirty="0">
                <a:latin typeface="Courier New" pitchFamily="49" charset="0"/>
              </a:rPr>
              <a:t>&lt;/p&gt;</a:t>
            </a:r>
          </a:p>
          <a:p>
            <a:pPr eaLnBrk="0" hangingPunct="0"/>
            <a:r>
              <a:rPr lang="ru-RU" sz="2000" b="1" dirty="0">
                <a:solidFill>
                  <a:srgbClr val="FF0000"/>
                </a:solidFill>
                <a:latin typeface="Courier New" pitchFamily="49" charset="0"/>
              </a:rPr>
              <a:t>&lt;</a:t>
            </a:r>
            <a:r>
              <a:rPr lang="ru-RU" sz="2000" b="1" dirty="0" err="1">
                <a:solidFill>
                  <a:srgbClr val="FF0000"/>
                </a:solidFill>
                <a:latin typeface="Courier New" pitchFamily="49" charset="0"/>
              </a:rPr>
              <a:t>hr</a:t>
            </a:r>
            <a:r>
              <a:rPr lang="ru-RU" sz="2000" b="1" dirty="0">
                <a:solidFill>
                  <a:srgbClr val="FF0000"/>
                </a:solidFill>
                <a:latin typeface="Courier New" pitchFamily="49" charset="0"/>
              </a:rPr>
              <a:t>&gt;</a:t>
            </a:r>
          </a:p>
          <a:p>
            <a:pPr eaLnBrk="0" hangingPunct="0"/>
            <a:r>
              <a:rPr lang="ru-RU" b="1" dirty="0">
                <a:latin typeface="Courier New" pitchFamily="49" charset="0"/>
              </a:rPr>
              <a:t>&lt;p&gt;</a:t>
            </a:r>
          </a:p>
          <a:p>
            <a:pPr eaLnBrk="0" hangingPunct="0"/>
            <a:r>
              <a:rPr lang="ru-RU" b="1" dirty="0">
                <a:latin typeface="Courier New" pitchFamily="49" charset="0"/>
              </a:rPr>
              <a:t> Это второй параграф </a:t>
            </a:r>
          </a:p>
          <a:p>
            <a:pPr eaLnBrk="0" hangingPunct="0"/>
            <a:r>
              <a:rPr lang="ru-RU" b="1" dirty="0">
                <a:latin typeface="Courier New" pitchFamily="49" charset="0"/>
              </a:rPr>
              <a:t>&lt;/p&gt;</a:t>
            </a:r>
            <a:endParaRPr lang="en-US" b="1" dirty="0">
              <a:latin typeface="Courier New" pitchFamily="49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07" y="3429000"/>
            <a:ext cx="8561751" cy="3378970"/>
          </a:xfrm>
          <a:prstGeom prst="rect">
            <a:avLst/>
          </a:prstGeom>
        </p:spPr>
      </p:pic>
      <p:cxnSp>
        <p:nvCxnSpPr>
          <p:cNvPr id="5" name="Прямая со стрелкой 4"/>
          <p:cNvCxnSpPr/>
          <p:nvPr/>
        </p:nvCxnSpPr>
        <p:spPr>
          <a:xfrm>
            <a:off x="827584" y="2348880"/>
            <a:ext cx="3620698" cy="3600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37312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404664"/>
            <a:ext cx="8352928" cy="70788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31024185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1416</TotalTime>
  <Words>1317</Words>
  <Application>Microsoft Office PowerPoint</Application>
  <PresentationFormat>Экран (4:3)</PresentationFormat>
  <Paragraphs>239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9" baseType="lpstr">
      <vt:lpstr>Calibri</vt:lpstr>
      <vt:lpstr>Courier New</vt:lpstr>
      <vt:lpstr>Lucida Sans Unicode</vt:lpstr>
      <vt:lpstr>Verdana</vt:lpstr>
      <vt:lpstr>Wingdings 2</vt:lpstr>
      <vt:lpstr>Wingdings 3</vt:lpstr>
      <vt:lpstr>Открытая</vt:lpstr>
      <vt:lpstr>Введение в HTML  https://academy.beetroot.se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Классификация элементов</vt:lpstr>
      <vt:lpstr>Вложенные  друг в друга элементы</vt:lpstr>
      <vt:lpstr>Порядок вложения элементов</vt:lpstr>
      <vt:lpstr>Комментарии</vt:lpstr>
      <vt:lpstr>Основные правила синтаксиса HTML</vt:lpstr>
      <vt:lpstr>Общая структура  HTML документа</vt:lpstr>
      <vt:lpstr>Презентация PowerPoint</vt:lpstr>
      <vt:lpstr>Заголовки</vt:lpstr>
      <vt:lpstr>Элемент  p  (параграф)</vt:lpstr>
      <vt:lpstr>Перенос строк текста в браузере</vt:lpstr>
      <vt:lpstr>Элемент  br – перенос строки</vt:lpstr>
      <vt:lpstr>Элемент  &lt;hr&gt; – горизонтальная линия</vt:lpstr>
      <vt:lpstr>Презентация PowerPoint</vt:lpstr>
    </vt:vector>
  </TitlesOfParts>
  <Company>*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roman</dc:creator>
  <cp:lastModifiedBy>Роман Никифоров</cp:lastModifiedBy>
  <cp:revision>437</cp:revision>
  <dcterms:created xsi:type="dcterms:W3CDTF">2010-11-04T13:16:08Z</dcterms:created>
  <dcterms:modified xsi:type="dcterms:W3CDTF">2022-01-11T16:06:55Z</dcterms:modified>
</cp:coreProperties>
</file>