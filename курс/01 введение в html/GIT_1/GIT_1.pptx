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57" r:id="rId2"/>
    <p:sldId id="477" r:id="rId3"/>
    <p:sldId id="527" r:id="rId4"/>
    <p:sldId id="528" r:id="rId5"/>
    <p:sldId id="529" r:id="rId6"/>
    <p:sldId id="479" r:id="rId7"/>
    <p:sldId id="558" r:id="rId8"/>
    <p:sldId id="531" r:id="rId9"/>
    <p:sldId id="559" r:id="rId10"/>
    <p:sldId id="480" r:id="rId11"/>
    <p:sldId id="542" r:id="rId12"/>
    <p:sldId id="540" r:id="rId13"/>
    <p:sldId id="541" r:id="rId14"/>
    <p:sldId id="539" r:id="rId15"/>
    <p:sldId id="532" r:id="rId16"/>
    <p:sldId id="543" r:id="rId17"/>
    <p:sldId id="544" r:id="rId18"/>
    <p:sldId id="560" r:id="rId19"/>
    <p:sldId id="561" r:id="rId20"/>
    <p:sldId id="556" r:id="rId21"/>
    <p:sldId id="442" r:id="rId22"/>
    <p:sldId id="562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4" autoAdjust="0"/>
  </p:normalViewPr>
  <p:slideViewPr>
    <p:cSldViewPr showGuides="1">
      <p:cViewPr varScale="1">
        <p:scale>
          <a:sx n="103" d="100"/>
          <a:sy n="103" d="100"/>
        </p:scale>
        <p:origin x="234" y="96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05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107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888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0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143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132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679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103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826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355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27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28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668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5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178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62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99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2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29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11.12.2017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 err="1" smtClean="0"/>
              <a:t>занятие</a:t>
            </a:r>
            <a:r>
              <a:rPr lang="uk-UA" sz="4000" dirty="0" smtClean="0"/>
              <a:t> </a:t>
            </a:r>
            <a:r>
              <a:rPr lang="en-US" sz="4000" dirty="0" smtClean="0"/>
              <a:t>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69439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496" y="1268760"/>
            <a:ext cx="9001000" cy="27238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ru-RU" sz="9600" dirty="0" smtClean="0">
                <a:solidFill>
                  <a:schemeClr val="accent2"/>
                </a:solidFill>
              </a:rPr>
              <a:t>Внимание</a:t>
            </a:r>
            <a:endParaRPr lang="en-US" sz="9600" dirty="0" smtClean="0">
              <a:solidFill>
                <a:schemeClr val="accent2"/>
              </a:solidFill>
            </a:endParaRPr>
          </a:p>
          <a:p>
            <a:pPr algn="ctr"/>
            <a:r>
              <a:rPr lang="ru-RU" sz="2500" dirty="0" smtClean="0">
                <a:solidFill>
                  <a:srgbClr val="002060"/>
                </a:solidFill>
              </a:rPr>
              <a:t>при работе для именования файлов, каталогов, </a:t>
            </a:r>
            <a:r>
              <a:rPr lang="ru-RU" sz="2500" dirty="0" err="1" smtClean="0">
                <a:solidFill>
                  <a:srgbClr val="002060"/>
                </a:solidFill>
              </a:rPr>
              <a:t>коммитов</a:t>
            </a:r>
            <a:r>
              <a:rPr lang="ru-RU" sz="2500" dirty="0" smtClean="0">
                <a:solidFill>
                  <a:srgbClr val="002060"/>
                </a:solidFill>
              </a:rPr>
              <a:t> и т.д. использовать только английский язык</a:t>
            </a:r>
            <a:endParaRPr lang="ru-RU" sz="25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89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59832" y="162798"/>
            <a:ext cx="5639893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GIT </a:t>
            </a:r>
            <a:r>
              <a:rPr lang="en-US" dirty="0"/>
              <a:t>-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git-scm.com/download/win</a:t>
            </a:r>
            <a:endParaRPr lang="en-US" dirty="0" smtClean="0"/>
          </a:p>
          <a:p>
            <a:r>
              <a:rPr lang="ru-RU" dirty="0" smtClean="0"/>
              <a:t>При установке выбирать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16632"/>
            <a:ext cx="2232248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 smtClean="0">
                <a:solidFill>
                  <a:srgbClr val="002060"/>
                </a:solidFill>
              </a:rPr>
              <a:t>Software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80728"/>
            <a:ext cx="7344816" cy="565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6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235" y="11663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GIT </a:t>
            </a:r>
            <a:r>
              <a:rPr lang="en-US" dirty="0"/>
              <a:t>- </a:t>
            </a:r>
            <a:r>
              <a:rPr lang="ru-RU" dirty="0" smtClean="0"/>
              <a:t>при установке выбирать  - 2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92696"/>
            <a:ext cx="7296077" cy="556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0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235" y="11663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GIT </a:t>
            </a:r>
            <a:r>
              <a:rPr lang="en-US" dirty="0"/>
              <a:t>- </a:t>
            </a:r>
            <a:r>
              <a:rPr lang="ru-RU" dirty="0" smtClean="0"/>
              <a:t>при установке выбирать  - 3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42938"/>
            <a:ext cx="7200800" cy="556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87824" y="44624"/>
            <a:ext cx="3177261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Базовая настройка </a:t>
            </a:r>
            <a:r>
              <a:rPr lang="en-US" dirty="0" smtClean="0"/>
              <a:t>GIT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265710"/>
              </p:ext>
            </p:extLst>
          </p:nvPr>
        </p:nvGraphicFramePr>
        <p:xfrm>
          <a:off x="69084" y="548680"/>
          <a:ext cx="8906445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20">
                  <a:extLst>
                    <a:ext uri="{9D8B030D-6E8A-4147-A177-3AD203B41FA5}">
                      <a16:colId xmlns:a16="http://schemas.microsoft.com/office/drawing/2014/main" val="387118737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968628085"/>
                    </a:ext>
                  </a:extLst>
                </a:gridCol>
                <a:gridCol w="4187505">
                  <a:extLst>
                    <a:ext uri="{9D8B030D-6E8A-4147-A177-3AD203B41FA5}">
                      <a16:colId xmlns:a16="http://schemas.microsoft.com/office/drawing/2014/main" val="299410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Уровень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Linux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Windows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1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системы</a:t>
                      </a:r>
                      <a:endParaRPr lang="ru-RU" sz="1800" b="1" kern="1200" dirty="0" smtClean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r>
                        <a:rPr lang="en-US" sz="1800" b="1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ru-RU" sz="18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etc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ProgramFiles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Git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etc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6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пользователя</a:t>
                      </a:r>
                      <a:endParaRPr lang="en-US" b="1" dirty="0" smtClean="0">
                        <a:solidFill>
                          <a:schemeClr val="accent2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--global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/home/</a:t>
                      </a:r>
                      <a:r>
                        <a:rPr lang="ru-RU" b="1" dirty="0" err="1" smtClean="0">
                          <a:solidFill>
                            <a:srgbClr val="002060"/>
                          </a:solidFill>
                        </a:rPr>
                        <a:t>имя_польз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C\Users\</a:t>
                      </a:r>
                      <a:r>
                        <a:rPr lang="ru-RU" b="1" dirty="0" err="1" smtClean="0">
                          <a:solidFill>
                            <a:srgbClr val="002060"/>
                          </a:solidFill>
                        </a:rPr>
                        <a:t>имя_польз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18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проекта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 err="1" smtClean="0">
                          <a:solidFill>
                            <a:srgbClr val="002060"/>
                          </a:solidFill>
                        </a:rPr>
                        <a:t>каталог_проекта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/.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git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</a:rPr>
                        <a:t>/.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</a:rPr>
                        <a:t>gitconfig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09725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829908"/>
              </p:ext>
            </p:extLst>
          </p:nvPr>
        </p:nvGraphicFramePr>
        <p:xfrm>
          <a:off x="92207" y="3140968"/>
          <a:ext cx="8906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20">
                  <a:extLst>
                    <a:ext uri="{9D8B030D-6E8A-4147-A177-3AD203B41FA5}">
                      <a16:colId xmlns:a16="http://schemas.microsoft.com/office/drawing/2014/main" val="3871187370"/>
                    </a:ext>
                  </a:extLst>
                </a:gridCol>
                <a:gridCol w="7067825">
                  <a:extLst>
                    <a:ext uri="{9D8B030D-6E8A-4147-A177-3AD203B41FA5}">
                      <a16:colId xmlns:a16="http://schemas.microsoft.com/office/drawing/2014/main" val="1968628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Уровень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rgbClr val="C00000"/>
                          </a:solidFill>
                        </a:rPr>
                        <a:t>Формат команды для конфигурации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1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системы</a:t>
                      </a:r>
                      <a:endParaRPr lang="ru-RU" sz="18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--system</a:t>
                      </a:r>
                      <a:r>
                        <a:rPr lang="ru-RU" b="1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команда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6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пользователя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--global</a:t>
                      </a:r>
                      <a:r>
                        <a:rPr lang="ru-RU" b="1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команда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18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проекта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git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b="1" dirty="0" err="1" smtClean="0">
                          <a:solidFill>
                            <a:schemeClr val="accent2"/>
                          </a:solidFill>
                        </a:rPr>
                        <a:t>config</a:t>
                      </a:r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  </a:t>
                      </a:r>
                      <a:r>
                        <a:rPr lang="ru-RU" b="1" dirty="0" smtClean="0">
                          <a:solidFill>
                            <a:srgbClr val="0070C0"/>
                          </a:solidFill>
                        </a:rPr>
                        <a:t>команда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097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47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7684" y="44624"/>
            <a:ext cx="568863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ru-RU" dirty="0" smtClean="0"/>
              <a:t>Практика - базовая настройка </a:t>
            </a:r>
            <a:r>
              <a:rPr lang="en-US" dirty="0" smtClean="0"/>
              <a:t>GIT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32974" y="500479"/>
            <a:ext cx="8543482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uk-UA" dirty="0"/>
              <a:t>В </a:t>
            </a:r>
            <a:r>
              <a:rPr lang="uk-UA" dirty="0" err="1"/>
              <a:t>проводнике</a:t>
            </a:r>
            <a:r>
              <a:rPr lang="uk-UA" dirty="0"/>
              <a:t> зайти в каталог </a:t>
            </a:r>
            <a:r>
              <a:rPr lang="en-US" dirty="0"/>
              <a:t>D:/projects/01_html</a:t>
            </a:r>
          </a:p>
          <a:p>
            <a:pPr marL="342900" indent="-342900">
              <a:buAutoNum type="arabicPeriod"/>
            </a:pPr>
            <a:r>
              <a:rPr lang="uk-UA" dirty="0" err="1"/>
              <a:t>Правой</a:t>
            </a:r>
            <a:r>
              <a:rPr lang="uk-UA" dirty="0"/>
              <a:t> </a:t>
            </a:r>
            <a:r>
              <a:rPr lang="uk-UA" dirty="0" err="1"/>
              <a:t>кнопкой</a:t>
            </a:r>
            <a:r>
              <a:rPr lang="uk-UA" dirty="0"/>
              <a:t> </a:t>
            </a:r>
            <a:r>
              <a:rPr lang="ru-RU" dirty="0"/>
              <a:t>мыши вызвать контекстное меню и </a:t>
            </a:r>
            <a:r>
              <a:rPr lang="ru-RU" dirty="0" smtClean="0"/>
              <a:t>выбрать</a:t>
            </a:r>
            <a:endParaRPr lang="en-US" dirty="0" smtClean="0"/>
          </a:p>
          <a:p>
            <a:r>
              <a:rPr lang="en-US" dirty="0" smtClean="0"/>
              <a:t>   </a:t>
            </a:r>
            <a:r>
              <a:rPr lang="en-US" dirty="0" err="1" smtClean="0">
                <a:solidFill>
                  <a:srgbClr val="C00000"/>
                </a:solidFill>
              </a:rPr>
              <a:t>Git</a:t>
            </a:r>
            <a:r>
              <a:rPr lang="en-US" dirty="0" smtClean="0">
                <a:solidFill>
                  <a:srgbClr val="C00000"/>
                </a:solidFill>
              </a:rPr>
              <a:t> Bash Here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7" y="1512563"/>
            <a:ext cx="6315787" cy="534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5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4235" y="116632"/>
            <a:ext cx="897553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3.Набрать поочередно команды</a:t>
            </a:r>
          </a:p>
          <a:p>
            <a:r>
              <a:rPr lang="ru-RU" dirty="0" smtClean="0"/>
              <a:t>     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002060"/>
                </a:solidFill>
              </a:rPr>
              <a:t>git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--</a:t>
            </a:r>
            <a:r>
              <a:rPr lang="en-US" dirty="0" smtClean="0">
                <a:solidFill>
                  <a:srgbClr val="002060"/>
                </a:solidFill>
              </a:rPr>
              <a:t>global user.name "</a:t>
            </a:r>
            <a:r>
              <a:rPr lang="ru-RU" dirty="0" smtClean="0">
                <a:solidFill>
                  <a:srgbClr val="C00000"/>
                </a:solidFill>
              </a:rPr>
              <a:t>СВОЕ_ИМЯ</a:t>
            </a:r>
            <a:r>
              <a:rPr lang="en-US" dirty="0" smtClean="0">
                <a:solidFill>
                  <a:srgbClr val="002060"/>
                </a:solidFill>
              </a:rPr>
              <a:t>"  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     </a:t>
            </a:r>
            <a:r>
              <a:rPr lang="en-US" dirty="0" err="1" smtClean="0">
                <a:solidFill>
                  <a:srgbClr val="002060"/>
                </a:solidFill>
              </a:rPr>
              <a:t>git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--</a:t>
            </a:r>
            <a:r>
              <a:rPr lang="en-US" dirty="0">
                <a:solidFill>
                  <a:srgbClr val="002060"/>
                </a:solidFill>
              </a:rPr>
              <a:t>global </a:t>
            </a:r>
            <a:r>
              <a:rPr lang="en-US" dirty="0" err="1" smtClean="0">
                <a:solidFill>
                  <a:srgbClr val="002060"/>
                </a:solidFill>
              </a:rPr>
              <a:t>user.email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C00000"/>
                </a:solidFill>
              </a:rPr>
              <a:t>СВОЙ_Е</a:t>
            </a:r>
            <a:r>
              <a:rPr lang="en-US" dirty="0" smtClean="0">
                <a:solidFill>
                  <a:srgbClr val="C00000"/>
                </a:solidFill>
              </a:rPr>
              <a:t>MAIL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    </a:t>
            </a:r>
            <a:r>
              <a:rPr lang="en-US" dirty="0" err="1" smtClean="0">
                <a:solidFill>
                  <a:srgbClr val="002060"/>
                </a:solidFill>
              </a:rPr>
              <a:t>git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config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--</a:t>
            </a:r>
            <a:r>
              <a:rPr lang="en-US" dirty="0">
                <a:solidFill>
                  <a:srgbClr val="002060"/>
                </a:solidFill>
              </a:rPr>
              <a:t>global </a:t>
            </a:r>
            <a:r>
              <a:rPr lang="en-US" dirty="0" err="1" smtClean="0">
                <a:solidFill>
                  <a:srgbClr val="002060"/>
                </a:solidFill>
              </a:rPr>
              <a:t>color.ui</a:t>
            </a:r>
            <a:r>
              <a:rPr lang="en-US" dirty="0" smtClean="0">
                <a:solidFill>
                  <a:srgbClr val="002060"/>
                </a:solidFill>
              </a:rPr>
              <a:t>  true </a:t>
            </a:r>
            <a:endParaRPr lang="en-US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1" y="3068638"/>
            <a:ext cx="8657592" cy="143921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5" y="4745912"/>
            <a:ext cx="8750300" cy="14986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8" y="1556792"/>
            <a:ext cx="8480108" cy="12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9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235" y="116632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4. </a:t>
            </a:r>
            <a:r>
              <a:rPr lang="ru-RU" dirty="0" smtClean="0"/>
              <a:t>Проверка настроек</a:t>
            </a:r>
          </a:p>
          <a:p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   </a:t>
            </a:r>
            <a:r>
              <a:rPr lang="en-US" dirty="0" err="1" smtClean="0">
                <a:solidFill>
                  <a:srgbClr val="002060"/>
                </a:solidFill>
              </a:rPr>
              <a:t>git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config</a:t>
            </a:r>
            <a:r>
              <a:rPr lang="en-US" dirty="0" smtClean="0">
                <a:solidFill>
                  <a:srgbClr val="002060"/>
                </a:solidFill>
              </a:rPr>
              <a:t> –list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  </a:t>
            </a:r>
            <a:r>
              <a:rPr lang="en-US" dirty="0" err="1" smtClean="0">
                <a:solidFill>
                  <a:srgbClr val="002060"/>
                </a:solidFill>
              </a:rPr>
              <a:t>git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config</a:t>
            </a:r>
            <a:r>
              <a:rPr lang="en-US" dirty="0" smtClean="0">
                <a:solidFill>
                  <a:srgbClr val="002060"/>
                </a:solidFill>
              </a:rPr>
              <a:t> user.name</a:t>
            </a:r>
            <a:endParaRPr lang="ru-RU" dirty="0" smtClean="0">
              <a:solidFill>
                <a:srgbClr val="00206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4" y="1556792"/>
            <a:ext cx="8820472" cy="13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16972" y="60269"/>
            <a:ext cx="208823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>
                <a:solidFill>
                  <a:srgbClr val="002060"/>
                </a:solidFill>
              </a:rPr>
              <a:t>Помощь  </a:t>
            </a:r>
            <a:r>
              <a:rPr lang="en-US" dirty="0" smtClean="0">
                <a:solidFill>
                  <a:srgbClr val="002060"/>
                </a:solidFill>
              </a:rPr>
              <a:t>GIT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75530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help</a:t>
            </a:r>
            <a:r>
              <a:rPr lang="en-US" dirty="0" smtClean="0"/>
              <a:t>   -&gt; </a:t>
            </a:r>
            <a:r>
              <a:rPr lang="ru-RU" dirty="0" smtClean="0"/>
              <a:t>выведет список команд</a:t>
            </a:r>
          </a:p>
          <a:p>
            <a:endParaRPr lang="ru-RU" dirty="0"/>
          </a:p>
          <a:p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help log  </a:t>
            </a:r>
            <a:r>
              <a:rPr lang="en-US" dirty="0" smtClean="0"/>
              <a:t>-&gt; </a:t>
            </a:r>
            <a:r>
              <a:rPr lang="ru-RU" dirty="0" smtClean="0"/>
              <a:t>справка по конкретной команде</a:t>
            </a:r>
          </a:p>
          <a:p>
            <a:r>
              <a:rPr lang="ru-RU" dirty="0"/>
              <a:t> </a:t>
            </a:r>
            <a:r>
              <a:rPr lang="ru-RU" dirty="0" smtClean="0"/>
              <a:t>   Перемещение по тексту</a:t>
            </a:r>
          </a:p>
          <a:p>
            <a:r>
              <a:rPr lang="ru-RU" dirty="0"/>
              <a:t> </a:t>
            </a:r>
            <a:r>
              <a:rPr lang="ru-RU" dirty="0" smtClean="0"/>
              <a:t>      </a:t>
            </a:r>
            <a:r>
              <a:rPr lang="ru-RU" dirty="0" smtClean="0">
                <a:solidFill>
                  <a:schemeClr val="accent2"/>
                </a:solidFill>
              </a:rPr>
              <a:t>пробел</a:t>
            </a:r>
            <a:r>
              <a:rPr lang="ru-RU" dirty="0" smtClean="0"/>
              <a:t>(или </a:t>
            </a:r>
            <a:r>
              <a:rPr lang="en-US" dirty="0" smtClean="0">
                <a:solidFill>
                  <a:schemeClr val="accent2"/>
                </a:solidFill>
              </a:rPr>
              <a:t>f</a:t>
            </a:r>
            <a:r>
              <a:rPr lang="ru-RU" dirty="0" smtClean="0"/>
              <a:t>)  -</a:t>
            </a:r>
            <a:r>
              <a:rPr lang="en-US" dirty="0" smtClean="0"/>
              <a:t>&gt; </a:t>
            </a:r>
            <a:r>
              <a:rPr lang="ru-RU" dirty="0" smtClean="0"/>
              <a:t>следующая страница</a:t>
            </a:r>
            <a:endParaRPr lang="en-US" dirty="0" smtClean="0"/>
          </a:p>
          <a:p>
            <a:r>
              <a:rPr lang="en-US" dirty="0" smtClean="0"/>
              <a:t>       </a:t>
            </a:r>
            <a:r>
              <a:rPr lang="en-US" dirty="0" smtClean="0">
                <a:solidFill>
                  <a:schemeClr val="accent2"/>
                </a:solidFill>
              </a:rPr>
              <a:t>b</a:t>
            </a:r>
            <a:r>
              <a:rPr lang="ru-RU" dirty="0" smtClean="0"/>
              <a:t>  </a:t>
            </a:r>
            <a:r>
              <a:rPr lang="ru-RU" dirty="0"/>
              <a:t>-</a:t>
            </a:r>
            <a:r>
              <a:rPr lang="en-US" dirty="0"/>
              <a:t>&gt; </a:t>
            </a:r>
            <a:r>
              <a:rPr lang="ru-RU" dirty="0" smtClean="0"/>
              <a:t>предыдущая </a:t>
            </a:r>
            <a:r>
              <a:rPr lang="ru-RU" dirty="0"/>
              <a:t>страница</a:t>
            </a:r>
          </a:p>
          <a:p>
            <a:r>
              <a:rPr lang="ru-RU" dirty="0" smtClean="0"/>
              <a:t>       </a:t>
            </a:r>
            <a:r>
              <a:rPr lang="en-US" dirty="0" smtClean="0">
                <a:solidFill>
                  <a:schemeClr val="accent2"/>
                </a:solidFill>
              </a:rPr>
              <a:t>q</a:t>
            </a:r>
            <a:r>
              <a:rPr lang="ru-RU" dirty="0" smtClean="0"/>
              <a:t>  </a:t>
            </a:r>
            <a:r>
              <a:rPr lang="ru-RU" dirty="0"/>
              <a:t>-</a:t>
            </a:r>
            <a:r>
              <a:rPr lang="en-US" dirty="0"/>
              <a:t>&gt; </a:t>
            </a:r>
            <a:r>
              <a:rPr lang="ru-RU" dirty="0" smtClean="0"/>
              <a:t>выход</a:t>
            </a:r>
            <a:r>
              <a:rPr lang="en-US" dirty="0" smtClean="0"/>
              <a:t> </a:t>
            </a:r>
            <a:r>
              <a:rPr lang="ru-RU" dirty="0" smtClean="0"/>
              <a:t>из справки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47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35" y="11663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набираем команду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init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80729" y="3429000"/>
            <a:ext cx="8975530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Теперь каталог проекта – это </a:t>
            </a:r>
            <a:r>
              <a:rPr lang="ru-RU" dirty="0" err="1" smtClean="0"/>
              <a:t>репозиторий</a:t>
            </a:r>
            <a:r>
              <a:rPr lang="ru-RU" dirty="0" smtClean="0"/>
              <a:t> файлов проекта, и </a:t>
            </a:r>
            <a:r>
              <a:rPr lang="en-US" dirty="0" smtClean="0"/>
              <a:t>GIT</a:t>
            </a:r>
            <a:r>
              <a:rPr lang="ru-RU" dirty="0" smtClean="0"/>
              <a:t>   будет</a:t>
            </a:r>
            <a:r>
              <a:rPr lang="en-US" dirty="0" smtClean="0"/>
              <a:t> </a:t>
            </a:r>
            <a:r>
              <a:rPr lang="ru-RU" dirty="0" smtClean="0"/>
              <a:t>отслеживать все сделанные в нем изменения.</a:t>
            </a:r>
          </a:p>
          <a:p>
            <a:endParaRPr lang="ru-RU" dirty="0"/>
          </a:p>
          <a:p>
            <a:r>
              <a:rPr lang="ru-RU" dirty="0" smtClean="0"/>
              <a:t>В каталоге проекта создается каталог</a:t>
            </a:r>
            <a:r>
              <a:rPr lang="ru-RU" dirty="0" smtClean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.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ru-RU" dirty="0" smtClean="0"/>
              <a:t>где будут хранится служебные файлы </a:t>
            </a:r>
            <a:r>
              <a:rPr lang="en-US" dirty="0" smtClean="0">
                <a:solidFill>
                  <a:schemeClr val="accent2"/>
                </a:solidFill>
              </a:rPr>
              <a:t>GIT</a:t>
            </a:r>
            <a:r>
              <a:rPr lang="en-US" dirty="0" smtClean="0"/>
              <a:t> </a:t>
            </a:r>
            <a:r>
              <a:rPr lang="ru-RU" dirty="0" smtClean="0"/>
              <a:t>и все изменения, сделанные в проекте</a:t>
            </a:r>
          </a:p>
          <a:p>
            <a:endParaRPr lang="ru-RU" dirty="0"/>
          </a:p>
          <a:p>
            <a:r>
              <a:rPr lang="ru-RU" dirty="0" smtClean="0"/>
              <a:t>Из командной строки можно увидеть этот каталог набрав команду 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    </a:t>
            </a:r>
            <a:r>
              <a:rPr lang="en-US" dirty="0" err="1" smtClean="0">
                <a:solidFill>
                  <a:schemeClr val="accent2"/>
                </a:solidFill>
              </a:rPr>
              <a:t>ls</a:t>
            </a:r>
            <a:r>
              <a:rPr lang="en-US" dirty="0" smtClean="0">
                <a:solidFill>
                  <a:schemeClr val="accent2"/>
                </a:solidFill>
              </a:rPr>
              <a:t> –la</a:t>
            </a:r>
            <a:r>
              <a:rPr lang="ru-RU" dirty="0" smtClean="0">
                <a:solidFill>
                  <a:schemeClr val="accent2"/>
                </a:solidFill>
              </a:rPr>
              <a:t>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2696"/>
            <a:ext cx="8672906" cy="22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07904" y="31288"/>
            <a:ext cx="201622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>
                <a:solidFill>
                  <a:srgbClr val="002060"/>
                </a:solidFill>
              </a:rPr>
              <a:t>Концепция </a:t>
            </a:r>
            <a:r>
              <a:rPr lang="en-US" dirty="0" smtClean="0">
                <a:solidFill>
                  <a:srgbClr val="002060"/>
                </a:solidFill>
              </a:rPr>
              <a:t>GIT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Архитектура </a:t>
            </a:r>
            <a:r>
              <a:rPr lang="en-US" dirty="0" smtClean="0"/>
              <a:t>GIT </a:t>
            </a:r>
            <a:r>
              <a:rPr lang="ru-RU" dirty="0" smtClean="0"/>
              <a:t>– </a:t>
            </a:r>
            <a:r>
              <a:rPr lang="en-US" dirty="0" smtClean="0"/>
              <a:t>three tree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51920" y="1412776"/>
            <a:ext cx="3528392" cy="79208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repository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1920" y="2996952"/>
            <a:ext cx="3528392" cy="79208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staging index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51920" y="4581128"/>
            <a:ext cx="3528392" cy="7920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working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V="1">
            <a:off x="3635896" y="3573016"/>
            <a:ext cx="0" cy="14041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5938" y="4165070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git</a:t>
            </a:r>
            <a:r>
              <a:rPr lang="en-US" sz="2400" b="1" dirty="0" smtClean="0"/>
              <a:t> add f1.txt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092780" y="541386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</a:t>
            </a:r>
            <a:endParaRPr lang="ru-RU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V="1">
            <a:off x="3635896" y="1772816"/>
            <a:ext cx="0" cy="14041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-22558" y="2276872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git</a:t>
            </a:r>
            <a:r>
              <a:rPr lang="en-US" sz="2400" b="1" dirty="0" smtClean="0"/>
              <a:t> commit f1.txt </a:t>
            </a:r>
            <a:endParaRPr lang="ru-RU" sz="2400" b="1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7596336" y="1844824"/>
            <a:ext cx="0" cy="345638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6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51920" y="1412776"/>
            <a:ext cx="3528392" cy="79208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repository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1920" y="2996952"/>
            <a:ext cx="3528392" cy="79208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staging index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51920" y="4581128"/>
            <a:ext cx="3528392" cy="7920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working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938" y="216558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git</a:t>
            </a:r>
            <a:r>
              <a:rPr lang="en-US" sz="2000" b="1" dirty="0" smtClean="0"/>
              <a:t> add f1.txt</a:t>
            </a:r>
            <a:endParaRPr lang="ru-RU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596336" y="479250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f1.txt(v1)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07504" y="508610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git</a:t>
            </a:r>
            <a:r>
              <a:rPr lang="en-US" sz="2000" b="1" dirty="0" smtClean="0"/>
              <a:t> commit f1.txt </a:t>
            </a:r>
            <a:endParaRPr lang="ru-R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275856" y="4817558"/>
            <a:ext cx="41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596336" y="320368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f1.txt(v1)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596336" y="161950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f1.txt(v1)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596336" y="4797152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f1.txt(v2)</a:t>
            </a:r>
            <a:endParaRPr lang="ru-RU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68549" y="868650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git</a:t>
            </a:r>
            <a:r>
              <a:rPr lang="en-US" sz="2000" b="1" dirty="0" smtClean="0"/>
              <a:t> add f1.txt</a:t>
            </a:r>
            <a:endParaRPr lang="ru-RU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34284" y="482442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545256" y="3212976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f1.txt(v2)</a:t>
            </a:r>
            <a:endParaRPr lang="ru-RU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9060" y="1228690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git</a:t>
            </a:r>
            <a:r>
              <a:rPr lang="en-US" sz="2000" b="1" dirty="0" smtClean="0"/>
              <a:t> commit f1.txt 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545256" y="1628800"/>
            <a:ext cx="1563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f1.txt(v2)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6556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12673E-6 L 8.33333E-7 -0.235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7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23611 L 0.00121 -0.4708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1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74347E-6 L 0.00225 -0.2405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20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24074 L 0.00225 -0.4717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13" grpId="0"/>
      <p:bldP spid="13" grpId="1"/>
      <p:bldP spid="14" grpId="0"/>
      <p:bldP spid="21" grpId="0"/>
      <p:bldP spid="22" grpId="0" animBg="1"/>
      <p:bldP spid="23" grpId="0"/>
      <p:bldP spid="4" grpId="0"/>
      <p:bldP spid="4" grpId="1"/>
      <p:bldP spid="4" grpId="2"/>
      <p:bldP spid="24" grpId="0" animBg="1"/>
      <p:bldP spid="25" grpId="0"/>
      <p:bldP spid="26" grpId="0" animBg="1"/>
      <p:bldP spid="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83768" y="44624"/>
            <a:ext cx="446449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 err="1" smtClean="0">
                <a:solidFill>
                  <a:srgbClr val="002060"/>
                </a:solidFill>
              </a:rPr>
              <a:t>Git</a:t>
            </a:r>
            <a:r>
              <a:rPr lang="en-US" dirty="0" smtClean="0">
                <a:solidFill>
                  <a:srgbClr val="002060"/>
                </a:solidFill>
              </a:rPr>
              <a:t>  workflow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632877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ru-RU" dirty="0" smtClean="0"/>
              <a:t>Создаем</a:t>
            </a:r>
            <a:r>
              <a:rPr lang="en-US" dirty="0" smtClean="0"/>
              <a:t>(</a:t>
            </a:r>
            <a:r>
              <a:rPr lang="ru-RU" dirty="0" smtClean="0"/>
              <a:t>редактируем</a:t>
            </a:r>
            <a:r>
              <a:rPr lang="en-US" dirty="0" smtClean="0"/>
              <a:t>)</a:t>
            </a:r>
            <a:r>
              <a:rPr lang="ru-RU" dirty="0" smtClean="0"/>
              <a:t> файл(ы)</a:t>
            </a:r>
          </a:p>
          <a:p>
            <a:pPr marL="342900" indent="-342900">
              <a:buAutoNum type="arabicPeriod"/>
            </a:pPr>
            <a:r>
              <a:rPr lang="ru-RU" dirty="0" smtClean="0"/>
              <a:t>Добавляем их в </a:t>
            </a:r>
            <a:r>
              <a:rPr lang="en-US" dirty="0" smtClean="0"/>
              <a:t>staging area</a:t>
            </a:r>
          </a:p>
          <a:p>
            <a:pPr marL="342900" indent="-342900">
              <a:buAutoNum type="arabicPeriod"/>
            </a:pPr>
            <a:r>
              <a:rPr lang="en-US" dirty="0" smtClean="0"/>
              <a:t>Commit</a:t>
            </a:r>
            <a:r>
              <a:rPr lang="ru-RU" dirty="0" smtClean="0"/>
              <a:t> изменения в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2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63888" y="44624"/>
            <a:ext cx="208823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>
                <a:solidFill>
                  <a:srgbClr val="002060"/>
                </a:solidFill>
              </a:rPr>
              <a:t>Начало работы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239" y="526608"/>
            <a:ext cx="897553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ru-RU" dirty="0" smtClean="0"/>
              <a:t>Набрать </a:t>
            </a:r>
            <a:r>
              <a:rPr lang="ru-RU" dirty="0" smtClean="0"/>
              <a:t>команду </a:t>
            </a:r>
          </a:p>
          <a:p>
            <a:r>
              <a:rPr lang="ru-RU" dirty="0" smtClean="0"/>
              <a:t>        </a:t>
            </a:r>
            <a:r>
              <a:rPr lang="en-US" dirty="0" err="1" smtClean="0">
                <a:solidFill>
                  <a:schemeClr val="accent2"/>
                </a:solidFill>
              </a:rPr>
              <a:t>git</a:t>
            </a:r>
            <a:r>
              <a:rPr lang="en-US" dirty="0" smtClean="0">
                <a:solidFill>
                  <a:schemeClr val="accent2"/>
                </a:solidFill>
              </a:rPr>
              <a:t> status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" y="1285591"/>
            <a:ext cx="9144000" cy="347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239" y="150892"/>
            <a:ext cx="8975530" cy="11387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3. </a:t>
            </a:r>
            <a:r>
              <a:rPr lang="ru-RU" dirty="0" smtClean="0"/>
              <a:t>Дадим команду </a:t>
            </a:r>
            <a:r>
              <a:rPr lang="en-US" dirty="0" smtClean="0"/>
              <a:t>GIT</a:t>
            </a:r>
            <a:r>
              <a:rPr lang="ru-RU" dirty="0" smtClean="0"/>
              <a:t> добавить изменения в </a:t>
            </a:r>
            <a:r>
              <a:rPr lang="en-US" dirty="0" smtClean="0"/>
              <a:t>staging area</a:t>
            </a:r>
            <a:endParaRPr lang="ru-RU" dirty="0" smtClean="0"/>
          </a:p>
          <a:p>
            <a:r>
              <a:rPr lang="en-US" dirty="0" smtClean="0"/>
              <a:t>			</a:t>
            </a:r>
            <a:r>
              <a:rPr lang="en-US" sz="2200" dirty="0" err="1" smtClean="0">
                <a:solidFill>
                  <a:schemeClr val="accent2"/>
                </a:solidFill>
              </a:rPr>
              <a:t>git</a:t>
            </a:r>
            <a:r>
              <a:rPr lang="en-US" sz="2200" dirty="0" smtClean="0">
                <a:solidFill>
                  <a:schemeClr val="accent2"/>
                </a:solidFill>
              </a:rPr>
              <a:t> add .</a:t>
            </a:r>
          </a:p>
          <a:p>
            <a:r>
              <a:rPr lang="ru-RU" dirty="0" smtClean="0"/>
              <a:t>где </a:t>
            </a:r>
            <a:r>
              <a:rPr lang="ru-RU" sz="2800" dirty="0" smtClean="0">
                <a:solidFill>
                  <a:srgbClr val="FF0000"/>
                </a:solidFill>
              </a:rPr>
              <a:t>.</a:t>
            </a:r>
            <a:r>
              <a:rPr lang="ru-RU" dirty="0" smtClean="0"/>
              <a:t> – текущий каталог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72" y="1340768"/>
            <a:ext cx="8676456" cy="50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98488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smtClean="0"/>
              <a:t>Теперь нам нужно отправить изменения в постоянную память </a:t>
            </a:r>
            <a:r>
              <a:rPr lang="en-US" dirty="0" smtClean="0"/>
              <a:t>GIT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sz="2200" dirty="0" err="1" smtClean="0">
                <a:solidFill>
                  <a:schemeClr val="accent2"/>
                </a:solidFill>
              </a:rPr>
              <a:t>git</a:t>
            </a:r>
            <a:r>
              <a:rPr lang="en-US" sz="2200" dirty="0" smtClean="0">
                <a:solidFill>
                  <a:schemeClr val="accent2"/>
                </a:solidFill>
              </a:rPr>
              <a:t> commit –m  "initial </a:t>
            </a:r>
            <a:r>
              <a:rPr lang="en-US" sz="2200" dirty="0">
                <a:solidFill>
                  <a:schemeClr val="accent2"/>
                </a:solidFill>
              </a:rPr>
              <a:t>commit</a:t>
            </a:r>
            <a:r>
              <a:rPr lang="en-US" sz="2200" dirty="0" smtClean="0">
                <a:solidFill>
                  <a:schemeClr val="accent2"/>
                </a:solidFill>
              </a:rPr>
              <a:t>"</a:t>
            </a:r>
            <a:r>
              <a:rPr lang="en-US" dirty="0" smtClean="0"/>
              <a:t> </a:t>
            </a:r>
          </a:p>
          <a:p>
            <a:r>
              <a:rPr lang="ru-RU" dirty="0" smtClean="0"/>
              <a:t>Где  </a:t>
            </a:r>
            <a:r>
              <a:rPr lang="en-US" dirty="0" smtClean="0">
                <a:solidFill>
                  <a:srgbClr val="002060"/>
                </a:solidFill>
              </a:rPr>
              <a:t>–</a:t>
            </a:r>
            <a:r>
              <a:rPr lang="en-US" dirty="0">
                <a:solidFill>
                  <a:srgbClr val="002060"/>
                </a:solidFill>
              </a:rPr>
              <a:t>m </a:t>
            </a:r>
            <a:r>
              <a:rPr lang="en-US" dirty="0" smtClean="0">
                <a:solidFill>
                  <a:srgbClr val="002060"/>
                </a:solidFill>
              </a:rPr>
              <a:t> "initial </a:t>
            </a:r>
            <a:r>
              <a:rPr lang="en-US" dirty="0">
                <a:solidFill>
                  <a:srgbClr val="002060"/>
                </a:solidFill>
              </a:rPr>
              <a:t>commit"</a:t>
            </a:r>
            <a:r>
              <a:rPr lang="en-US" dirty="0" smtClean="0">
                <a:solidFill>
                  <a:srgbClr val="002060"/>
                </a:solidFill>
              </a:rPr>
              <a:t>  </a:t>
            </a:r>
            <a:r>
              <a:rPr lang="en-US" dirty="0" smtClean="0"/>
              <a:t>-&gt; </a:t>
            </a:r>
            <a:r>
              <a:rPr lang="ru-RU" dirty="0" smtClean="0"/>
              <a:t>это описание </a:t>
            </a:r>
            <a:r>
              <a:rPr lang="ru-RU" dirty="0" err="1" smtClean="0"/>
              <a:t>коммита</a:t>
            </a:r>
            <a:endParaRPr lang="ru-RU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84784"/>
            <a:ext cx="8604448" cy="27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smtClean="0"/>
              <a:t>И </a:t>
            </a:r>
            <a:r>
              <a:rPr lang="uk-UA" dirty="0" err="1" smtClean="0"/>
              <a:t>после</a:t>
            </a:r>
            <a:r>
              <a:rPr lang="uk-UA" dirty="0" smtClean="0"/>
              <a:t> </a:t>
            </a:r>
            <a:r>
              <a:rPr lang="uk-UA" dirty="0" err="1" smtClean="0"/>
              <a:t>коммита</a:t>
            </a:r>
            <a:r>
              <a:rPr lang="uk-UA" dirty="0" smtClean="0"/>
              <a:t> </a:t>
            </a:r>
            <a:r>
              <a:rPr lang="uk-UA" dirty="0" err="1" smtClean="0"/>
              <a:t>олять</a:t>
            </a:r>
            <a:r>
              <a:rPr lang="uk-UA" dirty="0" smtClean="0"/>
              <a:t> наберем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sz="2200" dirty="0" err="1" smtClean="0">
                <a:solidFill>
                  <a:schemeClr val="accent2"/>
                </a:solidFill>
              </a:rPr>
              <a:t>git</a:t>
            </a:r>
            <a:r>
              <a:rPr lang="en-US" sz="2200" dirty="0" smtClean="0">
                <a:solidFill>
                  <a:schemeClr val="accent2"/>
                </a:solidFill>
              </a:rPr>
              <a:t> </a:t>
            </a:r>
            <a:r>
              <a:rPr lang="en-US" sz="2200" dirty="0" smtClean="0">
                <a:solidFill>
                  <a:schemeClr val="accent2"/>
                </a:solidFill>
              </a:rPr>
              <a:t>status</a:t>
            </a:r>
            <a:endParaRPr lang="ru-RU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7" y="1196752"/>
            <a:ext cx="8460432" cy="2155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974" y="4293096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smtClean="0"/>
              <a:t>GIT </a:t>
            </a:r>
            <a:r>
              <a:rPr lang="uk-UA" dirty="0" smtClean="0"/>
              <a:t>нам показ</a:t>
            </a:r>
            <a:r>
              <a:rPr lang="ru-RU" dirty="0" err="1" smtClean="0"/>
              <a:t>ывает</a:t>
            </a:r>
            <a:r>
              <a:rPr lang="ru-RU" dirty="0" smtClean="0"/>
              <a:t>, что все изменения которые мы внесли в файл</a:t>
            </a:r>
          </a:p>
          <a:p>
            <a:r>
              <a:rPr lang="ru-RU" dirty="0" smtClean="0"/>
              <a:t>сохранены в его </a:t>
            </a:r>
            <a:r>
              <a:rPr lang="ru-RU" dirty="0" err="1" smtClean="0"/>
              <a:t>репозитории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Таким образом можно продолжать работу </a:t>
            </a:r>
            <a:r>
              <a:rPr lang="ru-RU" dirty="0" smtClean="0"/>
              <a:t> дальше, НО если что то пойдет не так (например файлы случайно удалены) то можно всегда вернуться к этой сохраненной версии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43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23016"/>
            <a:ext cx="897553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smtClean="0"/>
              <a:t>Для </a:t>
            </a:r>
            <a:r>
              <a:rPr lang="uk-UA" dirty="0" err="1" smtClean="0"/>
              <a:t>просмотра</a:t>
            </a:r>
            <a:r>
              <a:rPr lang="uk-UA" dirty="0" smtClean="0"/>
              <a:t> </a:t>
            </a:r>
            <a:r>
              <a:rPr lang="uk-UA" dirty="0" err="1" smtClean="0"/>
              <a:t>истории</a:t>
            </a:r>
            <a:r>
              <a:rPr lang="uk-UA" dirty="0" smtClean="0"/>
              <a:t> </a:t>
            </a:r>
            <a:r>
              <a:rPr lang="uk-UA" dirty="0" err="1" smtClean="0"/>
              <a:t>коммитов</a:t>
            </a:r>
            <a:r>
              <a:rPr lang="uk-UA" dirty="0" smtClean="0"/>
              <a:t> </a:t>
            </a:r>
            <a:r>
              <a:rPr lang="uk-UA" dirty="0" err="1" smtClean="0"/>
              <a:t>набираем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sz="2200" dirty="0" err="1" smtClean="0">
                <a:solidFill>
                  <a:schemeClr val="accent2"/>
                </a:solidFill>
              </a:rPr>
              <a:t>git</a:t>
            </a:r>
            <a:r>
              <a:rPr lang="en-US" sz="2200" dirty="0" smtClean="0">
                <a:solidFill>
                  <a:schemeClr val="accent2"/>
                </a:solidFill>
              </a:rPr>
              <a:t> </a:t>
            </a:r>
            <a:r>
              <a:rPr lang="en-US" sz="2200" dirty="0" smtClean="0">
                <a:solidFill>
                  <a:schemeClr val="accent2"/>
                </a:solidFill>
              </a:rPr>
              <a:t>log</a:t>
            </a:r>
            <a:endParaRPr lang="ru-RU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96752"/>
            <a:ext cx="8604448" cy="314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80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/>
          <p:cNvCxnSpPr/>
          <p:nvPr/>
        </p:nvCxnSpPr>
        <p:spPr>
          <a:xfrm>
            <a:off x="3059832" y="1700808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2879812" y="164254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2887823" y="2420888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2887823" y="3199227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лево 22"/>
          <p:cNvSpPr/>
          <p:nvPr/>
        </p:nvSpPr>
        <p:spPr>
          <a:xfrm>
            <a:off x="3419872" y="1433399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787" y="1579871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Commit 1</a:t>
            </a:r>
            <a:endParaRPr lang="ru-RU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64787" y="2348880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Commit 2</a:t>
            </a:r>
            <a:endParaRPr lang="ru-RU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65221" y="3138527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Commit 3</a:t>
            </a:r>
            <a:endParaRPr lang="ru-RU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83773" y="418255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time</a:t>
            </a:r>
            <a:endParaRPr lang="ru-RU" b="1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063080" y="4038968"/>
            <a:ext cx="0" cy="14401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620688"/>
            <a:ext cx="3960440" cy="147732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&lt;h1&gt;Hello </a:t>
            </a:r>
            <a:r>
              <a:rPr lang="en-US" b="1" dirty="0" err="1" smtClean="0"/>
              <a:t>Git</a:t>
            </a:r>
            <a:r>
              <a:rPr lang="en-US" b="1" dirty="0" smtClean="0"/>
              <a:t>&lt;/h1&gt;</a:t>
            </a:r>
          </a:p>
          <a:p>
            <a:r>
              <a:rPr lang="en-US" b="1" dirty="0" smtClean="0"/>
              <a:t>&lt;p&gt;this is paragraph&lt;/p&gt;</a:t>
            </a:r>
          </a:p>
          <a:p>
            <a:r>
              <a:rPr lang="en-US" b="1" dirty="0"/>
              <a:t>&lt;</a:t>
            </a:r>
            <a:r>
              <a:rPr lang="en-US" b="1" dirty="0" smtClean="0"/>
              <a:t>p&gt;another </a:t>
            </a:r>
            <a:r>
              <a:rPr lang="en-US" b="1" dirty="0"/>
              <a:t>paragraph&lt;/p</a:t>
            </a:r>
            <a:r>
              <a:rPr lang="en-US" b="1" dirty="0" smtClean="0"/>
              <a:t>&gt;</a:t>
            </a:r>
          </a:p>
          <a:p>
            <a:endParaRPr lang="en-US" b="1" dirty="0"/>
          </a:p>
          <a:p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73248" y="18864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index.html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71917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7.40741E-7 L 0.00069 0.11875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11875 L 0.00069 0.22384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22384 L 0.00069 0.1187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25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2" grpId="1" animBg="1"/>
      <p:bldP spid="23" grpId="0" animBg="1"/>
      <p:bldP spid="23" grpId="1" animBg="1"/>
      <p:bldP spid="23" grpId="2" animBg="1"/>
      <p:bldP spid="23" grpId="3" animBg="1"/>
      <p:bldP spid="5" grpId="0"/>
      <p:bldP spid="14" grpId="0"/>
      <p:bldP spid="15" grpId="0"/>
      <p:bldP spid="1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единительная линия 16"/>
          <p:cNvCxnSpPr/>
          <p:nvPr/>
        </p:nvCxnSpPr>
        <p:spPr>
          <a:xfrm>
            <a:off x="5892761" y="432121"/>
            <a:ext cx="341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5276581" y="764704"/>
            <a:ext cx="1512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7596336" y="362478"/>
            <a:ext cx="0" cy="8044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732240" y="2348880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6552220" y="2290621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560231" y="3068960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6560231" y="384729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лево 22"/>
          <p:cNvSpPr/>
          <p:nvPr/>
        </p:nvSpPr>
        <p:spPr>
          <a:xfrm>
            <a:off x="7092280" y="2081471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3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-0.00399 0.1083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3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4781</TotalTime>
  <Words>451</Words>
  <Application>Microsoft Office PowerPoint</Application>
  <PresentationFormat>Экран (4:3)</PresentationFormat>
  <Paragraphs>131</Paragraphs>
  <Slides>22</Slides>
  <Notes>22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roman</cp:lastModifiedBy>
  <cp:revision>761</cp:revision>
  <dcterms:created xsi:type="dcterms:W3CDTF">2012-03-08T07:38:11Z</dcterms:created>
  <dcterms:modified xsi:type="dcterms:W3CDTF">2017-12-11T08:51:36Z</dcterms:modified>
</cp:coreProperties>
</file>