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301" r:id="rId3"/>
    <p:sldId id="290" r:id="rId4"/>
    <p:sldId id="291" r:id="rId5"/>
    <p:sldId id="298" r:id="rId6"/>
    <p:sldId id="299" r:id="rId7"/>
    <p:sldId id="315" r:id="rId8"/>
    <p:sldId id="316" r:id="rId9"/>
    <p:sldId id="391" r:id="rId10"/>
    <p:sldId id="396" r:id="rId11"/>
    <p:sldId id="397" r:id="rId12"/>
    <p:sldId id="393" r:id="rId13"/>
    <p:sldId id="330" r:id="rId14"/>
    <p:sldId id="331" r:id="rId15"/>
    <p:sldId id="332" r:id="rId16"/>
    <p:sldId id="394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7" r:id="rId25"/>
    <p:sldId id="395" r:id="rId26"/>
    <p:sldId id="351" r:id="rId27"/>
    <p:sldId id="352" r:id="rId28"/>
    <p:sldId id="353" r:id="rId29"/>
    <p:sldId id="354" r:id="rId30"/>
    <p:sldId id="387" r:id="rId31"/>
    <p:sldId id="328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E6644B4-65A5-4627-939F-F5AC1E1D260F}">
          <p14:sldIdLst>
            <p14:sldId id="256"/>
            <p14:sldId id="301"/>
            <p14:sldId id="290"/>
            <p14:sldId id="291"/>
            <p14:sldId id="298"/>
            <p14:sldId id="299"/>
            <p14:sldId id="315"/>
            <p14:sldId id="316"/>
            <p14:sldId id="391"/>
            <p14:sldId id="396"/>
            <p14:sldId id="397"/>
            <p14:sldId id="393"/>
            <p14:sldId id="330"/>
            <p14:sldId id="331"/>
            <p14:sldId id="332"/>
            <p14:sldId id="394"/>
            <p14:sldId id="334"/>
            <p14:sldId id="335"/>
            <p14:sldId id="336"/>
            <p14:sldId id="337"/>
            <p14:sldId id="338"/>
            <p14:sldId id="339"/>
            <p14:sldId id="340"/>
            <p14:sldId id="347"/>
            <p14:sldId id="395"/>
            <p14:sldId id="351"/>
            <p14:sldId id="352"/>
            <p14:sldId id="353"/>
            <p14:sldId id="354"/>
            <p14:sldId id="387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Роман Никифоров" initials="РН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6" autoAdjust="0"/>
    <p:restoredTop sz="94638" autoAdjust="0"/>
  </p:normalViewPr>
  <p:slideViewPr>
    <p:cSldViewPr>
      <p:cViewPr varScale="1">
        <p:scale>
          <a:sx n="114" d="100"/>
          <a:sy n="114" d="100"/>
        </p:scale>
        <p:origin x="1602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A73BB-53F0-4879-B27B-271F03EFF40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34601-5097-4E42-926E-E1C31A4D0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502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oo.gl/0QXae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.org/TR/html52/sections.html#creating-an-outlin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hehtml5herald.com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ru-RU" sz="3600" kern="13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Введение в </a:t>
            </a:r>
            <a:r>
              <a:rPr lang="en-US" sz="3600" kern="13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HTML</a:t>
            </a:r>
            <a:br>
              <a:rPr lang="en-US" sz="3600" kern="13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br>
              <a:rPr lang="en-US" sz="60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US" sz="24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https://academy.beetroot.se</a:t>
            </a:r>
            <a:endParaRPr lang="ru-RU" sz="240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16632"/>
            <a:ext cx="4608511" cy="184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55776" y="44624"/>
            <a:ext cx="3960440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Элементы</a:t>
            </a:r>
            <a:r>
              <a:rPr lang="en-US" sz="180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DIV </a:t>
            </a:r>
            <a:r>
              <a:rPr lang="ru-RU" sz="180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и</a:t>
            </a:r>
            <a:r>
              <a:rPr lang="en-US" sz="180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SPAN</a:t>
            </a:r>
          </a:p>
        </p:txBody>
      </p:sp>
      <p:sp>
        <p:nvSpPr>
          <p:cNvPr id="257027" name="Text Box 3"/>
          <p:cNvSpPr txBox="1">
            <a:spLocks noChangeArrowheads="1"/>
          </p:cNvSpPr>
          <p:nvPr/>
        </p:nvSpPr>
        <p:spPr bwMode="auto">
          <a:xfrm>
            <a:off x="107504" y="476672"/>
            <a:ext cx="8856984" cy="1754326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FAFAF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endParaRPr lang="ru-RU" b="1" dirty="0">
              <a:solidFill>
                <a:srgbClr val="0070C0"/>
              </a:solidFill>
              <a:latin typeface="Courier New" pitchFamily="49" charset="0"/>
            </a:endParaRPr>
          </a:p>
          <a:p>
            <a:pPr eaLnBrk="0" hangingPunct="0"/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&lt;div&gt;</a:t>
            </a:r>
            <a:r>
              <a:rPr lang="uk-UA" b="1" dirty="0" err="1">
                <a:latin typeface="Courier New" pitchFamily="49" charset="0"/>
              </a:rPr>
              <a:t>Первый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div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&lt;/div&gt;</a:t>
            </a:r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div&gt;</a:t>
            </a:r>
            <a:r>
              <a:rPr lang="uk-UA" b="1" dirty="0" err="1">
                <a:latin typeface="Courier New" pitchFamily="49" charset="0"/>
              </a:rPr>
              <a:t>Второй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div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&lt;/div&gt;&lt;div&gt;</a:t>
            </a:r>
            <a:r>
              <a:rPr lang="uk-UA" b="1" dirty="0" err="1">
                <a:latin typeface="Courier New" pitchFamily="49" charset="0"/>
              </a:rPr>
              <a:t>Третий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div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&lt;/div&gt;</a:t>
            </a:r>
          </a:p>
          <a:p>
            <a:pPr eaLnBrk="0" hangingPunct="0"/>
            <a:endParaRPr lang="en-US" b="1" dirty="0">
              <a:latin typeface="Courier New" pitchFamily="49" charset="0"/>
            </a:endParaRPr>
          </a:p>
          <a:p>
            <a:pPr eaLnBrk="0" hangingPunct="0"/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span</a:t>
            </a:r>
            <a:r>
              <a:rPr lang="en-US" b="1" dirty="0">
                <a:latin typeface="Courier New" pitchFamily="49" charset="0"/>
              </a:rPr>
              <a:t>&gt;</a:t>
            </a:r>
            <a:r>
              <a:rPr lang="uk-UA" b="1" dirty="0" err="1">
                <a:latin typeface="Courier New" pitchFamily="49" charset="0"/>
              </a:rPr>
              <a:t>Первый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span&lt;/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span</a:t>
            </a:r>
            <a:r>
              <a:rPr lang="en-US" b="1" dirty="0">
                <a:latin typeface="Courier New" pitchFamily="49" charset="0"/>
              </a:rPr>
              <a:t>&gt; </a:t>
            </a:r>
          </a:p>
          <a:p>
            <a:pPr eaLnBrk="0" hangingPunct="0"/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&lt;span&gt;</a:t>
            </a:r>
            <a:r>
              <a:rPr lang="uk-UA" b="1" dirty="0" err="1">
                <a:latin typeface="Courier New" pitchFamily="49" charset="0"/>
              </a:rPr>
              <a:t>Второй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span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&lt;/span&gt;</a:t>
            </a:r>
            <a:r>
              <a:rPr lang="en-US" b="1" dirty="0">
                <a:latin typeface="Courier New" pitchFamily="49" charset="0"/>
              </a:rPr>
              <a:t> </a:t>
            </a:r>
          </a:p>
          <a:p>
            <a:pPr eaLnBrk="0" hangingPunct="0"/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&lt;span&gt;</a:t>
            </a:r>
            <a:r>
              <a:rPr lang="uk-UA" b="1" dirty="0" err="1">
                <a:latin typeface="Courier New" pitchFamily="49" charset="0"/>
              </a:rPr>
              <a:t>Третий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span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&lt;/span&gt;</a:t>
            </a:r>
            <a:endParaRPr lang="en-US" b="1" dirty="0">
              <a:solidFill>
                <a:schemeClr val="accent2"/>
              </a:solidFill>
              <a:latin typeface="Courier New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24" y="2564904"/>
            <a:ext cx="8604448" cy="289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6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128588" y="2924944"/>
            <a:ext cx="8693150" cy="2492375"/>
            <a:chOff x="128588" y="720600"/>
            <a:chExt cx="8693150" cy="2492375"/>
          </a:xfrm>
        </p:grpSpPr>
        <p:sp>
          <p:nvSpPr>
            <p:cNvPr id="4" name="Text Box 8"/>
            <p:cNvSpPr txBox="1">
              <a:spLocks noChangeArrowheads="1"/>
            </p:cNvSpPr>
            <p:nvPr/>
          </p:nvSpPr>
          <p:spPr bwMode="auto">
            <a:xfrm>
              <a:off x="128588" y="894133"/>
              <a:ext cx="869315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AFAFAF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800" b="1" dirty="0">
                  <a:latin typeface="Courier New" pitchFamily="49" charset="0"/>
                </a:rPr>
                <a:t>&lt;</a:t>
              </a:r>
              <a:r>
                <a:rPr lang="en-US" sz="2800" b="1" dirty="0" err="1">
                  <a:latin typeface="Courier New" pitchFamily="49" charset="0"/>
                </a:rPr>
                <a:t>hr</a:t>
              </a:r>
              <a:r>
                <a:rPr lang="en-US" sz="2800" b="1" dirty="0">
                  <a:latin typeface="Courier New" pitchFamily="49" charset="0"/>
                </a:rPr>
                <a:t> </a:t>
              </a:r>
              <a:r>
                <a:rPr lang="en-US" sz="2800" b="1" dirty="0">
                  <a:solidFill>
                    <a:srgbClr val="0000FF"/>
                  </a:solidFill>
                  <a:latin typeface="Courier New" pitchFamily="49" charset="0"/>
                </a:rPr>
                <a:t>align</a:t>
              </a:r>
              <a:r>
                <a:rPr lang="en-US" sz="2800" b="1" dirty="0">
                  <a:latin typeface="Courier New" pitchFamily="49" charset="0"/>
                </a:rPr>
                <a:t>="</a:t>
              </a:r>
              <a:r>
                <a:rPr lang="en-US" sz="2800" b="1" dirty="0">
                  <a:solidFill>
                    <a:srgbClr val="FF0000"/>
                  </a:solidFill>
                  <a:latin typeface="Courier New" pitchFamily="49" charset="0"/>
                </a:rPr>
                <a:t>right</a:t>
              </a:r>
              <a:r>
                <a:rPr lang="en-US" sz="2800" b="1" dirty="0">
                  <a:latin typeface="Courier New" pitchFamily="49" charset="0"/>
                </a:rPr>
                <a:t>" </a:t>
              </a:r>
              <a:r>
                <a:rPr lang="en-US" sz="2800" b="1" dirty="0">
                  <a:solidFill>
                    <a:srgbClr val="0000FF"/>
                  </a:solidFill>
                  <a:latin typeface="Courier New" pitchFamily="49" charset="0"/>
                </a:rPr>
                <a:t>size</a:t>
              </a:r>
              <a:r>
                <a:rPr lang="en-US" sz="2800" b="1" dirty="0">
                  <a:latin typeface="Courier New" pitchFamily="49" charset="0"/>
                </a:rPr>
                <a:t>="</a:t>
              </a:r>
              <a:r>
                <a:rPr lang="en-US" sz="2800" b="1" dirty="0">
                  <a:solidFill>
                    <a:srgbClr val="FF0000"/>
                  </a:solidFill>
                  <a:latin typeface="Courier New" pitchFamily="49" charset="0"/>
                </a:rPr>
                <a:t>3</a:t>
              </a:r>
              <a:r>
                <a:rPr lang="en-US" sz="2800" b="1" dirty="0">
                  <a:latin typeface="Courier New" pitchFamily="49" charset="0"/>
                </a:rPr>
                <a:t>" </a:t>
              </a:r>
              <a:r>
                <a:rPr lang="en-US" sz="2800" b="1" dirty="0">
                  <a:solidFill>
                    <a:srgbClr val="0000FF"/>
                  </a:solidFill>
                  <a:latin typeface="Courier New" pitchFamily="49" charset="0"/>
                </a:rPr>
                <a:t>width</a:t>
              </a:r>
              <a:r>
                <a:rPr lang="ru-RU" sz="2800" b="1" dirty="0">
                  <a:latin typeface="Courier New" pitchFamily="49" charset="0"/>
                </a:rPr>
                <a:t>=</a:t>
              </a:r>
              <a:r>
                <a:rPr lang="en-US" sz="2800" b="1" dirty="0">
                  <a:latin typeface="Courier New" pitchFamily="49" charset="0"/>
                </a:rPr>
                <a:t>"</a:t>
              </a:r>
              <a:r>
                <a:rPr lang="en-US" sz="2800" b="1" dirty="0">
                  <a:solidFill>
                    <a:srgbClr val="FF0000"/>
                  </a:solidFill>
                  <a:latin typeface="Courier New" pitchFamily="49" charset="0"/>
                </a:rPr>
                <a:t>450</a:t>
              </a:r>
              <a:r>
                <a:rPr lang="en-US" sz="2800" b="1" dirty="0">
                  <a:latin typeface="Courier New" pitchFamily="49" charset="0"/>
                </a:rPr>
                <a:t>"</a:t>
              </a:r>
              <a:r>
                <a:rPr lang="ru-RU" sz="2800" dirty="0">
                  <a:latin typeface="Courier New" pitchFamily="49" charset="0"/>
                </a:rPr>
                <a:t> </a:t>
              </a:r>
              <a:r>
                <a:rPr lang="en-US" sz="2800" b="1" dirty="0">
                  <a:latin typeface="Courier New" pitchFamily="49" charset="0"/>
                </a:rPr>
                <a:t>&gt;</a:t>
              </a:r>
              <a:endParaRPr lang="ru-RU" sz="2800" b="1" dirty="0">
                <a:latin typeface="Courier New" pitchFamily="49" charset="0"/>
              </a:endParaRPr>
            </a:p>
          </p:txBody>
        </p:sp>
        <p:sp>
          <p:nvSpPr>
            <p:cNvPr id="7" name="AutoShape 13"/>
            <p:cNvSpPr>
              <a:spLocks noChangeArrowheads="1"/>
            </p:cNvSpPr>
            <p:nvPr/>
          </p:nvSpPr>
          <p:spPr bwMode="auto">
            <a:xfrm rot="10800000">
              <a:off x="133350" y="1987501"/>
              <a:ext cx="1087438" cy="433387"/>
            </a:xfrm>
            <a:prstGeom prst="wedgeRectCallout">
              <a:avLst>
                <a:gd name="adj1" fmla="val 7370"/>
                <a:gd name="adj2" fmla="val 170144"/>
              </a:avLst>
            </a:prstGeom>
            <a:solidFill>
              <a:schemeClr val="bg1"/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AFAFAF"/>
                    </a:outerShdw>
                  </a:effectLst>
                </a14:hiddenEffects>
              </a:ext>
            </a:extLst>
          </p:spPr>
          <p:txBody>
            <a:bodyPr rot="10800000" anchor="ctr"/>
            <a:lstStyle/>
            <a:p>
              <a:pPr algn="ctr" eaLnBrk="0" hangingPunct="0"/>
              <a:r>
                <a:rPr lang="uk-UA" b="1">
                  <a:latin typeface="Courier New" pitchFamily="49" charset="0"/>
                </a:rPr>
                <a:t>Тег</a:t>
              </a:r>
              <a:endParaRPr lang="ru-RU" b="1">
                <a:latin typeface="Courier New" pitchFamily="49" charset="0"/>
              </a:endParaRPr>
            </a:p>
          </p:txBody>
        </p:sp>
        <p:grpSp>
          <p:nvGrpSpPr>
            <p:cNvPr id="2" name="Группа 1"/>
            <p:cNvGrpSpPr/>
            <p:nvPr/>
          </p:nvGrpSpPr>
          <p:grpSpPr>
            <a:xfrm>
              <a:off x="955675" y="720600"/>
              <a:ext cx="7354888" cy="2492375"/>
              <a:chOff x="955675" y="720600"/>
              <a:chExt cx="7354888" cy="2492375"/>
            </a:xfrm>
          </p:grpSpPr>
          <p:sp>
            <p:nvSpPr>
              <p:cNvPr id="5" name="AutoShape 11"/>
              <p:cNvSpPr>
                <a:spLocks/>
              </p:cNvSpPr>
              <p:nvPr/>
            </p:nvSpPr>
            <p:spPr bwMode="auto">
              <a:xfrm rot="5400000">
                <a:off x="2329657" y="-478757"/>
                <a:ext cx="284162" cy="2682875"/>
              </a:xfrm>
              <a:prstGeom prst="leftBrace">
                <a:avLst>
                  <a:gd name="adj1" fmla="val 78678"/>
                  <a:gd name="adj2" fmla="val 50000"/>
                </a:avLst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 eaLnBrk="0" hangingPunct="0"/>
                <a:r>
                  <a:rPr lang="uk-UA" b="1">
                    <a:latin typeface="Courier New" pitchFamily="49" charset="0"/>
                  </a:rPr>
                  <a:t>Атрибут</a:t>
                </a:r>
              </a:p>
              <a:p>
                <a:pPr algn="ctr" eaLnBrk="0" hangingPunct="0"/>
                <a:endParaRPr lang="uk-UA" b="1">
                  <a:latin typeface="Courier New" pitchFamily="49" charset="0"/>
                </a:endParaRPr>
              </a:p>
              <a:p>
                <a:pPr algn="ctr" eaLnBrk="0" hangingPunct="0"/>
                <a:endParaRPr lang="ru-RU" b="1">
                  <a:latin typeface="Courier New" pitchFamily="49" charset="0"/>
                </a:endParaRPr>
              </a:p>
            </p:txBody>
          </p:sp>
          <p:sp>
            <p:nvSpPr>
              <p:cNvPr id="6" name="AutoShape 12"/>
              <p:cNvSpPr>
                <a:spLocks/>
              </p:cNvSpPr>
              <p:nvPr/>
            </p:nvSpPr>
            <p:spPr bwMode="auto">
              <a:xfrm rot="5400000">
                <a:off x="4704556" y="30831"/>
                <a:ext cx="284163" cy="1666875"/>
              </a:xfrm>
              <a:prstGeom prst="leftBrace">
                <a:avLst>
                  <a:gd name="adj1" fmla="val 48883"/>
                  <a:gd name="adj2" fmla="val 50000"/>
                </a:avLst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 eaLnBrk="0" hangingPunct="0"/>
                <a:r>
                  <a:rPr lang="uk-UA" b="1">
                    <a:latin typeface="Courier New" pitchFamily="49" charset="0"/>
                  </a:rPr>
                  <a:t>Атрибут</a:t>
                </a:r>
              </a:p>
              <a:p>
                <a:pPr algn="ctr" eaLnBrk="0" hangingPunct="0"/>
                <a:endParaRPr lang="uk-UA" b="1">
                  <a:latin typeface="Courier New" pitchFamily="49" charset="0"/>
                </a:endParaRPr>
              </a:p>
              <a:p>
                <a:pPr algn="ctr" eaLnBrk="0" hangingPunct="0"/>
                <a:endParaRPr lang="ru-RU" b="1">
                  <a:latin typeface="Arial Narrow" pitchFamily="34" charset="0"/>
                </a:endParaRPr>
              </a:p>
            </p:txBody>
          </p:sp>
          <p:sp>
            <p:nvSpPr>
              <p:cNvPr id="8" name="AutoShape 14"/>
              <p:cNvSpPr>
                <a:spLocks noChangeArrowheads="1"/>
              </p:cNvSpPr>
              <p:nvPr/>
            </p:nvSpPr>
            <p:spPr bwMode="auto">
              <a:xfrm rot="10800000">
                <a:off x="955675" y="2779587"/>
                <a:ext cx="2125663" cy="433388"/>
              </a:xfrm>
              <a:prstGeom prst="wedgeRectCallout">
                <a:avLst>
                  <a:gd name="adj1" fmla="val 12208"/>
                  <a:gd name="adj2" fmla="val 365014"/>
                </a:avLst>
              </a:prstGeom>
              <a:solidFill>
                <a:schemeClr val="bg1"/>
              </a:solidFill>
              <a:ln w="9525" algn="ctr">
                <a:solidFill>
                  <a:srgbClr val="3333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anchor="ctr"/>
              <a:lstStyle/>
              <a:p>
                <a:pPr algn="ctr" eaLnBrk="0" hangingPunct="0"/>
                <a:r>
                  <a:rPr lang="uk-UA" b="1">
                    <a:latin typeface="Courier New" pitchFamily="49" charset="0"/>
                  </a:rPr>
                  <a:t>Имя атрибута</a:t>
                </a:r>
                <a:endParaRPr lang="ru-RU" b="1">
                  <a:latin typeface="Courier New" pitchFamily="49" charset="0"/>
                </a:endParaRPr>
              </a:p>
            </p:txBody>
          </p:sp>
          <p:sp>
            <p:nvSpPr>
              <p:cNvPr id="9" name="AutoShape 15"/>
              <p:cNvSpPr>
                <a:spLocks noChangeArrowheads="1"/>
              </p:cNvSpPr>
              <p:nvPr/>
            </p:nvSpPr>
            <p:spPr bwMode="auto">
              <a:xfrm rot="10800000">
                <a:off x="2825750" y="2004887"/>
                <a:ext cx="3052763" cy="433388"/>
              </a:xfrm>
              <a:prstGeom prst="wedgeRectCallout">
                <a:avLst>
                  <a:gd name="adj1" fmla="val 42819"/>
                  <a:gd name="adj2" fmla="val 182231"/>
                </a:avLst>
              </a:prstGeom>
              <a:solidFill>
                <a:schemeClr val="bg1"/>
              </a:solidFill>
              <a:ln w="9525" algn="ctr">
                <a:solidFill>
                  <a:srgbClr val="3333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anchor="ctr"/>
              <a:lstStyle/>
              <a:p>
                <a:pPr algn="ctr" eaLnBrk="0" hangingPunct="0"/>
                <a:r>
                  <a:rPr lang="uk-UA" b="1">
                    <a:latin typeface="Courier New" pitchFamily="49" charset="0"/>
                  </a:rPr>
                  <a:t>Значение атрибута</a:t>
                </a:r>
                <a:endParaRPr lang="ru-RU" b="1">
                  <a:latin typeface="Courier New" pitchFamily="49" charset="0"/>
                </a:endParaRPr>
              </a:p>
            </p:txBody>
          </p:sp>
          <p:sp>
            <p:nvSpPr>
              <p:cNvPr id="10" name="AutoShape 16"/>
              <p:cNvSpPr>
                <a:spLocks/>
              </p:cNvSpPr>
              <p:nvPr/>
            </p:nvSpPr>
            <p:spPr bwMode="auto">
              <a:xfrm rot="5400000">
                <a:off x="6977857" y="-305719"/>
                <a:ext cx="284162" cy="2381250"/>
              </a:xfrm>
              <a:prstGeom prst="leftBrace">
                <a:avLst>
                  <a:gd name="adj1" fmla="val 69833"/>
                  <a:gd name="adj2" fmla="val 50000"/>
                </a:avLst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AFAFAF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 eaLnBrk="0" hangingPunct="0"/>
                <a:r>
                  <a:rPr lang="uk-UA" b="1">
                    <a:latin typeface="Courier New" pitchFamily="49" charset="0"/>
                  </a:rPr>
                  <a:t>Атрибут</a:t>
                </a:r>
              </a:p>
              <a:p>
                <a:pPr algn="ctr" eaLnBrk="0" hangingPunct="0"/>
                <a:endParaRPr lang="uk-UA" b="1">
                  <a:latin typeface="Courier New" pitchFamily="49" charset="0"/>
                </a:endParaRPr>
              </a:p>
              <a:p>
                <a:pPr algn="ctr" eaLnBrk="0" hangingPunct="0"/>
                <a:endParaRPr lang="ru-RU" b="1">
                  <a:latin typeface="Courier New" pitchFamily="49" charset="0"/>
                </a:endParaRPr>
              </a:p>
            </p:txBody>
          </p:sp>
        </p:grpSp>
      </p:grpSp>
      <p:sp>
        <p:nvSpPr>
          <p:cNvPr id="11" name="Заголовок 2"/>
          <p:cNvSpPr>
            <a:spLocks noGrp="1"/>
          </p:cNvSpPr>
          <p:nvPr>
            <p:ph type="title"/>
          </p:nvPr>
        </p:nvSpPr>
        <p:spPr>
          <a:xfrm>
            <a:off x="2915816" y="35332"/>
            <a:ext cx="3406775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Атрибуты тегов</a:t>
            </a:r>
          </a:p>
        </p:txBody>
      </p:sp>
      <p:cxnSp>
        <p:nvCxnSpPr>
          <p:cNvPr id="14" name="Прямая со стрелкой 13"/>
          <p:cNvCxnSpPr/>
          <p:nvPr/>
        </p:nvCxnSpPr>
        <p:spPr>
          <a:xfrm flipH="1">
            <a:off x="3923928" y="1966633"/>
            <a:ext cx="1152128" cy="1131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3350" y="489305"/>
            <a:ext cx="8903146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Атрибуты тега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это его компоненты, содержащие указания о том </a:t>
            </a:r>
          </a:p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как  браузер должен отработать этот тег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Атрибуты могут находится только в открывающем теге</a:t>
            </a:r>
            <a:endParaRPr lang="en-US" b="1" i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i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Атрибуты </a:t>
            </a:r>
            <a:r>
              <a:rPr lang="ru-RU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отделяюся</a:t>
            </a:r>
            <a:r>
              <a:rPr lang="ru-RU" b="1" i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друг от друга пробелами</a:t>
            </a:r>
          </a:p>
        </p:txBody>
      </p:sp>
    </p:spTree>
    <p:extLst>
      <p:ext uri="{BB962C8B-B14F-4D97-AF65-F5344CB8AC3E}">
        <p14:creationId xmlns:p14="http://schemas.microsoft.com/office/powerpoint/2010/main" val="188663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411760" y="116632"/>
            <a:ext cx="482453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Примеры и</a:t>
            </a:r>
            <a:r>
              <a:rPr lang="uk-UA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спользования</a:t>
            </a:r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uk-UA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атрибутов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107504" y="620688"/>
            <a:ext cx="8856984" cy="4973638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noFill/>
          </a:ln>
          <a:effectLst/>
        </p:spPr>
        <p:txBody>
          <a:bodyPr lIns="0" tIns="0" rIns="0" bIns="0"/>
          <a:lstStyle/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</a:rPr>
              <a:t>h1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center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Выровнять по центру</a:t>
            </a: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</a:rPr>
              <a:t>p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right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Выровнять по правому краю</a:t>
            </a:r>
            <a:endParaRPr lang="ru-RU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</a:rPr>
              <a:t>p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justify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Выровнять по ширине</a:t>
            </a:r>
            <a:endParaRPr lang="en-US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</a:rPr>
              <a:t>h2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left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Выровнять по левому краю</a:t>
            </a:r>
            <a:endParaRPr lang="en-US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n-US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hr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size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Толщина разделительной линии</a:t>
            </a: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hr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noshade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Разделительная линия без тени</a:t>
            </a: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hr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right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width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450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</a:rPr>
              <a:t>Ширина в пикселях</a:t>
            </a:r>
            <a:endParaRPr lang="en-US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hr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size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sz="2400" b="1" dirty="0">
                <a:latin typeface="Courier New" pitchFamily="49" charset="0"/>
              </a:rPr>
              <a:t>"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width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50%</a:t>
            </a:r>
            <a:r>
              <a:rPr lang="en-US" sz="2400" b="1" dirty="0">
                <a:latin typeface="Courier New" pitchFamily="49" charset="0"/>
              </a:rPr>
              <a:t>"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align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center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</a:t>
            </a:r>
            <a:endParaRPr lang="en-US" sz="2400" b="1" dirty="0">
              <a:latin typeface="Courier New" pitchFamily="49" charset="0"/>
            </a:endParaRPr>
          </a:p>
          <a:p>
            <a:pPr marL="228600" indent="-228600" eaLnBrk="0" hangingPunct="0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n-US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252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672" y="44624"/>
            <a:ext cx="590465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uk-UA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Непосредственное</a:t>
            </a:r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uk-UA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форматирование</a:t>
            </a:r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uk-UA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текста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auto">
          <a:xfrm>
            <a:off x="179512" y="703039"/>
            <a:ext cx="5400600" cy="28699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en-US" sz="2000" b="1" dirty="0">
                <a:latin typeface="Courier New" pitchFamily="49" charset="0"/>
              </a:rPr>
              <a:t> - </a:t>
            </a:r>
            <a:r>
              <a:rPr lang="uk-UA" sz="2000" b="1" dirty="0">
                <a:latin typeface="Courier New" pitchFamily="49" charset="0"/>
              </a:rPr>
              <a:t>курсив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&lt;/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endParaRPr lang="ru-RU" sz="2000" b="1" dirty="0">
              <a:solidFill>
                <a:srgbClr val="0000FF"/>
              </a:solidFill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b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sz="2000" b="1" dirty="0">
                <a:latin typeface="Courier New" pitchFamily="49" charset="0"/>
              </a:rPr>
              <a:t> - полужирный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&lt;/b&gt;</a:t>
            </a:r>
            <a:endParaRPr lang="ru-RU" sz="2000" b="1" dirty="0">
              <a:solidFill>
                <a:srgbClr val="0070C0"/>
              </a:solidFill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u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sz="2000" b="1" dirty="0">
                <a:latin typeface="Courier New" pitchFamily="49" charset="0"/>
              </a:rPr>
              <a:t> - подчеркнутый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&lt;/u&gt;</a:t>
            </a:r>
            <a:endParaRPr lang="ru-RU" sz="2000" b="1" dirty="0">
              <a:solidFill>
                <a:srgbClr val="0070C0"/>
              </a:solidFill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strike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sz="2000" b="1" dirty="0">
                <a:latin typeface="Courier New" pitchFamily="49" charset="0"/>
              </a:rPr>
              <a:t> - перечеркнутый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&lt;/strike&gt;</a:t>
            </a:r>
            <a:endParaRPr lang="ru-RU" sz="2000" b="1" dirty="0">
              <a:solidFill>
                <a:srgbClr val="0070C0"/>
              </a:solidFill>
              <a:latin typeface="Courier New" pitchFamily="49" charset="0"/>
            </a:endParaRP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tt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uk-UA" sz="2000" b="1" dirty="0">
                <a:latin typeface="Courier New" pitchFamily="49" charset="0"/>
              </a:rPr>
              <a:t> - </a:t>
            </a:r>
            <a:r>
              <a:rPr lang="uk-UA" sz="2000" b="1" dirty="0" err="1">
                <a:latin typeface="Courier New" pitchFamily="49" charset="0"/>
              </a:rPr>
              <a:t>моноширинный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tt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&gt;</a:t>
            </a: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&lt;big&gt;</a:t>
            </a:r>
            <a:r>
              <a:rPr lang="uk-UA" sz="2000" b="1" dirty="0">
                <a:latin typeface="Courier New" pitchFamily="49" charset="0"/>
              </a:rPr>
              <a:t> - </a:t>
            </a:r>
            <a:r>
              <a:rPr lang="uk-UA" sz="2000" b="1" dirty="0" err="1">
                <a:latin typeface="Courier New" pitchFamily="49" charset="0"/>
              </a:rPr>
              <a:t>увеличить</a:t>
            </a:r>
            <a:r>
              <a:rPr lang="uk-UA" sz="2000" b="1" dirty="0">
                <a:latin typeface="Courier New" pitchFamily="49" charset="0"/>
              </a:rPr>
              <a:t> шрифт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&lt;/big&gt;</a:t>
            </a: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&lt;small&gt;</a:t>
            </a:r>
            <a:r>
              <a:rPr lang="uk-UA" sz="2000" b="1" dirty="0">
                <a:latin typeface="Courier New" pitchFamily="49" charset="0"/>
              </a:rPr>
              <a:t> - </a:t>
            </a:r>
            <a:r>
              <a:rPr lang="uk-UA" sz="2000" b="1" dirty="0" err="1">
                <a:latin typeface="Courier New" pitchFamily="49" charset="0"/>
              </a:rPr>
              <a:t>уменьшить</a:t>
            </a:r>
            <a:r>
              <a:rPr lang="uk-UA" sz="2000" b="1" dirty="0">
                <a:latin typeface="Courier New" pitchFamily="49" charset="0"/>
              </a:rPr>
              <a:t> шрифт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&lt;/small&gt;</a:t>
            </a: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&lt;sup&gt;</a:t>
            </a:r>
            <a:r>
              <a:rPr lang="uk-UA" sz="2000" b="1" dirty="0">
                <a:latin typeface="Courier New" pitchFamily="49" charset="0"/>
              </a:rPr>
              <a:t> - </a:t>
            </a:r>
            <a:r>
              <a:rPr lang="uk-UA" sz="2000" b="1" dirty="0" err="1">
                <a:latin typeface="Courier New" pitchFamily="49" charset="0"/>
              </a:rPr>
              <a:t>надиндекс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&lt;/sup&gt;</a:t>
            </a:r>
          </a:p>
          <a:p>
            <a:pPr marL="228600" indent="-228600" eaLnBrk="0" hangingPunct="0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&lt;sub&gt;</a:t>
            </a:r>
            <a:r>
              <a:rPr lang="uk-UA" sz="2000" b="1" dirty="0">
                <a:latin typeface="Courier New" pitchFamily="49" charset="0"/>
              </a:rPr>
              <a:t> - </a:t>
            </a:r>
            <a:r>
              <a:rPr lang="uk-UA" sz="2000" b="1" dirty="0" err="1">
                <a:latin typeface="Courier New" pitchFamily="49" charset="0"/>
              </a:rPr>
              <a:t>подиндекс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&lt;/sub&gt;</a:t>
            </a:r>
          </a:p>
        </p:txBody>
      </p:sp>
      <p:pic>
        <p:nvPicPr>
          <p:cNvPr id="162821" name="Picture 5" descr="form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985789"/>
            <a:ext cx="4297991" cy="27555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273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67744" y="129048"/>
            <a:ext cx="4392489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Логическое форматирование</a:t>
            </a:r>
          </a:p>
        </p:txBody>
      </p:sp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179512" y="631726"/>
            <a:ext cx="8474075" cy="5389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228600" indent="-228600" eaLnBrk="0" hangingPunct="0"/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em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en-US" b="1" dirty="0">
                <a:latin typeface="Courier New" pitchFamily="49" charset="0"/>
              </a:rPr>
              <a:t> - </a:t>
            </a:r>
            <a:r>
              <a:rPr lang="uk-UA" b="1" dirty="0" err="1">
                <a:latin typeface="Courier New" pitchFamily="49" charset="0"/>
              </a:rPr>
              <a:t>выделение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важных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фрагментов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u="sng" dirty="0">
                <a:latin typeface="Courier New" pitchFamily="49" charset="0"/>
              </a:rPr>
              <a:t>курсивом</a:t>
            </a:r>
            <a:endParaRPr lang="en-US" b="1" u="sng" dirty="0">
              <a:latin typeface="Courier New" pitchFamily="49" charset="0"/>
            </a:endParaRPr>
          </a:p>
          <a:p>
            <a:pPr marL="228600" indent="-228600" eaLnBrk="0" hangingPunct="0"/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&lt;strong&gt;</a:t>
            </a:r>
            <a:r>
              <a:rPr lang="uk-UA" b="1" dirty="0">
                <a:latin typeface="Courier New" pitchFamily="49" charset="0"/>
              </a:rPr>
              <a:t> - </a:t>
            </a:r>
            <a:r>
              <a:rPr lang="uk-UA" b="1" dirty="0" err="1">
                <a:latin typeface="Courier New" pitchFamily="49" charset="0"/>
              </a:rPr>
              <a:t>выделение</a:t>
            </a:r>
            <a:r>
              <a:rPr lang="uk-UA" b="1" dirty="0">
                <a:latin typeface="Courier New" pitchFamily="49" charset="0"/>
              </a:rPr>
              <a:t> особо </a:t>
            </a:r>
            <a:r>
              <a:rPr lang="uk-UA" b="1" dirty="0" err="1">
                <a:latin typeface="Courier New" pitchFamily="49" charset="0"/>
              </a:rPr>
              <a:t>важных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фрагментов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u="sng" dirty="0" err="1">
                <a:latin typeface="Courier New" pitchFamily="49" charset="0"/>
              </a:rPr>
              <a:t>полужирным</a:t>
            </a:r>
            <a:endParaRPr lang="en-US" b="1" u="sng" dirty="0">
              <a:latin typeface="Courier New" pitchFamily="49" charset="0"/>
            </a:endParaRPr>
          </a:p>
          <a:p>
            <a:pPr marL="228600" indent="-228600" eaLnBrk="0" hangingPunct="0"/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&lt;ins&gt;</a:t>
            </a:r>
            <a:r>
              <a:rPr lang="uk-UA" b="1" dirty="0">
                <a:latin typeface="Courier New" pitchFamily="49" charset="0"/>
              </a:rPr>
              <a:t> - </a:t>
            </a:r>
            <a:r>
              <a:rPr lang="ru-RU" b="1" dirty="0">
                <a:latin typeface="Courier New" pitchFamily="49" charset="0"/>
              </a:rPr>
              <a:t>выделение фрагмента </a:t>
            </a:r>
            <a:r>
              <a:rPr lang="ru-RU" b="1" u="sng" dirty="0">
                <a:latin typeface="Courier New" pitchFamily="49" charset="0"/>
              </a:rPr>
              <a:t>подчеркиванием</a:t>
            </a:r>
            <a:r>
              <a:rPr lang="ru-RU" b="1" dirty="0">
                <a:latin typeface="Courier New" pitchFamily="49" charset="0"/>
              </a:rPr>
              <a:t>, когда требуется показать явно, что текст был вставлен после опубликования документа. </a:t>
            </a:r>
            <a:endParaRPr lang="en-US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&lt;del&gt;</a:t>
            </a:r>
            <a:r>
              <a:rPr lang="uk-UA" b="1" dirty="0">
                <a:latin typeface="Courier New" pitchFamily="49" charset="0"/>
              </a:rPr>
              <a:t> - </a:t>
            </a:r>
            <a:r>
              <a:rPr lang="ru-RU" b="1" dirty="0">
                <a:latin typeface="Courier New" pitchFamily="49" charset="0"/>
              </a:rPr>
              <a:t>выделение фрагмента </a:t>
            </a:r>
            <a:r>
              <a:rPr lang="ru-RU" b="1" u="sng" dirty="0">
                <a:latin typeface="Courier New" pitchFamily="49" charset="0"/>
              </a:rPr>
              <a:t>перечеркиванием</a:t>
            </a:r>
            <a:r>
              <a:rPr lang="ru-RU" b="1" dirty="0">
                <a:latin typeface="Courier New" pitchFamily="49" charset="0"/>
              </a:rPr>
              <a:t>, когда требуется показать явно, что текст был удален после опубликования документа. </a:t>
            </a:r>
            <a:endParaRPr lang="en-US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cite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выделение цитат </a:t>
            </a:r>
            <a:r>
              <a:rPr lang="ru-RU" b="1" u="sng" dirty="0">
                <a:latin typeface="Courier New" pitchFamily="49" charset="0"/>
              </a:rPr>
              <a:t>курсивом</a:t>
            </a:r>
            <a:endParaRPr lang="en-US" b="1" u="sng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code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отображение фрагментов программного кода </a:t>
            </a:r>
            <a:r>
              <a:rPr lang="ru-RU" b="1" u="sng" dirty="0" err="1">
                <a:latin typeface="Courier New" pitchFamily="49" charset="0"/>
              </a:rPr>
              <a:t>моноширинным</a:t>
            </a:r>
            <a:r>
              <a:rPr lang="ru-RU" b="1" dirty="0">
                <a:latin typeface="Courier New" pitchFamily="49" charset="0"/>
              </a:rPr>
              <a:t> шрифтом</a:t>
            </a:r>
            <a:endParaRPr lang="en-US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kbd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текст, вводимый с клавиатуры: отображается </a:t>
            </a:r>
            <a:r>
              <a:rPr lang="ru-RU" b="1" u="sng" dirty="0" err="1">
                <a:latin typeface="Courier New" pitchFamily="49" charset="0"/>
              </a:rPr>
              <a:t>моноширинным</a:t>
            </a:r>
            <a:r>
              <a:rPr lang="ru-RU" b="1" dirty="0">
                <a:latin typeface="Courier New" pitchFamily="49" charset="0"/>
              </a:rPr>
              <a:t> шрифтом</a:t>
            </a:r>
            <a:endParaRPr lang="en-US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var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название переменных: отображается </a:t>
            </a:r>
            <a:r>
              <a:rPr lang="ru-RU" b="1" u="sng" dirty="0">
                <a:latin typeface="Courier New" pitchFamily="49" charset="0"/>
              </a:rPr>
              <a:t>курсивом</a:t>
            </a:r>
            <a:endParaRPr lang="en-US" b="1" u="sng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samp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выделение нескольких символов </a:t>
            </a:r>
            <a:r>
              <a:rPr lang="ru-RU" b="1" u="sng" dirty="0" err="1">
                <a:latin typeface="Courier New" pitchFamily="49" charset="0"/>
              </a:rPr>
              <a:t>моноширинным</a:t>
            </a:r>
            <a:r>
              <a:rPr lang="ru-RU" b="1" dirty="0">
                <a:latin typeface="Courier New" pitchFamily="49" charset="0"/>
              </a:rPr>
              <a:t> шрифтом</a:t>
            </a:r>
            <a:endParaRPr lang="en-US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dfn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определение вложенного термина </a:t>
            </a:r>
            <a:r>
              <a:rPr lang="ru-RU" b="1" u="sng" dirty="0">
                <a:latin typeface="Courier New" pitchFamily="49" charset="0"/>
              </a:rPr>
              <a:t>курсивом</a:t>
            </a:r>
            <a:endParaRPr lang="en-US" b="1" u="sng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abbr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title="</a:t>
            </a:r>
            <a:r>
              <a:rPr lang="uk-UA" b="1" dirty="0" err="1">
                <a:latin typeface="Courier New" pitchFamily="49" charset="0"/>
              </a:rPr>
              <a:t>Какое-то</a:t>
            </a:r>
            <a:r>
              <a:rPr lang="uk-UA" b="1" dirty="0">
                <a:latin typeface="Courier New" pitchFamily="49" charset="0"/>
              </a:rPr>
              <a:t> слово</a:t>
            </a:r>
            <a:r>
              <a:rPr lang="en-US" b="1" dirty="0">
                <a:latin typeface="Courier New" pitchFamily="49" charset="0"/>
              </a:rPr>
              <a:t>"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аббревиатура</a:t>
            </a:r>
          </a:p>
          <a:p>
            <a:pPr marL="228600" indent="-228600" eaLnBrk="0" hangingPunct="0"/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acronym</a:t>
            </a:r>
            <a:r>
              <a:rPr lang="uk-UA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title="</a:t>
            </a:r>
            <a:r>
              <a:rPr lang="uk-UA" b="1" dirty="0" err="1">
                <a:latin typeface="Courier New" pitchFamily="49" charset="0"/>
              </a:rPr>
              <a:t>Какое-то</a:t>
            </a:r>
            <a:r>
              <a:rPr lang="uk-UA" b="1" dirty="0">
                <a:latin typeface="Courier New" pitchFamily="49" charset="0"/>
              </a:rPr>
              <a:t> слово</a:t>
            </a:r>
            <a:r>
              <a:rPr lang="en-US" b="1" dirty="0">
                <a:latin typeface="Courier New" pitchFamily="49" charset="0"/>
              </a:rPr>
              <a:t>"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- акроним</a:t>
            </a:r>
            <a:endParaRPr lang="en-US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&lt;q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</a:rPr>
              <a:t>lang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 err="1">
                <a:latin typeface="Courier New" pitchFamily="49" charset="0"/>
              </a:rPr>
              <a:t>ru</a:t>
            </a:r>
            <a:r>
              <a:rPr lang="en-US" b="1" dirty="0">
                <a:latin typeface="Courier New" pitchFamily="49" charset="0"/>
              </a:rPr>
              <a:t>"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&gt;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-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определение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кавычек</a:t>
            </a:r>
            <a:endParaRPr lang="en-US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83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646331"/>
          </a:xfrm>
          <a:prstGeom prst="rect">
            <a:avLst/>
          </a:prstGeom>
          <a:solidFill>
            <a:srgbClr val="FF0000">
              <a:alpha val="3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Семантика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в HTML верстке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–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это соответствие тегов к информации находящейся внутри них.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052736"/>
            <a:ext cx="8928992" cy="923330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Заголовки должны выделяться тегами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&lt;h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&lt;h2&gt;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но ни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в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коем случае для заголовков не использовать теги 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&lt;b&gt;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и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&lt;strong&gt;</a:t>
            </a:r>
            <a:endParaRPr lang="ru-RU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2145630"/>
            <a:ext cx="8928992" cy="646331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2. Параграф блока текста создается с помощью тега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но никак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не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помощью тега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&lt;div&gt;</a:t>
            </a:r>
            <a:endParaRPr lang="ru-RU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996952"/>
            <a:ext cx="8928992" cy="369332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 Не должно быть текста вне тегов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04" y="3645024"/>
            <a:ext cx="3024336" cy="1200329"/>
          </a:xfrm>
          <a:prstGeom prst="rect">
            <a:avLst/>
          </a:prstGeom>
          <a:solidFill>
            <a:srgbClr val="FFC000">
              <a:alpha val="7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Неправильно !!!!</a:t>
            </a:r>
          </a:p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Мама мыла раму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Папа курил Приму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1920" y="3645024"/>
            <a:ext cx="4032448" cy="1200329"/>
          </a:xfrm>
          <a:prstGeom prst="rect">
            <a:avLst/>
          </a:prstGeom>
          <a:solidFill>
            <a:srgbClr val="92D050">
              <a:alpha val="7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Правильно </a:t>
            </a:r>
          </a:p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Мама мыла раму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&lt;/p&gt;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Папа курил Мальборо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&lt;/p&gt;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504" y="5229200"/>
            <a:ext cx="8928992" cy="369332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 Для выделения важных участков текста использовать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ru-RU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600" y="5733256"/>
            <a:ext cx="6624736" cy="369332"/>
          </a:xfrm>
          <a:prstGeom prst="rect">
            <a:avLst/>
          </a:prstGeom>
          <a:solidFill>
            <a:srgbClr val="00B0F0">
              <a:alpha val="7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Выделяем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важный участок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текста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&lt;/p&gt;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016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7504" y="116632"/>
            <a:ext cx="8928992" cy="646331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5. Для выделения важных участков текста можно также использовать </a:t>
            </a:r>
          </a:p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элемент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&lt;strong&gt;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504" y="910461"/>
            <a:ext cx="8928992" cy="923330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6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 Соблюдать иерархию и логику документа.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Более важные элементы страницы должны стоять в начале HTML 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кода, менее  - в конце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504" y="1929606"/>
            <a:ext cx="8928992" cy="369332"/>
          </a:xfrm>
          <a:prstGeom prst="rect">
            <a:avLst/>
          </a:prstGeom>
          <a:solidFill>
            <a:srgbClr val="00B05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7. Соблюдать иерархию заголовков и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420888"/>
            <a:ext cx="715893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50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933600" y="44624"/>
            <a:ext cx="1512168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Семантика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548680"/>
            <a:ext cx="8902660" cy="230832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Семантика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 - это способ добавить смысл контенту с помощью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html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элементов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.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Web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семантика позволяет контролировать то, как организован и как выглядит наш контент.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Если контент помечен семантически то его проще индексировать и найти, то есть  контент становится более релевантным.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3212976"/>
            <a:ext cx="8902660" cy="14773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Капитан, желающий избежать подводных камней, должен знать, где они находятся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                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— Джордж Вашингтон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&lt;/p&gt;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504" y="3212976"/>
            <a:ext cx="8902660" cy="14773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blockquote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Капитан, желающий избежать подводных камней, должен знать, где они находятся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   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&lt;cite&gt;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— Джордж Вашингтон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&lt;/cite&gt;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blockquote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&gt;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04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861048"/>
            <a:ext cx="4515785" cy="242150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35" y="548680"/>
            <a:ext cx="4364311" cy="5904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60" y="908720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1.Explore California trail Guide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184482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1.Ojail Trails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2204864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1.Northringe Loop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3356992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2.Scill Level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32706" y="5373216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3.Surfarce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555776" y="1678181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2.Trial News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627784" y="2843644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Promotial</a:t>
            </a:r>
            <a:r>
              <a:rPr lang="en-US" b="1" dirty="0"/>
              <a:t> Video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555776" y="378904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Rider Reviews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76445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3.88889E-6 7.40741E-7 L 0.49757 -0.06875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8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3.61111E-6 -3.33333E-6 L 0.57673 -0.1423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837" y="-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7556E-17 3.7037E-7 L 0.62569 -0.14236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85" y="-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1.66667E-6 4.81481E-6 L 0.62431 -0.25788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15" y="-1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3.33333E-6 L 0.62049 -0.49931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24" y="-2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5.55556E-7 2.22222E-6 L 0.30833 0.10254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17" y="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6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7778E-7 4.81481E-6 L 0.35035 -0.01505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17" y="-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2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3.05556E-6 1.85185E-6 L 0.35747 -0.10046 " pathEditMode="relative" rAng="0" ptsTypes="AA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65" y="-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1520" y="188640"/>
            <a:ext cx="3816424" cy="39703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Мой магазин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Каталог товаров</a:t>
            </a: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Компьютеры и ноутбуки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Ноутбуки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Планшеты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Компьютеры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Комплектующие</a:t>
            </a: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Бытовая техника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Холодильники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Стиральные машины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Статьи</a:t>
            </a: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Компьютеры</a:t>
            </a: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Планшеты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Контакты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28" y="4293096"/>
            <a:ext cx="8744344" cy="203132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Для создания структуры страницы ее надо представить в виде разделов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(sections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) и подразделов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(subsections)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Это так называемая схема документов (оглавление)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–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outline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Что неочевидно в приведенной схеме – это то как части информации относятся друг к другу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523" y="192722"/>
            <a:ext cx="3788421" cy="39703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Мой магазин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Каталог товаров</a:t>
            </a: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Компьютеры и ноутбуки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Ноутбуки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Планшеты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Компьютеры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Комплектующие</a:t>
            </a: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Бытовая техника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Холодильники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Стиральные машины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Статьи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Компьютеры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Планшеты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Контакты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74" y="4293096"/>
            <a:ext cx="8716997" cy="147732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Воспользовавшись схемой, можно увидеть насколько легче стало просматривать информацию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HTML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работает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аналогично</a:t>
            </a:r>
            <a:endParaRPr lang="uk-UA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Разделы документа генерируются за счет заголовков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184558"/>
            <a:ext cx="4968552" cy="39703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&lt;h1&gt;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Мой магазин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&lt;/h1&gt;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&lt;h2&gt;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Каталог товаров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&lt;/h2&gt;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Компьютеры и ноутбуки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Ноутбуки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Планшеты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Компьютеры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Комплектующие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Бытовая техника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Холодильники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Стиральные машины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&lt;h2&gt;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Статьи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&lt;/h2&gt;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Компьютеры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Планшеты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&lt;h2&gt;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Контакты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&lt;/h2&gt;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128" y="4271385"/>
            <a:ext cx="8928992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То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есть с помощью заголовков мы можем описать структуру документа.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В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HTML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каждый заголовок создает неявный раздел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uk-UA" b="1" dirty="0" err="1">
                <a:latin typeface="Courier New" pitchFamily="49" charset="0"/>
                <a:cs typeface="Courier New" pitchFamily="49" charset="0"/>
              </a:rPr>
              <a:t>Их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можно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просмотреть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сервисе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hlinkClick r:id="rId2"/>
              </a:rPr>
              <a:t>https://goo.gl/0QXaeT</a:t>
            </a:r>
            <a:r>
              <a:rPr lang="en-US" dirty="0"/>
              <a:t> 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uk-UA" b="1" dirty="0">
                <a:latin typeface="Courier New" pitchFamily="49" charset="0"/>
                <a:cs typeface="Courier New" pitchFamily="49" charset="0"/>
              </a:rPr>
              <a:t>Н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о заголовки создают структуру, но они не группируют контент</a:t>
            </a:r>
          </a:p>
          <a:p>
            <a:r>
              <a:rPr lang="uk-UA" b="1" dirty="0">
                <a:latin typeface="Courier New" pitchFamily="49" charset="0"/>
                <a:cs typeface="Courier New" pitchFamily="49" charset="0"/>
              </a:rPr>
              <a:t>До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 5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авторы группировали контент с помощью тега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&lt;div&gt;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, но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uk-UA" b="1" dirty="0">
                <a:latin typeface="Courier New" pitchFamily="49" charset="0"/>
                <a:cs typeface="Courier New" pitchFamily="49" charset="0"/>
              </a:rPr>
              <a:t>он не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несет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никакой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семантики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78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5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620688"/>
            <a:ext cx="5256584" cy="3366964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4005064"/>
            <a:ext cx="5256584" cy="1368152"/>
          </a:xfrm>
          <a:prstGeom prst="rect">
            <a:avLst/>
          </a:prstGeom>
          <a:solidFill>
            <a:srgbClr val="FFFF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79512" y="5373216"/>
            <a:ext cx="5256584" cy="1206724"/>
          </a:xfrm>
          <a:prstGeom prst="rect">
            <a:avLst/>
          </a:prstGeom>
          <a:solidFill>
            <a:srgbClr val="92D05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79512" y="134044"/>
            <a:ext cx="5256584" cy="646330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&lt;h1&gt;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Мой магазин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&lt;/h1&gt;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&lt;div class="catalog"&gt;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&lt;h2&gt;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Каталог товаров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&lt;/h2&gt;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Компьютеры и ноутбуки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Ноутбуки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Планшеты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Компьютеры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Комплектующие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Бытовая техника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Холодильники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Стиральные машины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&lt;/div&gt;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&lt;div class="articles"&gt;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&lt;h2&gt;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Статьи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&lt;/h2&gt;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Компьютеры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Планшеты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&lt;/div&gt;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&lt;div class="contacts"&gt;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&lt;h2&gt;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Контакты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&lt;/h2&gt;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&lt;/div&gt;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80112" y="188640"/>
            <a:ext cx="3456384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>
                <a:latin typeface="Courier New" pitchFamily="49" charset="0"/>
                <a:cs typeface="Courier New" pitchFamily="49" charset="0"/>
              </a:rPr>
              <a:t>До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 5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авторы группировали контент с помощью тега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&lt;div&gt;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Тег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&lt;div&gt;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не </a:t>
            </a:r>
            <a:r>
              <a:rPr lang="uk-UA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несет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никакой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семантики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491164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2328" y="107340"/>
            <a:ext cx="3203848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Courier New" pitchFamily="49" charset="0"/>
                <a:cs typeface="Courier New" pitchFamily="49" charset="0"/>
              </a:rPr>
              <a:t>Новые элементы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HTML5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516052"/>
            <a:ext cx="4026817" cy="363302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548680"/>
            <a:ext cx="3887086" cy="35441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000" y="4283804"/>
            <a:ext cx="8969496" cy="2031325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Запомнить! Какого-либо отображения внешнего вида элементов </a:t>
            </a:r>
          </a:p>
          <a:p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HTML5 в стандарте не предусмотрено!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То есть в разметке важно сообщить, что, например  область 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header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– это шапка страницы. </a:t>
            </a: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Что делать с этой ценной информацией браузеру – дело исключительно браузера. </a:t>
            </a:r>
          </a:p>
        </p:txBody>
      </p:sp>
    </p:spTree>
    <p:extLst>
      <p:ext uri="{BB962C8B-B14F-4D97-AF65-F5344CB8AC3E}">
        <p14:creationId xmlns:p14="http://schemas.microsoft.com/office/powerpoint/2010/main" val="4082355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570301"/>
              </p:ext>
            </p:extLst>
          </p:nvPr>
        </p:nvGraphicFramePr>
        <p:xfrm>
          <a:off x="179512" y="836712"/>
          <a:ext cx="871296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Семантические</a:t>
                      </a:r>
                    </a:p>
                    <a:p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структурные</a:t>
                      </a:r>
                      <a:r>
                        <a:rPr lang="ru-RU" b="1" baseline="0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элементы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&lt;article&gt;, &lt;aside&gt;, 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figcaption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&lt;figure&gt;, &lt;footer&gt;, &lt;header&gt;, 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&lt;section&gt;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&lt;details&gt;, &lt;summary&gt;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1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Семантические</a:t>
                      </a:r>
                    </a:p>
                    <a:p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строчные</a:t>
                      </a:r>
                    </a:p>
                    <a:p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элементы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&lt;mark&gt;, &lt;time&gt;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wbr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Элементы форм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datalist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keygen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&lt;meter&gt;, &lt;progress&gt;,  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&lt;command&gt;, &lt;menu&gt;, &lt;output&gt;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Элементы видео, аудио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&lt;audio&gt;, &lt;video&gt;, &lt;source&gt;&lt;embed&gt;&lt;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svg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&gt;&lt;math&gt;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Элемент</a:t>
                      </a:r>
                      <a:r>
                        <a:rPr lang="ru-RU" b="1" baseline="0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для</a:t>
                      </a:r>
                    </a:p>
                    <a:p>
                      <a:r>
                        <a:rPr lang="ru-RU" b="1" baseline="0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рисования</a:t>
                      </a:r>
                      <a:endParaRPr lang="ru-RU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&lt;canvas&gt;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9552" y="116632"/>
            <a:ext cx="8136904" cy="369332"/>
          </a:xfrm>
          <a:prstGeom prst="rect">
            <a:avLst/>
          </a:prstGeom>
          <a:solidFill>
            <a:schemeClr val="bg2">
              <a:alpha val="28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Основные новые элементы, добавленные в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5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43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9008" y="90498"/>
            <a:ext cx="8969496" cy="369332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Зачем нужны были новые элементы в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? </a:t>
            </a:r>
            <a:endParaRPr lang="ru-RU" b="1" i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008" y="548680"/>
            <a:ext cx="8969496" cy="92333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&lt;div class="</a:t>
            </a:r>
            <a:r>
              <a:rPr lang="en-US" b="1" i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nav</a:t>
            </a:r>
            <a:r>
              <a:rPr lang="en-US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...</a:t>
            </a:r>
          </a:p>
          <a:p>
            <a:r>
              <a:rPr lang="en-US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&lt;/div&gt;</a:t>
            </a:r>
            <a:endParaRPr lang="ru-RU" b="1" i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9008" y="1628800"/>
            <a:ext cx="8969496" cy="341632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Верстальщик вынужден делать различие между элементами разметки </a:t>
            </a: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по их содержимому путем присваивания им классов с человеко-понятными названиями. </a:t>
            </a: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Это позволяет ориентироваться в разметке человеку.</a:t>
            </a:r>
          </a:p>
          <a:p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как браузер узнает, что в 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div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nav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размещено именно меню сайта? </a:t>
            </a:r>
          </a:p>
          <a:p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А кроме браузеров, есть еще поисковые роботы, контент-анализаторы, программы экранного доступа. И для правильного понимания ими содержимого веб-страницы очень важна понятная, 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семантическая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разметка.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008" y="5147900"/>
            <a:ext cx="8969496" cy="369332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То есть по факту – семантика нужна не человеку, а машинам. </a:t>
            </a:r>
            <a:endParaRPr lang="ru-RU" b="1" i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074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9512" y="33460"/>
            <a:ext cx="5904656" cy="674030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&lt;h1&gt;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Мой магазин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&lt;/h1&gt;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&lt;article class="catalog"&gt;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&lt;h2&gt;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Каталог товаров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&lt;/h2&gt;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&lt;section&gt;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 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Компьютеры и ноутбуки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Ноутбуки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Планшеты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Компьютеры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Комплектующие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&lt;/section&gt;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&lt;section&gt;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 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Бытовая техника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Холодильники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    &lt;h4&gt;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Стиральные машины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&lt;/h4&gt;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&lt;/section&gt;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&lt;/article&gt;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&lt;aside class="articles"&gt;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&lt;h2&gt;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Статьи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&lt;/h2&gt;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Компьютеры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Планшеты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&lt;/h3&gt;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&lt;/aside&gt;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&lt;footer class="contacts"&gt;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&lt;h2&gt;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Контакты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&lt;/h2&gt;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&lt;/footer&gt;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367212"/>
            <a:ext cx="5904656" cy="4069900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14944" y="4463400"/>
            <a:ext cx="5904656" cy="1368152"/>
          </a:xfrm>
          <a:prstGeom prst="rect">
            <a:avLst/>
          </a:prstGeom>
          <a:solidFill>
            <a:srgbClr val="FFFF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44080" y="5832663"/>
            <a:ext cx="5904656" cy="941103"/>
          </a:xfrm>
          <a:prstGeom prst="rect">
            <a:avLst/>
          </a:prstGeom>
          <a:solidFill>
            <a:srgbClr val="92D05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340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107504" y="76562"/>
            <a:ext cx="8928992" cy="4924425"/>
            <a:chOff x="135915" y="292586"/>
            <a:chExt cx="8928992" cy="4924425"/>
          </a:xfrm>
        </p:grpSpPr>
        <p:sp>
          <p:nvSpPr>
            <p:cNvPr id="12" name="TextBox 11"/>
            <p:cNvSpPr txBox="1"/>
            <p:nvPr/>
          </p:nvSpPr>
          <p:spPr>
            <a:xfrm>
              <a:off x="135915" y="692696"/>
              <a:ext cx="8928992" cy="4524315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Элемент представляет группу вводного содержимого или навигационных средств.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Обычно содержит элементы 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h1-h6, </a:t>
              </a:r>
              <a:r>
                <a:rPr lang="en-US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hgroup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Может также содержать формы поиска, секционный контент (например </a:t>
              </a:r>
              <a:r>
                <a:rPr lang="en-US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nav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Это не секционный элемент и в алгоритме 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outline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он не 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учавствует</a:t>
              </a:r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Может быть не только верхнего уровня(</a:t>
              </a:r>
              <a:r>
                <a:rPr lang="ru-RU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щапка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сайта), но еще </a:t>
              </a: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допустимо, когда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&lt;header&gt;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встречаются у каждой статьи или, </a:t>
              </a: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например, цитаты.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i="1" dirty="0">
                  <a:solidFill>
                    <a:srgbClr val="00206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То есть можно включать новый элемент </a:t>
              </a:r>
              <a:r>
                <a:rPr lang="ru-RU" b="1" i="1" dirty="0" err="1">
                  <a:solidFill>
                    <a:srgbClr val="00206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header</a:t>
              </a:r>
              <a:r>
                <a:rPr lang="ru-RU" b="1" i="1" dirty="0">
                  <a:solidFill>
                    <a:srgbClr val="00206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каждый раз, когда в документе встречается новый раздел (отдельный блок контента).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9512" y="292586"/>
              <a:ext cx="1828611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&lt;header&gt;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920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107504" y="76562"/>
            <a:ext cx="8928992" cy="3816430"/>
            <a:chOff x="135915" y="292586"/>
            <a:chExt cx="8928992" cy="3816430"/>
          </a:xfrm>
        </p:grpSpPr>
        <p:sp>
          <p:nvSpPr>
            <p:cNvPr id="12" name="TextBox 11"/>
            <p:cNvSpPr txBox="1"/>
            <p:nvPr/>
          </p:nvSpPr>
          <p:spPr>
            <a:xfrm>
              <a:off x="135915" y="692696"/>
              <a:ext cx="8928992" cy="341632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Элемент представляет собой часть страницы, которая ссылается на другие страницы или части текущей, то есть раздел с навигационными ссылками.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Замечание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: не все группы ссылок на странице должны быть обёрнуты в элемент </a:t>
              </a:r>
              <a:r>
                <a:rPr lang="ru-RU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nav</a:t>
              </a:r>
              <a:endPara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Этот элемент, главным образом, предназначен </a:t>
              </a:r>
              <a:r>
                <a:rPr lang="ru-RU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для группировки главных навигационных блоков.</a:t>
              </a: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В частности, в подвалах часто содержатся короткие списки ссылок на различные части сайта.</a:t>
              </a: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Элемента </a:t>
              </a:r>
              <a:r>
                <a:rPr lang="ru-RU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footer</a:t>
              </a:r>
              <a:r>
                <a:rPr lang="ru-RU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вполне достаточно для группировки такого рода ссылок.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9512" y="292586"/>
              <a:ext cx="1828611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20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nav</a:t>
              </a: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1101" y="4293096"/>
            <a:ext cx="8741379" cy="1477328"/>
          </a:xfrm>
          <a:prstGeom prst="rect">
            <a:avLst/>
          </a:prstGeom>
          <a:solidFill>
            <a:schemeClr val="bg1">
              <a:lumMod val="75000"/>
              <a:alpha val="27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Главные части навигации сайта</a:t>
            </a:r>
          </a:p>
          <a:p>
            <a:pPr lvl="1"/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Самая главная навигация;</a:t>
            </a:r>
          </a:p>
          <a:p>
            <a:pPr lvl="1"/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Поиск по сайту;</a:t>
            </a:r>
          </a:p>
          <a:p>
            <a:pPr lvl="1"/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Вторичная навигация (что спорно);</a:t>
            </a:r>
          </a:p>
          <a:p>
            <a:pPr lvl="1"/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Внутренняя навигация (по длинной статье, например).</a:t>
            </a:r>
          </a:p>
        </p:txBody>
      </p:sp>
    </p:spTree>
    <p:extLst>
      <p:ext uri="{BB962C8B-B14F-4D97-AF65-F5344CB8AC3E}">
        <p14:creationId xmlns:p14="http://schemas.microsoft.com/office/powerpoint/2010/main" val="17688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107504" y="188640"/>
            <a:ext cx="8928992" cy="4647427"/>
            <a:chOff x="135915" y="292586"/>
            <a:chExt cx="8928992" cy="4647427"/>
          </a:xfrm>
        </p:grpSpPr>
        <p:sp>
          <p:nvSpPr>
            <p:cNvPr id="9" name="TextBox 8"/>
            <p:cNvSpPr txBox="1"/>
            <p:nvPr/>
          </p:nvSpPr>
          <p:spPr>
            <a:xfrm>
              <a:off x="135915" y="692696"/>
              <a:ext cx="8928992" cy="4247317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Это универсальный раз­дел  документа  или  приложения,  </a:t>
              </a:r>
              <a:r>
                <a:rPr lang="ru-RU" b="1" i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тематически  однородная  часть</a:t>
              </a:r>
              <a:r>
                <a:rPr lang="ru-RU" b="1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доку­мента, обычно имеющая заголовок.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Используется для </a:t>
              </a:r>
              <a:r>
                <a:rPr lang="ru-RU" b="1" i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группировки контента общей тематики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и как правило </a:t>
              </a:r>
              <a:r>
                <a:rPr lang="ru-RU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содержит вместе с контентом теги заголовков.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То есть в тег 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&lt;section&gt;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вкладываются заголовки и контент, имеющие прямую связь друг с другом – подобно секциям в газете(спорт, мода, …)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Элемент </a:t>
              </a:r>
              <a:r>
                <a:rPr lang="ru-RU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section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допускает вложение дру­гих элементов  </a:t>
              </a:r>
              <a:r>
                <a:rPr lang="ru-RU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section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 Например,  на  новостном  сайте  в  разделе международной политики могут быть разделы для каждого глобаль­ного региона.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5915" y="292586"/>
              <a:ext cx="1828611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&lt;section&gt;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1569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35496" y="44624"/>
            <a:ext cx="8928992" cy="2708434"/>
            <a:chOff x="135915" y="292586"/>
            <a:chExt cx="8928992" cy="2708434"/>
          </a:xfrm>
        </p:grpSpPr>
        <p:sp>
          <p:nvSpPr>
            <p:cNvPr id="6" name="TextBox 5"/>
            <p:cNvSpPr txBox="1"/>
            <p:nvPr/>
          </p:nvSpPr>
          <p:spPr>
            <a:xfrm>
              <a:off x="135915" y="692696"/>
              <a:ext cx="8928992" cy="230832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Элемент представляет собой отдельный компонент страницы документа, приложения или сайта, </a:t>
              </a:r>
              <a:r>
                <a:rPr lang="ru-RU" b="1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предназначенный для независимого распространения или многократного использования</a:t>
              </a:r>
              <a:r>
                <a:rPr lang="ru-RU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например, агрегирования.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Это может быть сообщение на форуме, статья в журнале или газете, запись в блоге, комментарий пользователя, интерактивный </a:t>
              </a:r>
              <a:r>
                <a:rPr lang="ru-RU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виджет</a:t>
              </a:r>
              <a:r>
                <a:rPr lang="ru-RU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или гаджет, а также любая другая </a:t>
              </a:r>
              <a:r>
                <a:rPr lang="ru-RU" b="1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независимая</a:t>
              </a:r>
              <a:r>
                <a:rPr lang="ru-RU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от</a:t>
              </a:r>
              <a:r>
                <a:rPr lang="en-US" b="1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окружающего контента </a:t>
              </a:r>
              <a:r>
                <a:rPr lang="ru-RU" dirty="0">
                  <a:latin typeface="Courier New" panose="02070309020205020404" pitchFamily="49" charset="0"/>
                  <a:cs typeface="Courier New" panose="02070309020205020404" pitchFamily="49" charset="0"/>
                </a:rPr>
                <a:t>единица контента.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5915" y="292586"/>
              <a:ext cx="1828611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&lt;article&gt;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5496" y="2852936"/>
            <a:ext cx="8928992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article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– это особая разновидность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Он имеет более специфическое семантическое значение – это независимый, самодостаточный блок взаимосвязанного контента.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Мы можем использовать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, но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article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придает большую семантическую значимость содержимому.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96" y="4345604"/>
            <a:ext cx="8928992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 отличие от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article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– это только блок взаимосвязанного контента, а элемент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– это просто блок контента. </a:t>
            </a:r>
          </a:p>
        </p:txBody>
      </p:sp>
    </p:spTree>
    <p:extLst>
      <p:ext uri="{BB962C8B-B14F-4D97-AF65-F5344CB8AC3E}">
        <p14:creationId xmlns:p14="http://schemas.microsoft.com/office/powerpoint/2010/main" val="3753821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9512" y="332656"/>
            <a:ext cx="8712968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Чтоб решить, какой из этих трех элементов использовать, надо определить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- можно ли  разместить этот контент как самостоятельную  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единицу в RSS-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feed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- может ли контент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переопубликован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без потери смысла ?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- понятен ли контент без остальной, окружающей его части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страницы 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Если да - использовать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article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2. Является ли контент взаимосвязанным?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Если да - использовать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3.Если семантической взаимосвязи нет - использовать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19429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35915" y="332656"/>
            <a:ext cx="8928992" cy="2671266"/>
            <a:chOff x="135915" y="329754"/>
            <a:chExt cx="8928992" cy="2671266"/>
          </a:xfrm>
        </p:grpSpPr>
        <p:sp>
          <p:nvSpPr>
            <p:cNvPr id="2" name="TextBox 1"/>
            <p:cNvSpPr txBox="1"/>
            <p:nvPr/>
          </p:nvSpPr>
          <p:spPr>
            <a:xfrm>
              <a:off x="135915" y="692696"/>
              <a:ext cx="8928992" cy="230832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Элемент представляет собой раздел страницы, который состоит из контента, имеющего </a:t>
              </a:r>
              <a:r>
                <a:rPr lang="ru-RU" b="1" i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косвенное отношение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к содержанию  находящегося вокруг этого элемента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&lt;aside&gt;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и который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имеется ввиду контент элемента 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&lt;aside&gt;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)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мог бы рассматриваться отдельно от содержания (находящегося вокруг элемента 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&lt;aside&gt;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Варианты применения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- боковая колонка, список дополнительных ссылок, рекламный блок.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79512" y="329754"/>
              <a:ext cx="1296144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&lt;aside&gt;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5353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35915" y="580618"/>
            <a:ext cx="8928992" cy="4887257"/>
            <a:chOff x="135915" y="329754"/>
            <a:chExt cx="8928992" cy="4887257"/>
          </a:xfrm>
        </p:grpSpPr>
        <p:sp>
          <p:nvSpPr>
            <p:cNvPr id="2" name="TextBox 1"/>
            <p:cNvSpPr txBox="1"/>
            <p:nvPr/>
          </p:nvSpPr>
          <p:spPr>
            <a:xfrm>
              <a:off x="135915" y="692696"/>
              <a:ext cx="8928992" cy="4524315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Это не секционный элемент.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Элемент представляет нижний колонтитул для его ближайших родителей. </a:t>
              </a: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Обычно содержит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meta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-информацию об авторе, ссылки на связанные документы, дата опубликования документа.</a:t>
              </a:r>
            </a:p>
            <a:p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Если 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footer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содержит секции, они обычно представляют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:</a:t>
              </a:r>
            </a:p>
            <a:p>
              <a:pPr marL="285750" indent="-285750">
                <a:buFontTx/>
                <a:buChar char="-"/>
              </a:pP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приложения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к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документу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 marL="285750" indent="-285750">
                <a:buFontTx/>
                <a:buChar char="-"/>
              </a:pP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текст лицензии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285750" indent="-285750">
                <a:buFontTx/>
                <a:buChar char="-"/>
              </a:pP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выводы(заключительную часть)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 marL="285750" indent="-285750">
                <a:buFontTx/>
                <a:buChar char="-"/>
              </a:pP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оглавление(индексацию)   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285750" indent="-285750">
                <a:buFontTx/>
                <a:buChar char="-"/>
              </a:pP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285750" indent="-285750">
                <a:buFontTx/>
                <a:buChar char="-"/>
              </a:pP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Может быть не только нижнего уровня( подвал сайта), но еще </a:t>
              </a: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допустимо, когда 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&lt;footer&gt;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встречаются у каждой статьи или, </a:t>
              </a:r>
            </a:p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например, цитаты.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79512" y="329754"/>
              <a:ext cx="1512168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&lt;footer&gt;</a:t>
              </a:r>
              <a:endParaRPr lang="ru-RU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58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04832" y="44624"/>
            <a:ext cx="2520280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Outline algorithm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932527"/>
            <a:ext cx="8856984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 outliner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это алгоритм который определяет, как секционный контент будет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парситься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чтобы создать структуру и оглавление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документа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467380"/>
            <a:ext cx="8928992" cy="369332"/>
          </a:xfrm>
          <a:prstGeom prst="rect">
            <a:avLst/>
          </a:prstGeom>
          <a:solidFill>
            <a:srgbClr val="FFFF00">
              <a:alpha val="2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https://www.w3.org/TR/html52/sections.html#creating-an-outline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512" y="2505670"/>
            <a:ext cx="8856984" cy="147732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Элементы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article, section,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aside, h1-h6 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являются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секционными элементы и именно ими определяется 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outline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схема, </a:t>
            </a:r>
            <a:r>
              <a:rPr lang="uk-UA" b="1" dirty="0">
                <a:latin typeface="Courier New" panose="02070309020205020404" pitchFamily="49" charset="0"/>
                <a:cs typeface="Courier New" panose="02070309020205020404" pitchFamily="49" charset="0"/>
              </a:rPr>
              <a:t>структура)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 </a:t>
            </a:r>
            <a:r>
              <a:rPr lang="uk-U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документа</a:t>
            </a:r>
          </a:p>
          <a:p>
            <a:endParaRPr lang="uk-U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https://www.w3.org/TR/html52/sections.html#creating-an-outline</a:t>
            </a:r>
            <a:r>
              <a:rPr lang="uk-U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061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1308" y="71956"/>
            <a:ext cx="3701384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uk-UA" dirty="0" err="1"/>
              <a:t>Работа</a:t>
            </a:r>
            <a:r>
              <a:rPr lang="uk-UA" dirty="0"/>
              <a:t> </a:t>
            </a:r>
            <a:r>
              <a:rPr lang="en-US" dirty="0"/>
              <a:t>outline </a:t>
            </a:r>
            <a:r>
              <a:rPr lang="ru-RU" dirty="0"/>
              <a:t>алгоритма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476672"/>
            <a:ext cx="8856984" cy="230832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контент  используется для определения </a:t>
            </a:r>
            <a:r>
              <a:rPr lang="ru-RU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outline</a:t>
            </a:r>
            <a:endParaRPr lang="ru-RU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является корневой секцией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как только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парсер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находит новую секцию, он ее добавляет в </a:t>
            </a:r>
            <a:r>
              <a:rPr lang="ru-RU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outline</a:t>
            </a:r>
            <a:endParaRPr lang="ru-RU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если секция содержит  элементы  заголовков (h1-h6) то их контент определяет заголовок секции </a:t>
            </a:r>
            <a:r>
              <a:rPr lang="ru-RU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outline</a:t>
            </a:r>
            <a:endParaRPr lang="ru-RU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секционные элементы могут содержать другие секционные элементы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08" y="3390908"/>
            <a:ext cx="8856984" cy="923330"/>
          </a:xfrm>
          <a:prstGeom prst="rect">
            <a:avLst/>
          </a:prstGeom>
          <a:solidFill>
            <a:srgbClr val="FFFF0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Логическая секция – это группировка контента.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Название секции определяет первый элемент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1 –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6) идущий сразу после открывающего тега секционного элемента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08" y="4437112"/>
            <a:ext cx="4536504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&lt;section&gt;</a:t>
            </a:r>
          </a:p>
          <a:p>
            <a:r>
              <a:rPr lang="ru-RU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&lt;h2&gt;Title of section&lt;/h2&gt;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&lt;/section&gt;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487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2202" y="116632"/>
            <a:ext cx="8944294" cy="3046988"/>
          </a:xfrm>
          <a:prstGeom prst="rect">
            <a:avLst/>
          </a:prstGeom>
          <a:solidFill>
            <a:schemeClr val="bg2">
              <a:alpha val="26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600" b="1"/>
            </a:lvl1pPr>
          </a:lstStyle>
          <a:p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Элементы типа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Section root</a:t>
            </a:r>
            <a:r>
              <a:rPr lang="ru-RU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– имеют свой внутренний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outline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и не</a:t>
            </a:r>
          </a:p>
          <a:p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добавляют дочерних секций в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outline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родительских секционных элементов.</a:t>
            </a:r>
          </a:p>
          <a:p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Это элементы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blockquote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&lt;details&gt;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fieldset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&lt;figure&gt;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&lt;table&gt;,</a:t>
            </a:r>
            <a:r>
              <a:rPr lang="ru-RU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&lt;td&gt;</a:t>
            </a:r>
            <a:endParaRPr lang="ru-RU" sz="2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3334340"/>
            <a:ext cx="8944294" cy="646331"/>
          </a:xfrm>
          <a:prstGeom prst="rect">
            <a:avLst/>
          </a:prstGeom>
          <a:solidFill>
            <a:schemeClr val="bg1">
              <a:alpha val="26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600" b="1"/>
            </a:lvl1pPr>
          </a:lstStyle>
          <a:p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То есть  секционный контент и заголовки внутри этих элементов не влияют на структуру документа</a:t>
            </a:r>
            <a:endParaRPr lang="ru-RU" sz="2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443711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Пример использования </a:t>
            </a:r>
            <a:r>
              <a:rPr lang="uk-U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семантических</a:t>
            </a:r>
            <a:r>
              <a:rPr lang="uk-UA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тегов</a:t>
            </a:r>
            <a:r>
              <a:rPr lang="uk-UA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HTML5</a:t>
            </a:r>
            <a:endParaRPr lang="uk-U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http://www.thehtml5herald.com</a:t>
            </a:r>
            <a:r>
              <a:rPr lang="uk-UA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821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292" y="0"/>
            <a:ext cx="5653416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745292" y="0"/>
            <a:ext cx="5653416" cy="908720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&lt;header&gt;&lt;/header&gt;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63688" y="1008112"/>
            <a:ext cx="2736304" cy="4941168"/>
          </a:xfrm>
          <a:prstGeom prst="rect">
            <a:avLst/>
          </a:prstGeom>
          <a:solidFill>
            <a:srgbClr val="92D050">
              <a:alpha val="86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&lt;div&gt;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&lt;/div&gt;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533900" y="1008112"/>
            <a:ext cx="1046212" cy="4941168"/>
          </a:xfrm>
          <a:prstGeom prst="rect">
            <a:avLst/>
          </a:prstGeom>
          <a:solidFill>
            <a:srgbClr val="92D050">
              <a:alpha val="86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&lt;div&gt;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&lt;/div&gt;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614020" y="1008112"/>
            <a:ext cx="1784688" cy="4941168"/>
          </a:xfrm>
          <a:prstGeom prst="rect">
            <a:avLst/>
          </a:prstGeom>
          <a:solidFill>
            <a:srgbClr val="92D050">
              <a:alpha val="86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&lt;div&gt;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&lt;/div&gt;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835696" y="1340768"/>
            <a:ext cx="2592288" cy="1800200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&lt;/article&gt;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835696" y="3212976"/>
            <a:ext cx="2592288" cy="2088232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&lt;/article&gt;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572000" y="1340768"/>
            <a:ext cx="1008112" cy="1512168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562847" y="2924944"/>
            <a:ext cx="1008112" cy="1440160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572000" y="4437112"/>
            <a:ext cx="1008112" cy="1440160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652120" y="1340768"/>
            <a:ext cx="1746588" cy="2304256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&lt;aside&gt;</a:t>
            </a:r>
          </a:p>
          <a:p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&lt;article&gt;</a:t>
            </a:r>
          </a:p>
          <a:p>
            <a:r>
              <a:rPr lang="en-US" b="1" dirty="0">
                <a:solidFill>
                  <a:srgbClr val="7030A0"/>
                </a:solidFill>
              </a:rPr>
              <a:t> &lt;/article&gt;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&lt;article&gt;</a:t>
            </a:r>
          </a:p>
          <a:p>
            <a:r>
              <a:rPr lang="en-US" b="1" dirty="0">
                <a:solidFill>
                  <a:srgbClr val="7030A0"/>
                </a:solidFill>
              </a:rPr>
              <a:t> &lt;/article&gt;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&lt;/aside&gt;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652120" y="3717032"/>
            <a:ext cx="1746588" cy="1584176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&lt;article&gt;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&lt;/article&gt;</a:t>
            </a:r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2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74" y="260648"/>
            <a:ext cx="8740452" cy="199781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09042" y="260647"/>
            <a:ext cx="8733184" cy="1997817"/>
          </a:xfrm>
          <a:prstGeom prst="rect">
            <a:avLst/>
          </a:prstGeom>
          <a:solidFill>
            <a:srgbClr val="FFFF00">
              <a:alpha val="78000"/>
            </a:srgb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&lt;footer&gt;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&lt;/footer&gt;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68498" y="556692"/>
            <a:ext cx="8623981" cy="928092"/>
          </a:xfrm>
          <a:prstGeom prst="rect">
            <a:avLst/>
          </a:prstGeom>
          <a:solidFill>
            <a:schemeClr val="bg2">
              <a:lumMod val="9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8499" y="1492796"/>
            <a:ext cx="8623981" cy="464046"/>
          </a:xfrm>
          <a:prstGeom prst="rect">
            <a:avLst/>
          </a:prstGeom>
          <a:solidFill>
            <a:schemeClr val="bg2">
              <a:lumMod val="9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  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0667" y="649263"/>
            <a:ext cx="1927237" cy="638867"/>
          </a:xfrm>
          <a:prstGeom prst="rect">
            <a:avLst/>
          </a:prstGeom>
          <a:solidFill>
            <a:schemeClr val="tx2">
              <a:lumMod val="20000"/>
              <a:lumOff val="8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</a:t>
            </a:r>
          </a:p>
          <a:p>
            <a:r>
              <a:rPr lang="en-US" b="1" dirty="0">
                <a:solidFill>
                  <a:schemeClr val="accent2"/>
                </a:solidFill>
              </a:rPr>
              <a:t>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796891" y="649263"/>
            <a:ext cx="1927237" cy="638867"/>
          </a:xfrm>
          <a:prstGeom prst="rect">
            <a:avLst/>
          </a:prstGeom>
          <a:solidFill>
            <a:schemeClr val="tx2">
              <a:lumMod val="20000"/>
              <a:lumOff val="8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</a:t>
            </a:r>
          </a:p>
          <a:p>
            <a:r>
              <a:rPr lang="en-US" b="1" dirty="0">
                <a:solidFill>
                  <a:schemeClr val="accent2"/>
                </a:solidFill>
              </a:rPr>
              <a:t>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813115" y="649263"/>
            <a:ext cx="1927237" cy="638867"/>
          </a:xfrm>
          <a:prstGeom prst="rect">
            <a:avLst/>
          </a:prstGeom>
          <a:solidFill>
            <a:schemeClr val="tx2">
              <a:lumMod val="20000"/>
              <a:lumOff val="80000"/>
              <a:alpha val="78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accent2"/>
                </a:solidFill>
              </a:rPr>
              <a:t>&lt;section&gt;</a:t>
            </a:r>
          </a:p>
          <a:p>
            <a:r>
              <a:rPr lang="en-US" b="1" dirty="0">
                <a:solidFill>
                  <a:schemeClr val="accent2"/>
                </a:solidFill>
              </a:rPr>
              <a:t>&lt;/section&gt;</a:t>
            </a:r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12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3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9452" y="118373"/>
            <a:ext cx="8967044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Почему колонки не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&lt;section&gt;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b="1">
                <a:latin typeface="Courier New" panose="02070309020205020404" pitchFamily="49" charset="0"/>
                <a:cs typeface="Courier New" panose="02070309020205020404" pitchFamily="49" charset="0"/>
              </a:rPr>
              <a:t>- контент в колонках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не содержит отдельный раздел.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74" y="838453"/>
            <a:ext cx="8984022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Почему баннеры в теге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&lt;aside&gt;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баннеры имеют косвенное отношение к контенту сайта.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52" y="1558533"/>
            <a:ext cx="896704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 Почему контент баннеров в теге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&lt;article&gt;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контент баннера – самодостаточная часть документа,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ко­торая может существовать и распространяться независимо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от этого документа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82" y="2876743"/>
            <a:ext cx="895011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 Почему статья справа вне тега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&lt;aside&gt;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статья соответствует тематике газеты, и не должна находиться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в секции с контентом, имеющим косвенное отношение к контенту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сайта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82" y="4172887"/>
            <a:ext cx="895011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 Почему не используется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&lt;section&gt; 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для оборачивания элементов</a:t>
            </a:r>
          </a:p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&lt;aside&gt;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&lt;article&gt;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в 3-й колонке?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чтобы  баннера и статья не оказались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сгруппироваными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как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контент одной тематики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82" y="5469031"/>
            <a:ext cx="8950114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 Почему контент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&lt;footer&gt; 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разбит на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&lt;section&gt;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- он со­держит различные фрагменты контента, каждый из которых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формирует самодостаточную и тематически независимую единицу</a:t>
            </a:r>
          </a:p>
        </p:txBody>
      </p:sp>
    </p:spTree>
    <p:extLst>
      <p:ext uri="{BB962C8B-B14F-4D97-AF65-F5344CB8AC3E}">
        <p14:creationId xmlns:p14="http://schemas.microsoft.com/office/powerpoint/2010/main" val="175436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116632"/>
            <a:ext cx="8640960" cy="175432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Домашнее задание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– находится в каталоге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02_html/home/read.txt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Задание выполнять в файле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02_html/home/index.html </a:t>
            </a:r>
          </a:p>
          <a:p>
            <a:endParaRPr lang="ru-RU" b="1">
              <a:latin typeface="Courier New" pitchFamily="49" charset="0"/>
              <a:cs typeface="Courier New" pitchFamily="49" charset="0"/>
            </a:endParaRPr>
          </a:p>
          <a:p>
            <a:r>
              <a:rPr lang="ru-RU" b="1">
                <a:latin typeface="Courier New" pitchFamily="49" charset="0"/>
                <a:cs typeface="Courier New" pitchFamily="49" charset="0"/>
              </a:rPr>
              <a:t>Выполненное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задание присылать в архиве личным сообщением в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Slack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92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9522" y="188640"/>
            <a:ext cx="8604956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Overwhelming !!!</a:t>
            </a:r>
            <a:endParaRPr lang="ru-RU" sz="4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2" y="1124744"/>
            <a:ext cx="8576954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18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</TotalTime>
  <Words>2867</Words>
  <Application>Microsoft Office PowerPoint</Application>
  <PresentationFormat>Экран (4:3)</PresentationFormat>
  <Paragraphs>466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40" baseType="lpstr">
      <vt:lpstr>Arial Narrow</vt:lpstr>
      <vt:lpstr>Calibri</vt:lpstr>
      <vt:lpstr>Courier New</vt:lpstr>
      <vt:lpstr>Lucida Sans Unicode</vt:lpstr>
      <vt:lpstr>Verdana</vt:lpstr>
      <vt:lpstr>Wingdings</vt:lpstr>
      <vt:lpstr>Wingdings 2</vt:lpstr>
      <vt:lpstr>Wingdings 3</vt:lpstr>
      <vt:lpstr>Открытая</vt:lpstr>
      <vt:lpstr>Введение в HTML  https://academy.beetroot.se</vt:lpstr>
      <vt:lpstr>Элементы DIV и SPAN</vt:lpstr>
      <vt:lpstr>Атрибуты тегов</vt:lpstr>
      <vt:lpstr>Примеры использования атрибутов</vt:lpstr>
      <vt:lpstr>Непосредственное форматирование текста </vt:lpstr>
      <vt:lpstr>Логическое форматирование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462</cp:revision>
  <dcterms:created xsi:type="dcterms:W3CDTF">2010-11-04T13:16:08Z</dcterms:created>
  <dcterms:modified xsi:type="dcterms:W3CDTF">2022-01-24T16:28:09Z</dcterms:modified>
</cp:coreProperties>
</file>