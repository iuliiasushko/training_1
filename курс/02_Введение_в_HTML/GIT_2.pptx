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557" r:id="rId2"/>
    <p:sldId id="482" r:id="rId3"/>
    <p:sldId id="493" r:id="rId4"/>
    <p:sldId id="545" r:id="rId5"/>
    <p:sldId id="549" r:id="rId6"/>
    <p:sldId id="462" r:id="rId7"/>
    <p:sldId id="546" r:id="rId8"/>
    <p:sldId id="547" r:id="rId9"/>
    <p:sldId id="550" r:id="rId10"/>
    <p:sldId id="551" r:id="rId11"/>
    <p:sldId id="552" r:id="rId12"/>
    <p:sldId id="555" r:id="rId13"/>
    <p:sldId id="554" r:id="rId14"/>
    <p:sldId id="553" r:id="rId15"/>
    <p:sldId id="558" r:id="rId16"/>
    <p:sldId id="548" r:id="rId17"/>
    <p:sldId id="556" r:id="rId18"/>
    <p:sldId id="442" r:id="rId1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33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070"/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274" autoAdjust="0"/>
  </p:normalViewPr>
  <p:slideViewPr>
    <p:cSldViewPr showGuides="1">
      <p:cViewPr varScale="1">
        <p:scale>
          <a:sx n="109" d="100"/>
          <a:sy n="109" d="100"/>
        </p:scale>
        <p:origin x="1674" y="108"/>
      </p:cViewPr>
      <p:guideLst>
        <p:guide orient="horz" pos="1933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70" d="100"/>
          <a:sy n="70" d="100"/>
        </p:scale>
        <p:origin x="-1891" y="-103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731450-B050-45E2-8615-538A492B15A9}" type="datetimeFigureOut">
              <a:rPr lang="ru-RU" smtClean="0"/>
              <a:t>24.01.2022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0A7537-64E2-4FB1-A143-BC4EC49EFF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9302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B44945-8607-4F2F-AB6B-4EC0DBA6E6CF}" type="datetimeFigureOut">
              <a:rPr lang="ru-RU" smtClean="0"/>
              <a:t>24.01.2022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B747D1-FEBF-423A-AD6B-EF9B292E11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85852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70530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16605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16605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9670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88042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11486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2260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1838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14117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2839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51181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46701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99055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74603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51501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95633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309915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63724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81336" y="58614"/>
            <a:ext cx="4618856" cy="562074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none"/>
        </p:style>
        <p:txBody>
          <a:bodyPr>
            <a:normAutofit/>
          </a:bodyPr>
          <a:lstStyle>
            <a:lvl1pPr>
              <a:defRPr sz="2200" b="1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7" name="TextBox 6"/>
          <p:cNvSpPr txBox="1"/>
          <p:nvPr userDrawn="1"/>
        </p:nvSpPr>
        <p:spPr>
          <a:xfrm>
            <a:off x="107504" y="908720"/>
            <a:ext cx="8928992" cy="369332"/>
          </a:xfrm>
          <a:prstGeom prst="rect">
            <a:avLst/>
          </a:prstGeom>
          <a:solidFill>
            <a:srgbClr val="92D050">
              <a:alpha val="9000"/>
            </a:srgb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text</a:t>
            </a:r>
            <a:endParaRPr lang="ru-RU" b="1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107504" y="2195572"/>
            <a:ext cx="8928992" cy="369332"/>
          </a:xfrm>
          <a:prstGeom prst="rect">
            <a:avLst/>
          </a:prstGeom>
          <a:solidFill>
            <a:srgbClr val="FFFF00">
              <a:alpha val="9000"/>
            </a:srgb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text</a:t>
            </a:r>
            <a:endParaRPr lang="ru-RU" b="1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107504" y="3707740"/>
            <a:ext cx="8928992" cy="369332"/>
          </a:xfrm>
          <a:prstGeom prst="rect">
            <a:avLst/>
          </a:prstGeom>
          <a:solidFill>
            <a:srgbClr val="7030A0">
              <a:alpha val="9000"/>
            </a:srgb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text</a:t>
            </a:r>
            <a:endParaRPr lang="ru-RU" b="1" dirty="0"/>
          </a:p>
        </p:txBody>
      </p:sp>
      <p:sp>
        <p:nvSpPr>
          <p:cNvPr id="10" name="TextBox 9"/>
          <p:cNvSpPr txBox="1"/>
          <p:nvPr userDrawn="1"/>
        </p:nvSpPr>
        <p:spPr>
          <a:xfrm>
            <a:off x="35496" y="5219908"/>
            <a:ext cx="8928992" cy="369332"/>
          </a:xfrm>
          <a:prstGeom prst="rect">
            <a:avLst/>
          </a:prstGeom>
          <a:solidFill>
            <a:srgbClr val="FF0000">
              <a:alpha val="9000"/>
            </a:srgb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text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1400733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98EDE-99C0-458B-82F9-AAF47343B0E8}" type="datetimeFigureOut">
              <a:rPr lang="ru-RU" smtClean="0"/>
              <a:t>24.01.2022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6F89E-0603-4DDE-AF50-0CBC2DCB37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0262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98EDE-99C0-458B-82F9-AAF47343B0E8}" type="datetimeFigureOut">
              <a:rPr lang="ru-RU" smtClean="0"/>
              <a:t>24.01.2022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6F89E-0603-4DDE-AF50-0CBC2DCB37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6517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98EDE-99C0-458B-82F9-AAF47343B0E8}" type="datetimeFigureOut">
              <a:rPr lang="ru-RU" smtClean="0"/>
              <a:t>24.01.2022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6F89E-0603-4DDE-AF50-0CBC2DCB37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2388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98EDE-99C0-458B-82F9-AAF47343B0E8}" type="datetimeFigureOut">
              <a:rPr lang="ru-RU" smtClean="0"/>
              <a:t>24.01.2022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6F89E-0603-4DDE-AF50-0CBC2DCB37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6318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98EDE-99C0-458B-82F9-AAF47343B0E8}" type="datetimeFigureOut">
              <a:rPr lang="ru-RU" smtClean="0"/>
              <a:t>24.01.2022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6F89E-0603-4DDE-AF50-0CBC2DCB37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9470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98EDE-99C0-458B-82F9-AAF47343B0E8}" type="datetimeFigureOut">
              <a:rPr lang="ru-RU" smtClean="0"/>
              <a:t>24.01.2022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6F89E-0603-4DDE-AF50-0CBC2DCB37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7680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98EDE-99C0-458B-82F9-AAF47343B0E8}" type="datetimeFigureOut">
              <a:rPr lang="ru-RU" smtClean="0"/>
              <a:t>24.01.2022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6F89E-0603-4DDE-AF50-0CBC2DCB37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05842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98EDE-99C0-458B-82F9-AAF47343B0E8}" type="datetimeFigureOut">
              <a:rPr lang="ru-RU" smtClean="0"/>
              <a:t>24.01.2022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6F89E-0603-4DDE-AF50-0CBC2DCB37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3959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98EDE-99C0-458B-82F9-AAF47343B0E8}" type="datetimeFigureOut">
              <a:rPr lang="ru-RU" smtClean="0"/>
              <a:t>24.01.2022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6F89E-0603-4DDE-AF50-0CBC2DCB37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4088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98EDE-99C0-458B-82F9-AAF47343B0E8}" type="datetimeFigureOut">
              <a:rPr lang="ru-RU" smtClean="0"/>
              <a:t>24.01.2022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6F89E-0603-4DDE-AF50-0CBC2DCB37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8998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98EDE-99C0-458B-82F9-AAF47343B0E8}" type="datetimeFigureOut">
              <a:rPr lang="ru-RU" smtClean="0"/>
              <a:t>24.01.2022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6F89E-0603-4DDE-AF50-0CBC2DCB37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7633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298EDE-99C0-458B-82F9-AAF47343B0E8}" type="datetimeFigureOut">
              <a:rPr lang="ru-RU" smtClean="0"/>
              <a:t>24.01.2022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86F89E-0603-4DDE-AF50-0CBC2DCB37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040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4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bitbucket.org/product" TargetMode="External"/><Relationship Id="rId4" Type="http://schemas.openxmlformats.org/officeDocument/2006/relationships/hyperlink" Target="https://about.gitlab.com/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1046639"/>
            <a:ext cx="9144000" cy="433364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71700" y="188640"/>
            <a:ext cx="5400600" cy="707886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noFill/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pPr algn="ctr"/>
            <a:r>
              <a:rPr lang="uk-UA" sz="4000" dirty="0" err="1"/>
              <a:t>занятие</a:t>
            </a:r>
            <a:r>
              <a:rPr lang="uk-UA" sz="4000" dirty="0"/>
              <a:t> </a:t>
            </a:r>
            <a:r>
              <a:rPr lang="en-US" sz="4000" dirty="0"/>
              <a:t>2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694396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2051720" y="116632"/>
            <a:ext cx="4943082" cy="369332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dirty="0">
                <a:solidFill>
                  <a:srgbClr val="002060"/>
                </a:solidFill>
              </a:rPr>
              <a:t>Как писать сообщения для </a:t>
            </a:r>
            <a:r>
              <a:rPr lang="en-US" dirty="0">
                <a:solidFill>
                  <a:srgbClr val="002060"/>
                </a:solidFill>
              </a:rPr>
              <a:t>commit</a:t>
            </a:r>
            <a:r>
              <a:rPr lang="ru-RU" dirty="0">
                <a:solidFill>
                  <a:srgbClr val="002060"/>
                </a:solidFill>
              </a:rPr>
              <a:t>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6" y="564102"/>
            <a:ext cx="8975530" cy="2585323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dirty="0"/>
              <a:t>- </a:t>
            </a:r>
            <a:r>
              <a:rPr lang="ru-RU" dirty="0"/>
              <a:t>использовать в первой строке для общего описания </a:t>
            </a:r>
            <a:r>
              <a:rPr lang="ru-RU" dirty="0" err="1"/>
              <a:t>коммита</a:t>
            </a:r>
            <a:r>
              <a:rPr lang="ru-RU" dirty="0"/>
              <a:t> не   </a:t>
            </a:r>
          </a:p>
          <a:p>
            <a:r>
              <a:rPr lang="ru-RU" dirty="0"/>
              <a:t>  более 50 символов, затем пустая строка, и более подробное </a:t>
            </a:r>
          </a:p>
          <a:p>
            <a:r>
              <a:rPr lang="ru-RU" dirty="0"/>
              <a:t>  описание не более 70 символов в строке</a:t>
            </a:r>
          </a:p>
          <a:p>
            <a:r>
              <a:rPr lang="ru-RU" dirty="0"/>
              <a:t>- сообщения писать в настоящем времени</a:t>
            </a:r>
          </a:p>
          <a:p>
            <a:r>
              <a:rPr lang="ru-RU" dirty="0"/>
              <a:t>- можно перед сообщением указывать номер бага, типы файлов в </a:t>
            </a:r>
          </a:p>
          <a:p>
            <a:r>
              <a:rPr lang="ru-RU" dirty="0"/>
              <a:t>  квадратных скобках которые изменялись. Например</a:t>
            </a:r>
          </a:p>
          <a:p>
            <a:r>
              <a:rPr lang="ru-RU" dirty="0"/>
              <a:t>   </a:t>
            </a:r>
            <a:r>
              <a:rPr lang="en-US" dirty="0">
                <a:solidFill>
                  <a:srgbClr val="002060"/>
                </a:solidFill>
              </a:rPr>
              <a:t>[</a:t>
            </a:r>
            <a:r>
              <a:rPr lang="en-US" dirty="0" err="1">
                <a:solidFill>
                  <a:srgbClr val="002060"/>
                </a:solidFill>
              </a:rPr>
              <a:t>js,css</a:t>
            </a:r>
            <a:r>
              <a:rPr lang="en-US" dirty="0">
                <a:solidFill>
                  <a:srgbClr val="002060"/>
                </a:solidFill>
              </a:rPr>
              <a:t>]: ...</a:t>
            </a:r>
          </a:p>
          <a:p>
            <a:r>
              <a:rPr lang="en-US" dirty="0">
                <a:solidFill>
                  <a:srgbClr val="002060"/>
                </a:solidFill>
              </a:rPr>
              <a:t>    </a:t>
            </a:r>
            <a:r>
              <a:rPr lang="en-US" dirty="0" err="1">
                <a:solidFill>
                  <a:srgbClr val="002060"/>
                </a:solidFill>
              </a:rPr>
              <a:t>bugfix</a:t>
            </a:r>
            <a:r>
              <a:rPr lang="en-US" dirty="0">
                <a:solidFill>
                  <a:srgbClr val="002060"/>
                </a:solidFill>
              </a:rPr>
              <a:t>: ...</a:t>
            </a:r>
            <a:endParaRPr lang="ru-RU" dirty="0">
              <a:solidFill>
                <a:srgbClr val="002060"/>
              </a:solidFill>
            </a:endParaRPr>
          </a:p>
          <a:p>
            <a:r>
              <a:rPr lang="ru-RU" dirty="0">
                <a:solidFill>
                  <a:srgbClr val="002060"/>
                </a:solidFill>
              </a:rPr>
              <a:t>    </a:t>
            </a:r>
            <a:r>
              <a:rPr lang="en-US" dirty="0">
                <a:solidFill>
                  <a:srgbClr val="002060"/>
                </a:solidFill>
              </a:rPr>
              <a:t>#20130810: ...</a:t>
            </a:r>
            <a:endParaRPr lang="ru-RU" dirty="0">
              <a:solidFill>
                <a:srgbClr val="00206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2067" y="3356992"/>
            <a:ext cx="8975530" cy="1200329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i="1" dirty="0"/>
              <a:t>Плохое описание</a:t>
            </a:r>
          </a:p>
          <a:p>
            <a:r>
              <a:rPr lang="ru-RU" dirty="0">
                <a:solidFill>
                  <a:srgbClr val="002060"/>
                </a:solidFill>
              </a:rPr>
              <a:t>  "исправить опечатку" </a:t>
            </a:r>
          </a:p>
          <a:p>
            <a:r>
              <a:rPr lang="ru-RU" i="1" dirty="0"/>
              <a:t>Правильно бы было так</a:t>
            </a:r>
          </a:p>
          <a:p>
            <a:r>
              <a:rPr lang="ru-RU" dirty="0">
                <a:solidFill>
                  <a:srgbClr val="002060"/>
                </a:solidFill>
              </a:rPr>
              <a:t> </a:t>
            </a:r>
            <a:r>
              <a:rPr lang="en-US" dirty="0">
                <a:solidFill>
                  <a:srgbClr val="002060"/>
                </a:solidFill>
              </a:rPr>
              <a:t>  </a:t>
            </a:r>
            <a:r>
              <a:rPr lang="ru-RU" dirty="0">
                <a:solidFill>
                  <a:srgbClr val="002060"/>
                </a:solidFill>
              </a:rPr>
              <a:t>"</a:t>
            </a:r>
            <a:r>
              <a:rPr lang="en-US" dirty="0">
                <a:solidFill>
                  <a:srgbClr val="002060"/>
                </a:solidFill>
              </a:rPr>
              <a:t>[#3443]: </a:t>
            </a:r>
            <a:r>
              <a:rPr lang="ru-RU" dirty="0">
                <a:solidFill>
                  <a:srgbClr val="002060"/>
                </a:solidFill>
              </a:rPr>
              <a:t>добавить закрывающий </a:t>
            </a:r>
            <a:r>
              <a:rPr lang="en-US" dirty="0">
                <a:solidFill>
                  <a:srgbClr val="002060"/>
                </a:solidFill>
              </a:rPr>
              <a:t>&gt;</a:t>
            </a:r>
            <a:r>
              <a:rPr lang="ru-RU" dirty="0">
                <a:solidFill>
                  <a:srgbClr val="002060"/>
                </a:solidFill>
              </a:rPr>
              <a:t> тег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ru-RU" dirty="0">
                <a:solidFill>
                  <a:srgbClr val="002060"/>
                </a:solidFill>
              </a:rPr>
              <a:t>в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ru-RU" dirty="0">
                <a:solidFill>
                  <a:srgbClr val="002060"/>
                </a:solidFill>
              </a:rPr>
              <a:t>разделе </a:t>
            </a:r>
            <a:r>
              <a:rPr lang="en-US" dirty="0">
                <a:solidFill>
                  <a:srgbClr val="002060"/>
                </a:solidFill>
              </a:rPr>
              <a:t>HTML</a:t>
            </a:r>
            <a:r>
              <a:rPr lang="ru-RU" dirty="0">
                <a:solidFill>
                  <a:srgbClr val="002060"/>
                </a:solidFill>
              </a:rPr>
              <a:t>"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35496" y="4653136"/>
            <a:ext cx="8975530" cy="1477328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i="1" dirty="0"/>
              <a:t>Плохое описание</a:t>
            </a:r>
          </a:p>
          <a:p>
            <a:r>
              <a:rPr lang="ru-RU" dirty="0">
                <a:solidFill>
                  <a:srgbClr val="002060"/>
                </a:solidFill>
              </a:rPr>
              <a:t>  "обновить код логина" </a:t>
            </a:r>
          </a:p>
          <a:p>
            <a:r>
              <a:rPr lang="ru-RU" i="1" dirty="0"/>
              <a:t>Правильно бы было так</a:t>
            </a:r>
          </a:p>
          <a:p>
            <a:r>
              <a:rPr lang="ru-RU" dirty="0">
                <a:solidFill>
                  <a:srgbClr val="002060"/>
                </a:solidFill>
              </a:rPr>
              <a:t> </a:t>
            </a:r>
            <a:r>
              <a:rPr lang="en-US" dirty="0">
                <a:solidFill>
                  <a:srgbClr val="002060"/>
                </a:solidFill>
              </a:rPr>
              <a:t>  </a:t>
            </a:r>
            <a:r>
              <a:rPr lang="ru-RU" dirty="0">
                <a:solidFill>
                  <a:srgbClr val="002060"/>
                </a:solidFill>
              </a:rPr>
              <a:t>"</a:t>
            </a:r>
            <a:r>
              <a:rPr lang="en-US" dirty="0">
                <a:solidFill>
                  <a:srgbClr val="002060"/>
                </a:solidFill>
              </a:rPr>
              <a:t>[#3443]: </a:t>
            </a:r>
            <a:r>
              <a:rPr lang="ru-RU" dirty="0">
                <a:solidFill>
                  <a:srgbClr val="002060"/>
                </a:solidFill>
              </a:rPr>
              <a:t>изменить пользовательскую аутентификацию  с </a:t>
            </a:r>
          </a:p>
          <a:p>
            <a:r>
              <a:rPr lang="ru-RU" dirty="0">
                <a:solidFill>
                  <a:srgbClr val="002060"/>
                </a:solidFill>
              </a:rPr>
              <a:t>       использованием существующих ролей системы"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084790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6995" y="116632"/>
            <a:ext cx="8975530" cy="3139321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i="1" dirty="0"/>
              <a:t>Правильно бы было так</a:t>
            </a:r>
          </a:p>
          <a:p>
            <a:r>
              <a:rPr lang="ru-RU" dirty="0">
                <a:solidFill>
                  <a:srgbClr val="002060"/>
                </a:solidFill>
              </a:rPr>
              <a:t> </a:t>
            </a:r>
            <a:r>
              <a:rPr lang="en-US" dirty="0">
                <a:solidFill>
                  <a:srgbClr val="002060"/>
                </a:solidFill>
              </a:rPr>
              <a:t>  </a:t>
            </a:r>
            <a:r>
              <a:rPr lang="ru-RU" dirty="0">
                <a:solidFill>
                  <a:srgbClr val="002060"/>
                </a:solidFill>
              </a:rPr>
              <a:t>"</a:t>
            </a:r>
            <a:r>
              <a:rPr lang="en-US" dirty="0">
                <a:solidFill>
                  <a:srgbClr val="002060"/>
                </a:solidFill>
              </a:rPr>
              <a:t>t</a:t>
            </a:r>
            <a:r>
              <a:rPr lang="ru-RU" dirty="0">
                <a:solidFill>
                  <a:srgbClr val="002060"/>
                </a:solidFill>
              </a:rPr>
              <a:t>54445</a:t>
            </a:r>
            <a:r>
              <a:rPr lang="en-US" dirty="0">
                <a:solidFill>
                  <a:srgbClr val="002060"/>
                </a:solidFill>
              </a:rPr>
              <a:t>: fixed bug in logout admin </a:t>
            </a:r>
          </a:p>
          <a:p>
            <a:r>
              <a:rPr lang="en-US" dirty="0">
                <a:solidFill>
                  <a:srgbClr val="002060"/>
                </a:solidFill>
              </a:rPr>
              <a:t>   </a:t>
            </a:r>
          </a:p>
          <a:p>
            <a:r>
              <a:rPr lang="en-US" dirty="0">
                <a:solidFill>
                  <a:srgbClr val="002060"/>
                </a:solidFill>
              </a:rPr>
              <a:t>    When an admin logged out of admin area, they could not log</a:t>
            </a:r>
          </a:p>
          <a:p>
            <a:r>
              <a:rPr lang="en-US" dirty="0">
                <a:solidFill>
                  <a:srgbClr val="002060"/>
                </a:solidFill>
              </a:rPr>
              <a:t>    in the members area because their session [:</a:t>
            </a:r>
            <a:r>
              <a:rPr lang="en-US" dirty="0" err="1">
                <a:solidFill>
                  <a:srgbClr val="002060"/>
                </a:solidFill>
              </a:rPr>
              <a:t>user_id</a:t>
            </a:r>
            <a:r>
              <a:rPr lang="en-US" dirty="0">
                <a:solidFill>
                  <a:srgbClr val="002060"/>
                </a:solidFill>
              </a:rPr>
              <a:t>] was </a:t>
            </a:r>
          </a:p>
          <a:p>
            <a:r>
              <a:rPr lang="en-US" dirty="0">
                <a:solidFill>
                  <a:srgbClr val="002060"/>
                </a:solidFill>
              </a:rPr>
              <a:t>    still set to the admin ID. This patch fixes the bug by </a:t>
            </a:r>
          </a:p>
          <a:p>
            <a:r>
              <a:rPr lang="en-US" dirty="0">
                <a:solidFill>
                  <a:srgbClr val="002060"/>
                </a:solidFill>
              </a:rPr>
              <a:t>    setting session[:</a:t>
            </a:r>
            <a:r>
              <a:rPr lang="en-US" dirty="0" err="1">
                <a:solidFill>
                  <a:srgbClr val="002060"/>
                </a:solidFill>
              </a:rPr>
              <a:t>user_id</a:t>
            </a:r>
            <a:r>
              <a:rPr lang="en-US" dirty="0">
                <a:solidFill>
                  <a:srgbClr val="002060"/>
                </a:solidFill>
              </a:rPr>
              <a:t>] to null when any users logs out of   </a:t>
            </a:r>
          </a:p>
          <a:p>
            <a:r>
              <a:rPr lang="en-US" dirty="0">
                <a:solidFill>
                  <a:srgbClr val="002060"/>
                </a:solidFill>
              </a:rPr>
              <a:t>    any area</a:t>
            </a:r>
            <a:r>
              <a:rPr lang="ru-RU" dirty="0">
                <a:solidFill>
                  <a:srgbClr val="002060"/>
                </a:solidFill>
              </a:rPr>
              <a:t>“</a:t>
            </a:r>
            <a:endParaRPr lang="en-US" dirty="0">
              <a:solidFill>
                <a:srgbClr val="002060"/>
              </a:solidFill>
            </a:endParaRPr>
          </a:p>
          <a:p>
            <a:endParaRPr lang="ru-RU" dirty="0">
              <a:solidFill>
                <a:srgbClr val="002060"/>
              </a:solidFill>
            </a:endParaRPr>
          </a:p>
          <a:p>
            <a:endParaRPr lang="en-US" dirty="0">
              <a:solidFill>
                <a:srgbClr val="002060"/>
              </a:solidFill>
            </a:endParaRPr>
          </a:p>
          <a:p>
            <a:r>
              <a:rPr lang="ru-RU" dirty="0">
                <a:solidFill>
                  <a:schemeClr val="tx2"/>
                </a:solidFill>
              </a:rPr>
              <a:t>То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ru-RU" dirty="0">
                <a:solidFill>
                  <a:schemeClr val="tx2"/>
                </a:solidFill>
              </a:rPr>
              <a:t>есть описано </a:t>
            </a:r>
            <a:r>
              <a:rPr lang="ru-RU" dirty="0">
                <a:solidFill>
                  <a:schemeClr val="accent2"/>
                </a:solidFill>
              </a:rPr>
              <a:t>в чем заключалась проблема </a:t>
            </a:r>
            <a:r>
              <a:rPr lang="ru-RU" dirty="0">
                <a:solidFill>
                  <a:schemeClr val="tx2"/>
                </a:solidFill>
              </a:rPr>
              <a:t>и </a:t>
            </a:r>
            <a:r>
              <a:rPr lang="ru-RU" dirty="0">
                <a:solidFill>
                  <a:schemeClr val="accent2"/>
                </a:solidFill>
              </a:rPr>
              <a:t>какое было решение</a:t>
            </a:r>
          </a:p>
        </p:txBody>
      </p:sp>
    </p:spTree>
    <p:extLst>
      <p:ext uri="{BB962C8B-B14F-4D97-AF65-F5344CB8AC3E}">
        <p14:creationId xmlns:p14="http://schemas.microsoft.com/office/powerpoint/2010/main" val="38052556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979712" y="88100"/>
            <a:ext cx="5268563" cy="369332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pPr algn="ctr"/>
            <a:r>
              <a:rPr lang="ru-RU" dirty="0">
                <a:solidFill>
                  <a:srgbClr val="002060"/>
                </a:solidFill>
              </a:rPr>
              <a:t>Выборочный просмотр логов </a:t>
            </a:r>
            <a:r>
              <a:rPr lang="en-US" dirty="0">
                <a:solidFill>
                  <a:srgbClr val="002060"/>
                </a:solidFill>
              </a:rPr>
              <a:t>commits</a:t>
            </a:r>
            <a:endParaRPr lang="ru-RU" dirty="0">
              <a:solidFill>
                <a:srgbClr val="00206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966" y="527769"/>
            <a:ext cx="8975530" cy="3970318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dirty="0"/>
              <a:t>У команды</a:t>
            </a:r>
            <a:r>
              <a:rPr lang="ru-RU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git</a:t>
            </a:r>
            <a:r>
              <a:rPr lang="en-US" dirty="0">
                <a:solidFill>
                  <a:schemeClr val="accent2"/>
                </a:solidFill>
              </a:rPr>
              <a:t> log</a:t>
            </a:r>
            <a:r>
              <a:rPr lang="en-US" dirty="0"/>
              <a:t> </a:t>
            </a:r>
            <a:r>
              <a:rPr lang="ru-RU" dirty="0"/>
              <a:t>есть дополнительные опции, их можно посмотреть набрав</a:t>
            </a:r>
            <a:r>
              <a:rPr lang="en-US" dirty="0"/>
              <a:t> </a:t>
            </a:r>
            <a:r>
              <a:rPr lang="ru-RU" dirty="0"/>
              <a:t>команду </a:t>
            </a:r>
            <a:r>
              <a:rPr lang="en-US" dirty="0">
                <a:solidFill>
                  <a:schemeClr val="accent2"/>
                </a:solidFill>
              </a:rPr>
              <a:t>git help log</a:t>
            </a:r>
          </a:p>
          <a:p>
            <a:endParaRPr lang="en-US" dirty="0">
              <a:solidFill>
                <a:schemeClr val="accent2"/>
              </a:solidFill>
            </a:endParaRPr>
          </a:p>
          <a:p>
            <a:r>
              <a:rPr lang="ru-RU" dirty="0">
                <a:solidFill>
                  <a:srgbClr val="002060"/>
                </a:solidFill>
              </a:rPr>
              <a:t>Примеры</a:t>
            </a:r>
            <a:endParaRPr lang="en-US" dirty="0">
              <a:solidFill>
                <a:srgbClr val="002060"/>
              </a:solidFill>
            </a:endParaRPr>
          </a:p>
          <a:p>
            <a:r>
              <a:rPr lang="en-US" dirty="0" err="1">
                <a:solidFill>
                  <a:schemeClr val="accent2"/>
                </a:solidFill>
              </a:rPr>
              <a:t>git</a:t>
            </a:r>
            <a:r>
              <a:rPr lang="en-US" dirty="0">
                <a:solidFill>
                  <a:schemeClr val="accent2"/>
                </a:solidFill>
              </a:rPr>
              <a:t> log –n 4</a:t>
            </a:r>
            <a:r>
              <a:rPr lang="en-US" dirty="0"/>
              <a:t>    -&gt; </a:t>
            </a:r>
            <a:r>
              <a:rPr lang="ru-RU" dirty="0"/>
              <a:t>показать 4 </a:t>
            </a:r>
            <a:r>
              <a:rPr lang="ru-RU" dirty="0" err="1"/>
              <a:t>коммита</a:t>
            </a:r>
            <a:endParaRPr lang="en-US" dirty="0"/>
          </a:p>
          <a:p>
            <a:endParaRPr lang="en-US" dirty="0">
              <a:solidFill>
                <a:schemeClr val="accent2"/>
              </a:solidFill>
            </a:endParaRPr>
          </a:p>
          <a:p>
            <a:r>
              <a:rPr lang="en-US" dirty="0">
                <a:solidFill>
                  <a:schemeClr val="accent2"/>
                </a:solidFill>
              </a:rPr>
              <a:t>git log </a:t>
            </a:r>
            <a:r>
              <a:rPr lang="ru-RU" dirty="0">
                <a:solidFill>
                  <a:schemeClr val="accent2"/>
                </a:solidFill>
              </a:rPr>
              <a:t>--</a:t>
            </a:r>
            <a:r>
              <a:rPr lang="en-US" dirty="0">
                <a:solidFill>
                  <a:schemeClr val="accent2"/>
                </a:solidFill>
              </a:rPr>
              <a:t>since=2014-08-08 </a:t>
            </a:r>
            <a:r>
              <a:rPr lang="en-US" dirty="0"/>
              <a:t>-&gt; </a:t>
            </a:r>
            <a:r>
              <a:rPr lang="ru-RU" dirty="0"/>
              <a:t>показать </a:t>
            </a:r>
            <a:r>
              <a:rPr lang="ru-RU" dirty="0" err="1"/>
              <a:t>коммиты</a:t>
            </a:r>
            <a:r>
              <a:rPr lang="ru-RU" dirty="0"/>
              <a:t> начиная с этой </a:t>
            </a:r>
          </a:p>
          <a:p>
            <a:r>
              <a:rPr lang="ru-RU" dirty="0"/>
              <a:t>                             даты</a:t>
            </a:r>
          </a:p>
          <a:p>
            <a:r>
              <a:rPr lang="en-US" dirty="0" err="1">
                <a:solidFill>
                  <a:schemeClr val="accent2"/>
                </a:solidFill>
              </a:rPr>
              <a:t>git</a:t>
            </a:r>
            <a:r>
              <a:rPr lang="en-US" dirty="0">
                <a:solidFill>
                  <a:schemeClr val="accent2"/>
                </a:solidFill>
              </a:rPr>
              <a:t> log </a:t>
            </a:r>
            <a:r>
              <a:rPr lang="ru-RU" dirty="0">
                <a:solidFill>
                  <a:schemeClr val="accent2"/>
                </a:solidFill>
              </a:rPr>
              <a:t>--</a:t>
            </a:r>
            <a:r>
              <a:rPr lang="en-US" dirty="0">
                <a:solidFill>
                  <a:schemeClr val="accent2"/>
                </a:solidFill>
              </a:rPr>
              <a:t>until=2014-08-08 </a:t>
            </a:r>
            <a:r>
              <a:rPr lang="en-US" dirty="0"/>
              <a:t>-&gt; </a:t>
            </a:r>
            <a:r>
              <a:rPr lang="ru-RU" dirty="0"/>
              <a:t>показать </a:t>
            </a:r>
            <a:r>
              <a:rPr lang="ru-RU" dirty="0" err="1"/>
              <a:t>коммиты</a:t>
            </a:r>
            <a:r>
              <a:rPr lang="ru-RU" dirty="0"/>
              <a:t> до этой даты</a:t>
            </a:r>
          </a:p>
          <a:p>
            <a:endParaRPr lang="ru-RU" dirty="0">
              <a:solidFill>
                <a:schemeClr val="accent2"/>
              </a:solidFill>
            </a:endParaRPr>
          </a:p>
          <a:p>
            <a:r>
              <a:rPr lang="en-US" dirty="0" err="1">
                <a:solidFill>
                  <a:schemeClr val="accent2"/>
                </a:solidFill>
              </a:rPr>
              <a:t>git</a:t>
            </a:r>
            <a:r>
              <a:rPr lang="en-US" dirty="0">
                <a:solidFill>
                  <a:schemeClr val="accent2"/>
                </a:solidFill>
              </a:rPr>
              <a:t> log </a:t>
            </a:r>
            <a:r>
              <a:rPr lang="ru-RU" dirty="0">
                <a:solidFill>
                  <a:schemeClr val="accent2"/>
                </a:solidFill>
              </a:rPr>
              <a:t>--</a:t>
            </a:r>
            <a:r>
              <a:rPr lang="en-US" dirty="0">
                <a:solidFill>
                  <a:schemeClr val="accent2"/>
                </a:solidFill>
              </a:rPr>
              <a:t>author=sweet-</a:t>
            </a:r>
            <a:r>
              <a:rPr lang="en-US" dirty="0" err="1">
                <a:solidFill>
                  <a:schemeClr val="accent2"/>
                </a:solidFill>
              </a:rPr>
              <a:t>ochek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/>
              <a:t>-&gt; </a:t>
            </a:r>
            <a:r>
              <a:rPr lang="ru-RU" dirty="0"/>
              <a:t>показать </a:t>
            </a:r>
            <a:r>
              <a:rPr lang="ru-RU" dirty="0" err="1"/>
              <a:t>коммиты</a:t>
            </a:r>
            <a:r>
              <a:rPr lang="ru-RU" dirty="0"/>
              <a:t> автора </a:t>
            </a:r>
          </a:p>
          <a:p>
            <a:endParaRPr lang="ru-RU" dirty="0"/>
          </a:p>
          <a:p>
            <a:r>
              <a:rPr lang="en-US" dirty="0" err="1">
                <a:solidFill>
                  <a:schemeClr val="accent2"/>
                </a:solidFill>
              </a:rPr>
              <a:t>git</a:t>
            </a:r>
            <a:r>
              <a:rPr lang="en-US" dirty="0">
                <a:solidFill>
                  <a:schemeClr val="accent2"/>
                </a:solidFill>
              </a:rPr>
              <a:t> log </a:t>
            </a:r>
            <a:r>
              <a:rPr lang="ru-RU" dirty="0">
                <a:solidFill>
                  <a:schemeClr val="accent2"/>
                </a:solidFill>
              </a:rPr>
              <a:t> --</a:t>
            </a:r>
            <a:r>
              <a:rPr lang="en-US" dirty="0" err="1">
                <a:solidFill>
                  <a:schemeClr val="accent2"/>
                </a:solidFill>
              </a:rPr>
              <a:t>grep</a:t>
            </a:r>
            <a:r>
              <a:rPr lang="en-US" dirty="0">
                <a:solidFill>
                  <a:schemeClr val="accent2"/>
                </a:solidFill>
              </a:rPr>
              <a:t>="</a:t>
            </a:r>
            <a:r>
              <a:rPr lang="en-US" dirty="0" err="1">
                <a:solidFill>
                  <a:schemeClr val="accent2"/>
                </a:solidFill>
              </a:rPr>
              <a:t>init</a:t>
            </a:r>
            <a:r>
              <a:rPr lang="en-US" dirty="0">
                <a:solidFill>
                  <a:schemeClr val="accent2"/>
                </a:solidFill>
              </a:rPr>
              <a:t>" </a:t>
            </a:r>
            <a:r>
              <a:rPr lang="en-US" dirty="0"/>
              <a:t>-&gt;  </a:t>
            </a:r>
            <a:r>
              <a:rPr lang="ru-RU" dirty="0"/>
              <a:t>поиск </a:t>
            </a:r>
            <a:r>
              <a:rPr lang="ru-RU" dirty="0" err="1"/>
              <a:t>коммиты</a:t>
            </a:r>
            <a:r>
              <a:rPr lang="ru-RU" dirty="0"/>
              <a:t> по регулярному </a:t>
            </a:r>
          </a:p>
          <a:p>
            <a:r>
              <a:rPr lang="ru-RU" dirty="0"/>
              <a:t>                           выражению</a:t>
            </a:r>
          </a:p>
        </p:txBody>
      </p:sp>
    </p:spTree>
    <p:extLst>
      <p:ext uri="{BB962C8B-B14F-4D97-AF65-F5344CB8AC3E}">
        <p14:creationId xmlns:p14="http://schemas.microsoft.com/office/powerpoint/2010/main" val="42794360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2843808" y="35332"/>
            <a:ext cx="3414391" cy="369332"/>
          </a:xfrm>
          <a:prstGeom prst="rect">
            <a:avLst/>
          </a:prstGeom>
          <a:solidFill>
            <a:schemeClr val="bg1">
              <a:lumMod val="75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uk-UA" dirty="0" err="1">
                <a:solidFill>
                  <a:schemeClr val="accent2"/>
                </a:solidFill>
              </a:rPr>
              <a:t>Лабараторная</a:t>
            </a:r>
            <a:r>
              <a:rPr lang="uk-UA" dirty="0">
                <a:solidFill>
                  <a:schemeClr val="accent2"/>
                </a:solidFill>
              </a:rPr>
              <a:t> </a:t>
            </a:r>
            <a:r>
              <a:rPr lang="uk-UA" dirty="0" err="1">
                <a:solidFill>
                  <a:schemeClr val="accent2"/>
                </a:solidFill>
              </a:rPr>
              <a:t>работа</a:t>
            </a:r>
            <a:r>
              <a:rPr lang="uk-UA" dirty="0">
                <a:solidFill>
                  <a:schemeClr val="accent2"/>
                </a:solidFill>
              </a:rPr>
              <a:t> 1</a:t>
            </a:r>
            <a:endParaRPr lang="ru-RU" dirty="0">
              <a:solidFill>
                <a:schemeClr val="accent2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7504" y="1715539"/>
            <a:ext cx="39068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 err="1"/>
              <a:t>Эт</a:t>
            </a:r>
            <a:r>
              <a:rPr lang="uk-UA" b="1" dirty="0"/>
              <a:t>а </a:t>
            </a:r>
            <a:r>
              <a:rPr lang="uk-UA" b="1" dirty="0" err="1"/>
              <a:t>версия</a:t>
            </a:r>
            <a:r>
              <a:rPr lang="uk-UA" b="1" dirty="0"/>
              <a:t> </a:t>
            </a:r>
            <a:r>
              <a:rPr lang="ru-RU" b="1" dirty="0"/>
              <a:t>файла сохранена </a:t>
            </a:r>
          </a:p>
          <a:p>
            <a:r>
              <a:rPr lang="ru-RU" b="1" dirty="0"/>
              <a:t>в </a:t>
            </a:r>
            <a:r>
              <a:rPr lang="ru-RU" b="1" dirty="0" err="1"/>
              <a:t>репозитории</a:t>
            </a:r>
            <a:endParaRPr lang="ru-RU" b="1" dirty="0"/>
          </a:p>
        </p:txBody>
      </p:sp>
      <p:sp>
        <p:nvSpPr>
          <p:cNvPr id="8" name="TextBox 7"/>
          <p:cNvSpPr txBox="1"/>
          <p:nvPr/>
        </p:nvSpPr>
        <p:spPr>
          <a:xfrm>
            <a:off x="4160681" y="1659796"/>
            <a:ext cx="46724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Изменили файл и хотим узнать чем он отличается от версии в </a:t>
            </a:r>
            <a:r>
              <a:rPr lang="ru-RU" b="1" dirty="0" err="1"/>
              <a:t>репозитории</a:t>
            </a:r>
            <a:endParaRPr lang="ru-RU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06895" y="2450552"/>
            <a:ext cx="2664296" cy="461665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sz="2400" dirty="0">
                <a:solidFill>
                  <a:srgbClr val="C00000"/>
                </a:solidFill>
              </a:rPr>
              <a:t>$ </a:t>
            </a:r>
            <a:r>
              <a:rPr lang="en-US" sz="2400" dirty="0" err="1">
                <a:solidFill>
                  <a:srgbClr val="C00000"/>
                </a:solidFill>
              </a:rPr>
              <a:t>git</a:t>
            </a:r>
            <a:r>
              <a:rPr lang="en-US" sz="2400" dirty="0">
                <a:solidFill>
                  <a:srgbClr val="C00000"/>
                </a:solidFill>
              </a:rPr>
              <a:t> diff</a:t>
            </a:r>
            <a:endParaRPr lang="ru-RU" sz="2400" dirty="0">
              <a:solidFill>
                <a:srgbClr val="C00000"/>
              </a:solidFill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416179"/>
            <a:ext cx="3919338" cy="1287844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2978989"/>
            <a:ext cx="6840760" cy="3741676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8267" y="422906"/>
            <a:ext cx="4644876" cy="1300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6885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74847" y="828088"/>
            <a:ext cx="4824536" cy="3416320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dirty="0"/>
              <a:t>index 417caa1..5275135 100644</a:t>
            </a:r>
          </a:p>
          <a:p>
            <a:endParaRPr lang="en-US" dirty="0"/>
          </a:p>
          <a:p>
            <a:r>
              <a:rPr lang="en-US" dirty="0"/>
              <a:t>--- a/license.txt     </a:t>
            </a:r>
          </a:p>
          <a:p>
            <a:r>
              <a:rPr lang="en-US" dirty="0"/>
              <a:t>+++ b/license.txt</a:t>
            </a:r>
          </a:p>
          <a:p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@@ -1,3 +1,3 @@</a:t>
            </a:r>
          </a:p>
          <a:p>
            <a:endParaRPr lang="ru-RU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-</a:t>
            </a:r>
            <a:r>
              <a:rPr lang="en-US" dirty="0" err="1">
                <a:solidFill>
                  <a:srgbClr val="FF0000"/>
                </a:solidFill>
              </a:rPr>
              <a:t>Copyrihgt</a:t>
            </a:r>
            <a:r>
              <a:rPr lang="en-US" dirty="0">
                <a:solidFill>
                  <a:srgbClr val="FF0000"/>
                </a:solidFill>
              </a:rPr>
              <a:t> (c) 2016 Beetroot</a:t>
            </a:r>
          </a:p>
          <a:p>
            <a:r>
              <a:rPr lang="en-US" dirty="0">
                <a:solidFill>
                  <a:srgbClr val="00B050"/>
                </a:solidFill>
              </a:rPr>
              <a:t>+</a:t>
            </a:r>
            <a:r>
              <a:rPr lang="en-US" dirty="0" err="1">
                <a:solidFill>
                  <a:srgbClr val="00B050"/>
                </a:solidFill>
              </a:rPr>
              <a:t>Copyrihgt</a:t>
            </a:r>
            <a:r>
              <a:rPr lang="en-US" dirty="0">
                <a:solidFill>
                  <a:srgbClr val="00B050"/>
                </a:solidFill>
              </a:rPr>
              <a:t> (c) 2017 Beetroot</a:t>
            </a:r>
          </a:p>
          <a:p>
            <a:r>
              <a:rPr lang="ru-RU" dirty="0"/>
              <a:t> ...</a:t>
            </a:r>
          </a:p>
          <a:p>
            <a:r>
              <a:rPr lang="en-US" dirty="0"/>
              <a:t> text here</a:t>
            </a:r>
          </a:p>
          <a:p>
            <a:r>
              <a:rPr lang="en-US" dirty="0"/>
              <a:t>\ No newline at end of file</a:t>
            </a:r>
          </a:p>
          <a:p>
            <a:endParaRPr lang="ru-RU" dirty="0">
              <a:solidFill>
                <a:srgbClr val="002060"/>
              </a:solidFill>
            </a:endParaRPr>
          </a:p>
        </p:txBody>
      </p:sp>
      <p:grpSp>
        <p:nvGrpSpPr>
          <p:cNvPr id="31" name="Группа 30"/>
          <p:cNvGrpSpPr/>
          <p:nvPr/>
        </p:nvGrpSpPr>
        <p:grpSpPr>
          <a:xfrm>
            <a:off x="4499990" y="83957"/>
            <a:ext cx="4522313" cy="1616851"/>
            <a:chOff x="4499990" y="83957"/>
            <a:chExt cx="4522313" cy="1616851"/>
          </a:xfrm>
        </p:grpSpPr>
        <p:sp>
          <p:nvSpPr>
            <p:cNvPr id="13" name="TextBox 12"/>
            <p:cNvSpPr txBox="1"/>
            <p:nvPr/>
          </p:nvSpPr>
          <p:spPr>
            <a:xfrm>
              <a:off x="5931228" y="83957"/>
              <a:ext cx="3091075" cy="369332"/>
            </a:xfrm>
            <a:prstGeom prst="rect">
              <a:avLst/>
            </a:prstGeom>
            <a:noFill/>
            <a:ln w="19050">
              <a:solidFill>
                <a:schemeClr val="accent3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ru-RU" b="1" dirty="0">
                  <a:solidFill>
                    <a:schemeClr val="accent2"/>
                  </a:solidFill>
                </a:rPr>
                <a:t>Это измененный файл</a:t>
              </a:r>
            </a:p>
          </p:txBody>
        </p:sp>
        <p:cxnSp>
          <p:nvCxnSpPr>
            <p:cNvPr id="14" name="Прямая со стрелкой 13"/>
            <p:cNvCxnSpPr/>
            <p:nvPr/>
          </p:nvCxnSpPr>
          <p:spPr>
            <a:xfrm flipH="1">
              <a:off x="4499990" y="469319"/>
              <a:ext cx="2976777" cy="12314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30" name="Группа 29"/>
          <p:cNvGrpSpPr/>
          <p:nvPr/>
        </p:nvGrpSpPr>
        <p:grpSpPr>
          <a:xfrm>
            <a:off x="107504" y="103233"/>
            <a:ext cx="4251318" cy="1381551"/>
            <a:chOff x="107504" y="103233"/>
            <a:chExt cx="4251318" cy="1381551"/>
          </a:xfrm>
        </p:grpSpPr>
        <p:cxnSp>
          <p:nvCxnSpPr>
            <p:cNvPr id="6" name="Прямая со стрелкой 5"/>
            <p:cNvCxnSpPr>
              <a:stCxn id="16" idx="2"/>
            </p:cNvCxnSpPr>
            <p:nvPr/>
          </p:nvCxnSpPr>
          <p:spPr>
            <a:xfrm>
              <a:off x="1653042" y="472565"/>
              <a:ext cx="2705780" cy="101221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107504" y="103233"/>
              <a:ext cx="3091075" cy="369332"/>
            </a:xfrm>
            <a:prstGeom prst="rect">
              <a:avLst/>
            </a:prstGeom>
            <a:noFill/>
            <a:ln w="19050">
              <a:solidFill>
                <a:schemeClr val="accent3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ru-RU" b="1" dirty="0">
                  <a:solidFill>
                    <a:schemeClr val="accent2"/>
                  </a:solidFill>
                </a:rPr>
                <a:t>Это сохраненный файл</a:t>
              </a:r>
            </a:p>
          </p:txBody>
        </p:sp>
      </p:grpSp>
      <p:grpSp>
        <p:nvGrpSpPr>
          <p:cNvPr id="38" name="Группа 37"/>
          <p:cNvGrpSpPr/>
          <p:nvPr/>
        </p:nvGrpSpPr>
        <p:grpSpPr>
          <a:xfrm>
            <a:off x="0" y="1235108"/>
            <a:ext cx="4716016" cy="923330"/>
            <a:chOff x="0" y="1235108"/>
            <a:chExt cx="4716016" cy="923330"/>
          </a:xfrm>
        </p:grpSpPr>
        <p:sp>
          <p:nvSpPr>
            <p:cNvPr id="22" name="TextBox 21"/>
            <p:cNvSpPr txBox="1"/>
            <p:nvPr/>
          </p:nvSpPr>
          <p:spPr>
            <a:xfrm>
              <a:off x="0" y="1235108"/>
              <a:ext cx="3491880" cy="923330"/>
            </a:xfrm>
            <a:prstGeom prst="rect">
              <a:avLst/>
            </a:prstGeom>
            <a:noFill/>
            <a:ln w="19050">
              <a:solidFill>
                <a:schemeClr val="accent3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ru-RU" b="1" dirty="0">
                  <a:solidFill>
                    <a:schemeClr val="accent2"/>
                  </a:solidFill>
                </a:rPr>
                <a:t>-1,3</a:t>
              </a:r>
              <a:r>
                <a:rPr lang="ru-RU" b="1" dirty="0">
                  <a:solidFill>
                    <a:schemeClr val="bg2">
                      <a:lumMod val="25000"/>
                    </a:schemeClr>
                  </a:solidFill>
                </a:rPr>
                <a:t> – какое количество строк </a:t>
              </a:r>
              <a:r>
                <a:rPr lang="ru-RU" b="1" dirty="0" err="1">
                  <a:solidFill>
                    <a:schemeClr val="accent2"/>
                  </a:solidFill>
                </a:rPr>
                <a:t>сохранненого</a:t>
              </a:r>
              <a:r>
                <a:rPr lang="ru-RU" b="1" dirty="0">
                  <a:solidFill>
                    <a:schemeClr val="accent2"/>
                  </a:solidFill>
                </a:rPr>
                <a:t> </a:t>
              </a:r>
              <a:r>
                <a:rPr lang="ru-RU" b="1" dirty="0">
                  <a:solidFill>
                    <a:schemeClr val="bg2">
                      <a:lumMod val="25000"/>
                    </a:schemeClr>
                  </a:solidFill>
                </a:rPr>
                <a:t>файла показано</a:t>
              </a:r>
            </a:p>
          </p:txBody>
        </p:sp>
        <p:cxnSp>
          <p:nvCxnSpPr>
            <p:cNvPr id="23" name="Прямая со стрелкой 22"/>
            <p:cNvCxnSpPr/>
            <p:nvPr/>
          </p:nvCxnSpPr>
          <p:spPr>
            <a:xfrm>
              <a:off x="3491880" y="1714015"/>
              <a:ext cx="1224136" cy="34683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39" name="Группа 38"/>
          <p:cNvGrpSpPr/>
          <p:nvPr/>
        </p:nvGrpSpPr>
        <p:grpSpPr>
          <a:xfrm>
            <a:off x="72008" y="2204864"/>
            <a:ext cx="5364088" cy="923330"/>
            <a:chOff x="0" y="1235108"/>
            <a:chExt cx="5364088" cy="923330"/>
          </a:xfrm>
        </p:grpSpPr>
        <p:sp>
          <p:nvSpPr>
            <p:cNvPr id="40" name="TextBox 39"/>
            <p:cNvSpPr txBox="1"/>
            <p:nvPr/>
          </p:nvSpPr>
          <p:spPr>
            <a:xfrm>
              <a:off x="0" y="1235108"/>
              <a:ext cx="3491880" cy="923330"/>
            </a:xfrm>
            <a:prstGeom prst="rect">
              <a:avLst/>
            </a:prstGeom>
            <a:noFill/>
            <a:ln w="19050">
              <a:solidFill>
                <a:schemeClr val="accent3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ru-RU" b="1" dirty="0">
                  <a:solidFill>
                    <a:schemeClr val="accent2"/>
                  </a:solidFill>
                </a:rPr>
                <a:t>+1,3 </a:t>
              </a:r>
              <a:r>
                <a:rPr lang="ru-RU" b="1" dirty="0">
                  <a:solidFill>
                    <a:schemeClr val="bg2">
                      <a:lumMod val="25000"/>
                    </a:schemeClr>
                  </a:solidFill>
                </a:rPr>
                <a:t>– какое количество строк </a:t>
              </a:r>
              <a:r>
                <a:rPr lang="ru-RU" b="1" dirty="0">
                  <a:solidFill>
                    <a:schemeClr val="accent2"/>
                  </a:solidFill>
                </a:rPr>
                <a:t>измененного </a:t>
              </a:r>
              <a:r>
                <a:rPr lang="ru-RU" b="1" dirty="0">
                  <a:solidFill>
                    <a:schemeClr val="bg2">
                      <a:lumMod val="25000"/>
                    </a:schemeClr>
                  </a:solidFill>
                </a:rPr>
                <a:t>файла показано</a:t>
              </a:r>
            </a:p>
          </p:txBody>
        </p:sp>
        <p:cxnSp>
          <p:nvCxnSpPr>
            <p:cNvPr id="41" name="Прямая со стрелкой 40"/>
            <p:cNvCxnSpPr/>
            <p:nvPr/>
          </p:nvCxnSpPr>
          <p:spPr>
            <a:xfrm flipV="1">
              <a:off x="3491880" y="1320323"/>
              <a:ext cx="1872208" cy="3936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43" name="Группа 42"/>
          <p:cNvGrpSpPr/>
          <p:nvPr/>
        </p:nvGrpSpPr>
        <p:grpSpPr>
          <a:xfrm>
            <a:off x="47058" y="2683771"/>
            <a:ext cx="4311764" cy="1173124"/>
            <a:chOff x="11562" y="189073"/>
            <a:chExt cx="4311764" cy="1173124"/>
          </a:xfrm>
        </p:grpSpPr>
        <p:sp>
          <p:nvSpPr>
            <p:cNvPr id="44" name="TextBox 43"/>
            <p:cNvSpPr txBox="1"/>
            <p:nvPr/>
          </p:nvSpPr>
          <p:spPr>
            <a:xfrm>
              <a:off x="11562" y="992865"/>
              <a:ext cx="3491880" cy="369332"/>
            </a:xfrm>
            <a:prstGeom prst="rect">
              <a:avLst/>
            </a:prstGeom>
            <a:noFill/>
            <a:ln w="19050">
              <a:solidFill>
                <a:schemeClr val="accent3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ru-RU" b="1" dirty="0">
                  <a:solidFill>
                    <a:srgbClr val="004070"/>
                  </a:solidFill>
                </a:rPr>
                <a:t>Какие строки поменялись</a:t>
              </a:r>
            </a:p>
          </p:txBody>
        </p:sp>
        <p:cxnSp>
          <p:nvCxnSpPr>
            <p:cNvPr id="45" name="Прямая со стрелкой 44"/>
            <p:cNvCxnSpPr>
              <a:stCxn id="44" idx="3"/>
            </p:cNvCxnSpPr>
            <p:nvPr/>
          </p:nvCxnSpPr>
          <p:spPr>
            <a:xfrm flipV="1">
              <a:off x="3503442" y="189073"/>
              <a:ext cx="819884" cy="98845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48" name="Группа 47"/>
          <p:cNvGrpSpPr/>
          <p:nvPr/>
        </p:nvGrpSpPr>
        <p:grpSpPr>
          <a:xfrm>
            <a:off x="116220" y="3077464"/>
            <a:ext cx="4242602" cy="1729651"/>
            <a:chOff x="11562" y="-90455"/>
            <a:chExt cx="4242602" cy="1729651"/>
          </a:xfrm>
        </p:grpSpPr>
        <p:sp>
          <p:nvSpPr>
            <p:cNvPr id="49" name="TextBox 48"/>
            <p:cNvSpPr txBox="1"/>
            <p:nvPr/>
          </p:nvSpPr>
          <p:spPr>
            <a:xfrm>
              <a:off x="11562" y="992865"/>
              <a:ext cx="3491880" cy="646331"/>
            </a:xfrm>
            <a:prstGeom prst="rect">
              <a:avLst/>
            </a:prstGeom>
            <a:noFill/>
            <a:ln w="19050">
              <a:solidFill>
                <a:schemeClr val="accent3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ru-RU" b="1" dirty="0">
                  <a:solidFill>
                    <a:srgbClr val="004070"/>
                  </a:solidFill>
                </a:rPr>
                <a:t>На какой текст строки поменялись</a:t>
              </a:r>
            </a:p>
          </p:txBody>
        </p:sp>
        <p:cxnSp>
          <p:nvCxnSpPr>
            <p:cNvPr id="50" name="Прямая со стрелкой 49"/>
            <p:cNvCxnSpPr>
              <a:stCxn id="49" idx="3"/>
            </p:cNvCxnSpPr>
            <p:nvPr/>
          </p:nvCxnSpPr>
          <p:spPr>
            <a:xfrm flipV="1">
              <a:off x="3503442" y="-90455"/>
              <a:ext cx="750722" cy="140648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88768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7504" y="116632"/>
            <a:ext cx="8928992" cy="2031325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dirty="0">
                <a:solidFill>
                  <a:srgbClr val="002060"/>
                </a:solidFill>
              </a:rPr>
              <a:t>Добавим файл в </a:t>
            </a:r>
            <a:r>
              <a:rPr lang="en-US" dirty="0" err="1">
                <a:solidFill>
                  <a:srgbClr val="002060"/>
                </a:solidFill>
              </a:rPr>
              <a:t>StageArea</a:t>
            </a:r>
            <a:endParaRPr lang="ru-RU" dirty="0">
              <a:solidFill>
                <a:srgbClr val="002060"/>
              </a:solidFill>
            </a:endParaRPr>
          </a:p>
          <a:p>
            <a:r>
              <a:rPr lang="en-US" dirty="0">
                <a:solidFill>
                  <a:schemeClr val="accent2"/>
                </a:solidFill>
              </a:rPr>
              <a:t>$ </a:t>
            </a:r>
            <a:r>
              <a:rPr lang="en-US" dirty="0" err="1">
                <a:solidFill>
                  <a:schemeClr val="accent2"/>
                </a:solidFill>
              </a:rPr>
              <a:t>git</a:t>
            </a:r>
            <a:r>
              <a:rPr lang="en-US" dirty="0">
                <a:solidFill>
                  <a:schemeClr val="accent2"/>
                </a:solidFill>
              </a:rPr>
              <a:t> add .</a:t>
            </a:r>
          </a:p>
          <a:p>
            <a:endParaRPr lang="en-US" dirty="0">
              <a:solidFill>
                <a:schemeClr val="accent2"/>
              </a:solidFill>
            </a:endParaRPr>
          </a:p>
          <a:p>
            <a:r>
              <a:rPr lang="ru-RU" dirty="0">
                <a:solidFill>
                  <a:srgbClr val="002060"/>
                </a:solidFill>
              </a:rPr>
              <a:t>И выполним команду сравнения</a:t>
            </a:r>
          </a:p>
          <a:p>
            <a:r>
              <a:rPr lang="en-US" dirty="0">
                <a:solidFill>
                  <a:schemeClr val="accent2"/>
                </a:solidFill>
              </a:rPr>
              <a:t>$ </a:t>
            </a:r>
            <a:r>
              <a:rPr lang="en-US" dirty="0" err="1">
                <a:solidFill>
                  <a:schemeClr val="accent2"/>
                </a:solidFill>
              </a:rPr>
              <a:t>git</a:t>
            </a:r>
            <a:r>
              <a:rPr lang="en-US" dirty="0">
                <a:solidFill>
                  <a:schemeClr val="accent2"/>
                </a:solidFill>
              </a:rPr>
              <a:t> diff  </a:t>
            </a:r>
            <a:r>
              <a:rPr lang="en-US" dirty="0">
                <a:solidFill>
                  <a:srgbClr val="002060"/>
                </a:solidFill>
              </a:rPr>
              <a:t>-&gt; </a:t>
            </a:r>
            <a:r>
              <a:rPr lang="uk-UA" dirty="0" err="1">
                <a:solidFill>
                  <a:srgbClr val="002060"/>
                </a:solidFill>
              </a:rPr>
              <a:t>ничего</a:t>
            </a:r>
            <a:r>
              <a:rPr lang="uk-UA" dirty="0">
                <a:solidFill>
                  <a:srgbClr val="002060"/>
                </a:solidFill>
              </a:rPr>
              <a:t> не увидим, так </a:t>
            </a:r>
            <a:r>
              <a:rPr lang="uk-UA" dirty="0" err="1">
                <a:solidFill>
                  <a:srgbClr val="002060"/>
                </a:solidFill>
              </a:rPr>
              <a:t>как</a:t>
            </a:r>
            <a:r>
              <a:rPr lang="uk-UA" dirty="0">
                <a:solidFill>
                  <a:srgbClr val="002060"/>
                </a:solidFill>
              </a:rPr>
              <a:t> файл </a:t>
            </a:r>
            <a:r>
              <a:rPr lang="uk-UA" dirty="0" err="1">
                <a:solidFill>
                  <a:srgbClr val="002060"/>
                </a:solidFill>
              </a:rPr>
              <a:t>эта</a:t>
            </a:r>
            <a:r>
              <a:rPr lang="uk-UA" dirty="0">
                <a:solidFill>
                  <a:srgbClr val="002060"/>
                </a:solidFill>
              </a:rPr>
              <a:t> команда</a:t>
            </a:r>
          </a:p>
          <a:p>
            <a:r>
              <a:rPr lang="uk-UA" dirty="0">
                <a:solidFill>
                  <a:schemeClr val="accent2"/>
                </a:solidFill>
              </a:rPr>
              <a:t>               </a:t>
            </a:r>
            <a:r>
              <a:rPr lang="uk-UA" dirty="0" err="1">
                <a:solidFill>
                  <a:srgbClr val="004070"/>
                </a:solidFill>
              </a:rPr>
              <a:t>сравнивает</a:t>
            </a:r>
            <a:r>
              <a:rPr lang="uk-UA" dirty="0">
                <a:solidFill>
                  <a:srgbClr val="004070"/>
                </a:solidFill>
              </a:rPr>
              <a:t> </a:t>
            </a:r>
            <a:r>
              <a:rPr lang="uk-UA" dirty="0" err="1">
                <a:solidFill>
                  <a:srgbClr val="004070"/>
                </a:solidFill>
              </a:rPr>
              <a:t>файлы</a:t>
            </a:r>
            <a:r>
              <a:rPr lang="uk-UA" dirty="0">
                <a:solidFill>
                  <a:srgbClr val="004070"/>
                </a:solidFill>
              </a:rPr>
              <a:t> </a:t>
            </a:r>
            <a:r>
              <a:rPr lang="uk-UA" dirty="0" err="1">
                <a:solidFill>
                  <a:srgbClr val="004070"/>
                </a:solidFill>
              </a:rPr>
              <a:t>находящиеся</a:t>
            </a:r>
            <a:r>
              <a:rPr lang="uk-UA" dirty="0">
                <a:solidFill>
                  <a:srgbClr val="004070"/>
                </a:solidFill>
              </a:rPr>
              <a:t> в </a:t>
            </a:r>
            <a:r>
              <a:rPr lang="uk-UA" dirty="0" err="1">
                <a:solidFill>
                  <a:srgbClr val="004070"/>
                </a:solidFill>
              </a:rPr>
              <a:t>репозитории</a:t>
            </a:r>
            <a:endParaRPr lang="uk-UA" dirty="0">
              <a:solidFill>
                <a:srgbClr val="004070"/>
              </a:solidFill>
            </a:endParaRPr>
          </a:p>
          <a:p>
            <a:r>
              <a:rPr lang="uk-UA" dirty="0">
                <a:solidFill>
                  <a:srgbClr val="004070"/>
                </a:solidFill>
              </a:rPr>
              <a:t>               с файлами в  </a:t>
            </a:r>
            <a:r>
              <a:rPr lang="en-US" dirty="0" err="1">
                <a:solidFill>
                  <a:srgbClr val="004070"/>
                </a:solidFill>
              </a:rPr>
              <a:t>WorkArea</a:t>
            </a:r>
            <a:r>
              <a:rPr lang="uk-UA" dirty="0">
                <a:solidFill>
                  <a:srgbClr val="004070"/>
                </a:solidFill>
              </a:rPr>
              <a:t> </a:t>
            </a:r>
            <a:endParaRPr lang="ru-RU" dirty="0">
              <a:solidFill>
                <a:srgbClr val="00407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504" y="2261771"/>
            <a:ext cx="8928992" cy="1477328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uk-UA" dirty="0" err="1">
                <a:solidFill>
                  <a:srgbClr val="004070"/>
                </a:solidFill>
              </a:rPr>
              <a:t>Чтоб</a:t>
            </a:r>
            <a:r>
              <a:rPr lang="ru-RU" dirty="0">
                <a:solidFill>
                  <a:srgbClr val="004070"/>
                </a:solidFill>
              </a:rPr>
              <a:t>ы</a:t>
            </a:r>
            <a:r>
              <a:rPr lang="uk-UA" dirty="0">
                <a:solidFill>
                  <a:srgbClr val="004070"/>
                </a:solidFill>
              </a:rPr>
              <a:t> </a:t>
            </a:r>
            <a:r>
              <a:rPr lang="uk-UA" dirty="0" err="1">
                <a:solidFill>
                  <a:srgbClr val="004070"/>
                </a:solidFill>
              </a:rPr>
              <a:t>сравнить</a:t>
            </a:r>
            <a:r>
              <a:rPr lang="uk-UA" dirty="0">
                <a:solidFill>
                  <a:srgbClr val="004070"/>
                </a:solidFill>
              </a:rPr>
              <a:t> </a:t>
            </a:r>
            <a:r>
              <a:rPr lang="uk-UA" dirty="0" err="1">
                <a:solidFill>
                  <a:srgbClr val="004070"/>
                </a:solidFill>
              </a:rPr>
              <a:t>файлы</a:t>
            </a:r>
            <a:r>
              <a:rPr lang="uk-UA" dirty="0">
                <a:solidFill>
                  <a:srgbClr val="004070"/>
                </a:solidFill>
              </a:rPr>
              <a:t> </a:t>
            </a:r>
            <a:r>
              <a:rPr lang="uk-UA" dirty="0" err="1">
                <a:solidFill>
                  <a:srgbClr val="004070"/>
                </a:solidFill>
              </a:rPr>
              <a:t>находящиеся</a:t>
            </a:r>
            <a:r>
              <a:rPr lang="uk-UA" dirty="0">
                <a:solidFill>
                  <a:srgbClr val="004070"/>
                </a:solidFill>
              </a:rPr>
              <a:t> в </a:t>
            </a:r>
            <a:r>
              <a:rPr lang="uk-UA" dirty="0" err="1">
                <a:solidFill>
                  <a:srgbClr val="004070"/>
                </a:solidFill>
              </a:rPr>
              <a:t>репозитории</a:t>
            </a:r>
            <a:r>
              <a:rPr lang="uk-UA" dirty="0">
                <a:solidFill>
                  <a:srgbClr val="004070"/>
                </a:solidFill>
              </a:rPr>
              <a:t> с файлами, </a:t>
            </a:r>
            <a:r>
              <a:rPr lang="uk-UA" dirty="0" err="1">
                <a:solidFill>
                  <a:srgbClr val="004070"/>
                </a:solidFill>
              </a:rPr>
              <a:t>которые</a:t>
            </a:r>
            <a:r>
              <a:rPr lang="uk-UA" dirty="0">
                <a:solidFill>
                  <a:srgbClr val="004070"/>
                </a:solidFill>
              </a:rPr>
              <a:t> </a:t>
            </a:r>
            <a:r>
              <a:rPr lang="uk-UA" dirty="0" err="1">
                <a:solidFill>
                  <a:srgbClr val="004070"/>
                </a:solidFill>
              </a:rPr>
              <a:t>добавлены</a:t>
            </a:r>
            <a:r>
              <a:rPr lang="uk-UA" dirty="0">
                <a:solidFill>
                  <a:srgbClr val="004070"/>
                </a:solidFill>
              </a:rPr>
              <a:t> в </a:t>
            </a:r>
            <a:r>
              <a:rPr lang="en-US" dirty="0" err="1">
                <a:solidFill>
                  <a:srgbClr val="004070"/>
                </a:solidFill>
              </a:rPr>
              <a:t>StageArea</a:t>
            </a:r>
            <a:r>
              <a:rPr lang="uk-UA" dirty="0">
                <a:solidFill>
                  <a:srgbClr val="004070"/>
                </a:solidFill>
              </a:rPr>
              <a:t> </a:t>
            </a:r>
            <a:r>
              <a:rPr lang="uk-UA" dirty="0" err="1">
                <a:solidFill>
                  <a:srgbClr val="004070"/>
                </a:solidFill>
              </a:rPr>
              <a:t>надо</a:t>
            </a:r>
            <a:r>
              <a:rPr lang="uk-UA" dirty="0">
                <a:solidFill>
                  <a:srgbClr val="004070"/>
                </a:solidFill>
              </a:rPr>
              <a:t> </a:t>
            </a:r>
            <a:r>
              <a:rPr lang="uk-UA" dirty="0" err="1">
                <a:solidFill>
                  <a:srgbClr val="004070"/>
                </a:solidFill>
              </a:rPr>
              <a:t>выполнить</a:t>
            </a:r>
            <a:r>
              <a:rPr lang="uk-UA" dirty="0">
                <a:solidFill>
                  <a:srgbClr val="004070"/>
                </a:solidFill>
              </a:rPr>
              <a:t>  </a:t>
            </a:r>
            <a:r>
              <a:rPr lang="uk-UA" dirty="0" err="1">
                <a:solidFill>
                  <a:srgbClr val="004070"/>
                </a:solidFill>
              </a:rPr>
              <a:t>эту</a:t>
            </a:r>
            <a:r>
              <a:rPr lang="uk-UA" dirty="0">
                <a:solidFill>
                  <a:srgbClr val="004070"/>
                </a:solidFill>
              </a:rPr>
              <a:t> команду с </a:t>
            </a:r>
            <a:endParaRPr lang="en-US" dirty="0">
              <a:solidFill>
                <a:srgbClr val="004070"/>
              </a:solidFill>
            </a:endParaRPr>
          </a:p>
          <a:p>
            <a:r>
              <a:rPr lang="ru-RU" dirty="0" err="1">
                <a:solidFill>
                  <a:srgbClr val="004070"/>
                </a:solidFill>
              </a:rPr>
              <a:t>ключем</a:t>
            </a:r>
            <a:r>
              <a:rPr lang="ru-RU" dirty="0">
                <a:solidFill>
                  <a:srgbClr val="004070"/>
                </a:solidFill>
              </a:rPr>
              <a:t> </a:t>
            </a:r>
            <a:r>
              <a:rPr lang="en-US" dirty="0">
                <a:solidFill>
                  <a:srgbClr val="004070"/>
                </a:solidFill>
              </a:rPr>
              <a:t>--staged</a:t>
            </a:r>
            <a:endParaRPr lang="ru-RU" dirty="0">
              <a:solidFill>
                <a:srgbClr val="004070"/>
              </a:solidFill>
            </a:endParaRPr>
          </a:p>
          <a:p>
            <a:endParaRPr lang="en-US" dirty="0">
              <a:solidFill>
                <a:srgbClr val="004070"/>
              </a:solidFill>
            </a:endParaRPr>
          </a:p>
          <a:p>
            <a:r>
              <a:rPr lang="en-US" dirty="0">
                <a:solidFill>
                  <a:schemeClr val="accent2"/>
                </a:solidFill>
              </a:rPr>
              <a:t>$ </a:t>
            </a:r>
            <a:r>
              <a:rPr lang="en-US" dirty="0" err="1">
                <a:solidFill>
                  <a:schemeClr val="accent2"/>
                </a:solidFill>
              </a:rPr>
              <a:t>git</a:t>
            </a:r>
            <a:r>
              <a:rPr lang="en-US" dirty="0">
                <a:solidFill>
                  <a:schemeClr val="accent2"/>
                </a:solidFill>
              </a:rPr>
              <a:t> diff</a:t>
            </a:r>
            <a:r>
              <a:rPr lang="ru-RU" dirty="0">
                <a:solidFill>
                  <a:schemeClr val="accent2"/>
                </a:solidFill>
              </a:rPr>
              <a:t> --</a:t>
            </a:r>
            <a:r>
              <a:rPr lang="en-US" dirty="0">
                <a:solidFill>
                  <a:schemeClr val="accent2"/>
                </a:solidFill>
              </a:rPr>
              <a:t>staged</a:t>
            </a:r>
            <a:endParaRPr lang="ru-RU" dirty="0">
              <a:solidFill>
                <a:srgbClr val="00407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6651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7504" y="476672"/>
            <a:ext cx="8928992" cy="2585323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uk-UA" dirty="0" err="1">
                <a:solidFill>
                  <a:srgbClr val="004070"/>
                </a:solidFill>
              </a:rPr>
              <a:t>Например</a:t>
            </a:r>
            <a:r>
              <a:rPr lang="uk-UA" dirty="0">
                <a:solidFill>
                  <a:srgbClr val="004070"/>
                </a:solidFill>
              </a:rPr>
              <a:t> в </a:t>
            </a:r>
            <a:r>
              <a:rPr lang="en-US" dirty="0" err="1">
                <a:solidFill>
                  <a:srgbClr val="004070"/>
                </a:solidFill>
              </a:rPr>
              <a:t>StageArea</a:t>
            </a:r>
            <a:r>
              <a:rPr lang="uk-UA" dirty="0">
                <a:solidFill>
                  <a:srgbClr val="004070"/>
                </a:solidFill>
              </a:rPr>
              <a:t> уже </a:t>
            </a:r>
            <a:r>
              <a:rPr lang="uk-UA" dirty="0" err="1">
                <a:solidFill>
                  <a:srgbClr val="004070"/>
                </a:solidFill>
              </a:rPr>
              <a:t>есть</a:t>
            </a:r>
            <a:r>
              <a:rPr lang="uk-UA" dirty="0">
                <a:solidFill>
                  <a:srgbClr val="004070"/>
                </a:solidFill>
              </a:rPr>
              <a:t> </a:t>
            </a:r>
            <a:r>
              <a:rPr lang="uk-UA" dirty="0" err="1">
                <a:solidFill>
                  <a:srgbClr val="004070"/>
                </a:solidFill>
              </a:rPr>
              <a:t>несколько</a:t>
            </a:r>
            <a:r>
              <a:rPr lang="uk-UA" dirty="0">
                <a:solidFill>
                  <a:srgbClr val="004070"/>
                </a:solidFill>
              </a:rPr>
              <a:t> </a:t>
            </a:r>
            <a:r>
              <a:rPr lang="uk-UA" dirty="0" err="1">
                <a:solidFill>
                  <a:srgbClr val="004070"/>
                </a:solidFill>
              </a:rPr>
              <a:t>файлов</a:t>
            </a:r>
            <a:r>
              <a:rPr lang="uk-UA" dirty="0">
                <a:solidFill>
                  <a:srgbClr val="004070"/>
                </a:solidFill>
              </a:rPr>
              <a:t>. </a:t>
            </a:r>
            <a:r>
              <a:rPr lang="uk-UA" dirty="0" err="1">
                <a:solidFill>
                  <a:srgbClr val="004070"/>
                </a:solidFill>
              </a:rPr>
              <a:t>Изменили</a:t>
            </a:r>
            <a:r>
              <a:rPr lang="uk-UA" dirty="0">
                <a:solidFill>
                  <a:srgbClr val="004070"/>
                </a:solidFill>
              </a:rPr>
              <a:t> </a:t>
            </a:r>
            <a:r>
              <a:rPr lang="uk-UA" dirty="0" err="1">
                <a:solidFill>
                  <a:srgbClr val="004070"/>
                </a:solidFill>
              </a:rPr>
              <a:t>еще</a:t>
            </a:r>
            <a:r>
              <a:rPr lang="uk-UA" dirty="0">
                <a:solidFill>
                  <a:srgbClr val="004070"/>
                </a:solidFill>
              </a:rPr>
              <a:t> один файл, добавили его в </a:t>
            </a:r>
            <a:r>
              <a:rPr lang="en-US" dirty="0" err="1">
                <a:solidFill>
                  <a:srgbClr val="004070"/>
                </a:solidFill>
              </a:rPr>
              <a:t>StageArea</a:t>
            </a:r>
            <a:r>
              <a:rPr lang="uk-UA" dirty="0">
                <a:solidFill>
                  <a:srgbClr val="004070"/>
                </a:solidFill>
              </a:rPr>
              <a:t>, </a:t>
            </a:r>
            <a:r>
              <a:rPr lang="uk-UA" dirty="0" err="1">
                <a:solidFill>
                  <a:srgbClr val="004070"/>
                </a:solidFill>
              </a:rPr>
              <a:t>затем</a:t>
            </a:r>
            <a:r>
              <a:rPr lang="uk-UA" dirty="0">
                <a:solidFill>
                  <a:srgbClr val="004070"/>
                </a:solidFill>
              </a:rPr>
              <a:t> </a:t>
            </a:r>
            <a:r>
              <a:rPr lang="uk-UA" dirty="0" err="1">
                <a:solidFill>
                  <a:srgbClr val="004070"/>
                </a:solidFill>
              </a:rPr>
              <a:t>решили</a:t>
            </a:r>
            <a:r>
              <a:rPr lang="uk-UA" dirty="0">
                <a:solidFill>
                  <a:srgbClr val="004070"/>
                </a:solidFill>
              </a:rPr>
              <a:t>, </a:t>
            </a:r>
            <a:r>
              <a:rPr lang="uk-UA" dirty="0" err="1">
                <a:solidFill>
                  <a:srgbClr val="004070"/>
                </a:solidFill>
              </a:rPr>
              <a:t>что</a:t>
            </a:r>
            <a:r>
              <a:rPr lang="uk-UA" dirty="0">
                <a:solidFill>
                  <a:srgbClr val="004070"/>
                </a:solidFill>
              </a:rPr>
              <a:t> не </a:t>
            </a:r>
            <a:r>
              <a:rPr lang="uk-UA" dirty="0" err="1">
                <a:solidFill>
                  <a:srgbClr val="004070"/>
                </a:solidFill>
              </a:rPr>
              <a:t>надо</a:t>
            </a:r>
            <a:r>
              <a:rPr lang="uk-UA" dirty="0">
                <a:solidFill>
                  <a:srgbClr val="004070"/>
                </a:solidFill>
              </a:rPr>
              <a:t> его </a:t>
            </a:r>
            <a:r>
              <a:rPr lang="uk-UA" dirty="0" err="1">
                <a:solidFill>
                  <a:srgbClr val="004070"/>
                </a:solidFill>
              </a:rPr>
              <a:t>коммитить</a:t>
            </a:r>
            <a:r>
              <a:rPr lang="uk-UA" dirty="0">
                <a:solidFill>
                  <a:srgbClr val="004070"/>
                </a:solidFill>
              </a:rPr>
              <a:t> </a:t>
            </a:r>
            <a:r>
              <a:rPr lang="uk-UA" dirty="0" err="1">
                <a:solidFill>
                  <a:srgbClr val="004070"/>
                </a:solidFill>
              </a:rPr>
              <a:t>вместе</a:t>
            </a:r>
            <a:r>
              <a:rPr lang="uk-UA" dirty="0">
                <a:solidFill>
                  <a:srgbClr val="004070"/>
                </a:solidFill>
              </a:rPr>
              <a:t> с теми файлами </a:t>
            </a:r>
            <a:r>
              <a:rPr lang="uk-UA" dirty="0" err="1">
                <a:solidFill>
                  <a:srgbClr val="004070"/>
                </a:solidFill>
              </a:rPr>
              <a:t>которые</a:t>
            </a:r>
            <a:r>
              <a:rPr lang="uk-UA" dirty="0">
                <a:solidFill>
                  <a:srgbClr val="004070"/>
                </a:solidFill>
              </a:rPr>
              <a:t> уже </a:t>
            </a:r>
            <a:r>
              <a:rPr lang="uk-UA" dirty="0" err="1">
                <a:solidFill>
                  <a:srgbClr val="004070"/>
                </a:solidFill>
              </a:rPr>
              <a:t>находятся</a:t>
            </a:r>
            <a:r>
              <a:rPr lang="uk-UA" dirty="0">
                <a:solidFill>
                  <a:srgbClr val="004070"/>
                </a:solidFill>
              </a:rPr>
              <a:t> в</a:t>
            </a:r>
          </a:p>
          <a:p>
            <a:r>
              <a:rPr lang="en-US" dirty="0" err="1">
                <a:solidFill>
                  <a:srgbClr val="004070"/>
                </a:solidFill>
              </a:rPr>
              <a:t>StageArea</a:t>
            </a:r>
            <a:r>
              <a:rPr lang="ru-RU" dirty="0">
                <a:solidFill>
                  <a:srgbClr val="004070"/>
                </a:solidFill>
              </a:rPr>
              <a:t> и готовы для </a:t>
            </a:r>
            <a:r>
              <a:rPr lang="en-US" dirty="0">
                <a:solidFill>
                  <a:srgbClr val="004070"/>
                </a:solidFill>
              </a:rPr>
              <a:t>commit</a:t>
            </a:r>
            <a:endParaRPr lang="ru-RU" dirty="0">
              <a:solidFill>
                <a:srgbClr val="004070"/>
              </a:solidFill>
            </a:endParaRPr>
          </a:p>
          <a:p>
            <a:r>
              <a:rPr lang="uk-UA" dirty="0">
                <a:solidFill>
                  <a:srgbClr val="004070"/>
                </a:solidFill>
              </a:rPr>
              <a:t>То </a:t>
            </a:r>
            <a:r>
              <a:rPr lang="uk-UA" dirty="0" err="1">
                <a:solidFill>
                  <a:srgbClr val="004070"/>
                </a:solidFill>
              </a:rPr>
              <a:t>есть</a:t>
            </a:r>
            <a:r>
              <a:rPr lang="uk-UA" dirty="0">
                <a:solidFill>
                  <a:srgbClr val="004070"/>
                </a:solidFill>
              </a:rPr>
              <a:t> </a:t>
            </a:r>
            <a:r>
              <a:rPr lang="uk-UA" dirty="0" err="1">
                <a:solidFill>
                  <a:srgbClr val="004070"/>
                </a:solidFill>
              </a:rPr>
              <a:t>хотим</a:t>
            </a:r>
            <a:r>
              <a:rPr lang="uk-UA" dirty="0">
                <a:solidFill>
                  <a:srgbClr val="004070"/>
                </a:solidFill>
              </a:rPr>
              <a:t> </a:t>
            </a:r>
            <a:r>
              <a:rPr lang="uk-UA" dirty="0" err="1">
                <a:solidFill>
                  <a:srgbClr val="004070"/>
                </a:solidFill>
              </a:rPr>
              <a:t>вытащить</a:t>
            </a:r>
            <a:r>
              <a:rPr lang="uk-UA" dirty="0">
                <a:solidFill>
                  <a:srgbClr val="004070"/>
                </a:solidFill>
              </a:rPr>
              <a:t> </a:t>
            </a:r>
            <a:r>
              <a:rPr lang="uk-UA" dirty="0" err="1">
                <a:solidFill>
                  <a:srgbClr val="004070"/>
                </a:solidFill>
              </a:rPr>
              <a:t>этот</a:t>
            </a:r>
            <a:r>
              <a:rPr lang="uk-UA" dirty="0">
                <a:solidFill>
                  <a:srgbClr val="004070"/>
                </a:solidFill>
              </a:rPr>
              <a:t> файл </a:t>
            </a:r>
            <a:r>
              <a:rPr lang="uk-UA" dirty="0" err="1">
                <a:solidFill>
                  <a:srgbClr val="004070"/>
                </a:solidFill>
              </a:rPr>
              <a:t>из</a:t>
            </a:r>
            <a:r>
              <a:rPr lang="uk-UA" dirty="0">
                <a:solidFill>
                  <a:srgbClr val="004070"/>
                </a:solidFill>
              </a:rPr>
              <a:t> </a:t>
            </a:r>
            <a:r>
              <a:rPr lang="en-US" dirty="0" err="1">
                <a:solidFill>
                  <a:srgbClr val="004070"/>
                </a:solidFill>
              </a:rPr>
              <a:t>StageArea</a:t>
            </a:r>
            <a:r>
              <a:rPr lang="ru-RU" dirty="0">
                <a:solidFill>
                  <a:srgbClr val="004070"/>
                </a:solidFill>
              </a:rPr>
              <a:t> в </a:t>
            </a:r>
            <a:r>
              <a:rPr lang="en-US" dirty="0" err="1">
                <a:solidFill>
                  <a:srgbClr val="004070"/>
                </a:solidFill>
              </a:rPr>
              <a:t>WorkArea</a:t>
            </a:r>
            <a:r>
              <a:rPr lang="uk-UA" dirty="0">
                <a:solidFill>
                  <a:srgbClr val="004070"/>
                </a:solidFill>
              </a:rPr>
              <a:t> </a:t>
            </a:r>
            <a:endParaRPr lang="en-US" dirty="0">
              <a:solidFill>
                <a:srgbClr val="004070"/>
              </a:solidFill>
            </a:endParaRPr>
          </a:p>
          <a:p>
            <a:endParaRPr lang="uk-UA" dirty="0">
              <a:solidFill>
                <a:srgbClr val="004070"/>
              </a:solidFill>
            </a:endParaRPr>
          </a:p>
          <a:p>
            <a:r>
              <a:rPr lang="uk-UA" dirty="0" err="1">
                <a:solidFill>
                  <a:srgbClr val="004070"/>
                </a:solidFill>
              </a:rPr>
              <a:t>Выполняем</a:t>
            </a:r>
            <a:r>
              <a:rPr lang="uk-UA" dirty="0">
                <a:solidFill>
                  <a:srgbClr val="004070"/>
                </a:solidFill>
              </a:rPr>
              <a:t> команду</a:t>
            </a:r>
            <a:endParaRPr lang="en-US" dirty="0">
              <a:solidFill>
                <a:srgbClr val="004070"/>
              </a:solidFill>
            </a:endParaRPr>
          </a:p>
          <a:p>
            <a:endParaRPr lang="en-US" dirty="0">
              <a:solidFill>
                <a:srgbClr val="004070"/>
              </a:solidFill>
            </a:endParaRPr>
          </a:p>
          <a:p>
            <a:r>
              <a:rPr lang="en-US" dirty="0">
                <a:solidFill>
                  <a:schemeClr val="accent2"/>
                </a:solidFill>
              </a:rPr>
              <a:t>$ </a:t>
            </a:r>
            <a:r>
              <a:rPr lang="en-US" dirty="0" err="1">
                <a:solidFill>
                  <a:schemeClr val="accent2"/>
                </a:solidFill>
              </a:rPr>
              <a:t>git</a:t>
            </a:r>
            <a:r>
              <a:rPr lang="en-US" dirty="0">
                <a:solidFill>
                  <a:schemeClr val="accent2"/>
                </a:solidFill>
              </a:rPr>
              <a:t> reset HEAD </a:t>
            </a:r>
            <a:r>
              <a:rPr lang="uk-UA" dirty="0" err="1">
                <a:solidFill>
                  <a:srgbClr val="0070C0"/>
                </a:solidFill>
              </a:rPr>
              <a:t>имя_файла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843808" y="35332"/>
            <a:ext cx="3414391" cy="369332"/>
          </a:xfrm>
          <a:prstGeom prst="rect">
            <a:avLst/>
          </a:prstGeom>
          <a:solidFill>
            <a:schemeClr val="bg1">
              <a:lumMod val="75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pPr algn="ctr"/>
            <a:r>
              <a:rPr lang="uk-UA" dirty="0" err="1">
                <a:solidFill>
                  <a:schemeClr val="accent2"/>
                </a:solidFill>
              </a:rPr>
              <a:t>Лабараторная</a:t>
            </a:r>
            <a:r>
              <a:rPr lang="uk-UA" dirty="0">
                <a:solidFill>
                  <a:schemeClr val="accent2"/>
                </a:solidFill>
              </a:rPr>
              <a:t> </a:t>
            </a:r>
            <a:r>
              <a:rPr lang="uk-UA" dirty="0" err="1">
                <a:solidFill>
                  <a:schemeClr val="accent2"/>
                </a:solidFill>
              </a:rPr>
              <a:t>работа</a:t>
            </a:r>
            <a:r>
              <a:rPr lang="uk-UA" dirty="0">
                <a:solidFill>
                  <a:schemeClr val="accent2"/>
                </a:solidFill>
              </a:rPr>
              <a:t> 2</a:t>
            </a:r>
            <a:endParaRPr lang="ru-RU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04407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2123728" y="116632"/>
            <a:ext cx="4943082" cy="369332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dirty="0">
                <a:solidFill>
                  <a:srgbClr val="002060"/>
                </a:solidFill>
              </a:rPr>
              <a:t>Как </a:t>
            </a:r>
            <a:r>
              <a:rPr lang="en-US" dirty="0">
                <a:solidFill>
                  <a:srgbClr val="002060"/>
                </a:solidFill>
              </a:rPr>
              <a:t>GIT </a:t>
            </a:r>
            <a:r>
              <a:rPr lang="ru-RU" dirty="0">
                <a:solidFill>
                  <a:srgbClr val="002060"/>
                </a:solidFill>
              </a:rPr>
              <a:t>ссылается на свои </a:t>
            </a:r>
            <a:r>
              <a:rPr lang="ru-RU" dirty="0" err="1">
                <a:solidFill>
                  <a:srgbClr val="002060"/>
                </a:solidFill>
              </a:rPr>
              <a:t>коммиты</a:t>
            </a:r>
            <a:endParaRPr lang="ru-RU" dirty="0">
              <a:solidFill>
                <a:srgbClr val="00206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0966" y="539388"/>
            <a:ext cx="8975530" cy="1477328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dirty="0"/>
              <a:t>Ранее на слайде № 12 было показано как в </a:t>
            </a:r>
            <a:r>
              <a:rPr lang="en-US" dirty="0"/>
              <a:t>GIT </a:t>
            </a:r>
            <a:r>
              <a:rPr lang="ru-RU" dirty="0"/>
              <a:t>добавляются файлы</a:t>
            </a:r>
          </a:p>
          <a:p>
            <a:endParaRPr lang="ru-RU" dirty="0"/>
          </a:p>
          <a:p>
            <a:r>
              <a:rPr lang="ru-RU" dirty="0"/>
              <a:t>Добавление </a:t>
            </a:r>
            <a:r>
              <a:rPr lang="en-US" dirty="0"/>
              <a:t>A </a:t>
            </a:r>
            <a:r>
              <a:rPr lang="ru-RU" dirty="0"/>
              <a:t>или</a:t>
            </a:r>
            <a:r>
              <a:rPr lang="en-US" dirty="0"/>
              <a:t> B </a:t>
            </a:r>
            <a:r>
              <a:rPr lang="ru-RU" dirty="0"/>
              <a:t> - это наборы изменений, при этом в каждом из них может быть любое количество файлов и эти файлы могут быть разными в каждом изменении.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496" y="2204864"/>
            <a:ext cx="8975530" cy="3416320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dirty="0"/>
              <a:t>Когда мы отправляем файлы в </a:t>
            </a:r>
            <a:r>
              <a:rPr lang="ru-RU" dirty="0" err="1"/>
              <a:t>репозиторий</a:t>
            </a:r>
            <a:r>
              <a:rPr lang="ru-RU" dirty="0"/>
              <a:t> </a:t>
            </a:r>
            <a:r>
              <a:rPr lang="en-US" dirty="0"/>
              <a:t>GIT </a:t>
            </a:r>
            <a:r>
              <a:rPr lang="ru-RU" dirty="0"/>
              <a:t>генерирует уникальную </a:t>
            </a:r>
            <a:r>
              <a:rPr lang="ru-RU" dirty="0">
                <a:solidFill>
                  <a:schemeClr val="accent2"/>
                </a:solidFill>
              </a:rPr>
              <a:t>контрольную сумму</a:t>
            </a:r>
            <a:r>
              <a:rPr lang="ru-RU" dirty="0"/>
              <a:t> изменений.</a:t>
            </a:r>
          </a:p>
          <a:p>
            <a:r>
              <a:rPr lang="ru-RU" dirty="0"/>
              <a:t>Это число, сгенерированное с помощью алгоритма </a:t>
            </a:r>
            <a:r>
              <a:rPr lang="en-US" dirty="0">
                <a:solidFill>
                  <a:schemeClr val="accent2"/>
                </a:solidFill>
              </a:rPr>
              <a:t>SHA1</a:t>
            </a:r>
            <a:r>
              <a:rPr lang="ru-RU" dirty="0"/>
              <a:t>, который конвертирует данные в число –  </a:t>
            </a:r>
            <a:r>
              <a:rPr lang="en-US" dirty="0">
                <a:solidFill>
                  <a:srgbClr val="002060"/>
                </a:solidFill>
              </a:rPr>
              <a:t>HEX</a:t>
            </a:r>
            <a:r>
              <a:rPr lang="ru-RU" dirty="0">
                <a:solidFill>
                  <a:srgbClr val="002060"/>
                </a:solidFill>
              </a:rPr>
              <a:t> строка длиной 40 символов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Одни и те же данные, отправленные алгоритму равны одной и той же контрольной сумме. </a:t>
            </a:r>
          </a:p>
          <a:p>
            <a:r>
              <a:rPr lang="ru-RU" dirty="0" err="1"/>
              <a:t>Т.о</a:t>
            </a:r>
            <a:r>
              <a:rPr lang="ru-RU" dirty="0"/>
              <a:t>. контрольная сумма служит для проверки изменились ли данные.</a:t>
            </a:r>
            <a:endParaRPr lang="en-US" dirty="0"/>
          </a:p>
          <a:p>
            <a:endParaRPr lang="en-US" dirty="0"/>
          </a:p>
          <a:p>
            <a:r>
              <a:rPr lang="ru-RU" dirty="0"/>
              <a:t>Это число еще называют </a:t>
            </a:r>
            <a:r>
              <a:rPr lang="en-US" dirty="0"/>
              <a:t>ID </a:t>
            </a:r>
            <a:r>
              <a:rPr lang="ru-RU" dirty="0" err="1"/>
              <a:t>коммита</a:t>
            </a:r>
            <a:r>
              <a:rPr lang="ru-RU" dirty="0"/>
              <a:t>, и мы его видим когда вводим команду </a:t>
            </a:r>
            <a:r>
              <a:rPr lang="en-US" dirty="0" err="1">
                <a:solidFill>
                  <a:schemeClr val="accent2"/>
                </a:solidFill>
              </a:rPr>
              <a:t>git</a:t>
            </a:r>
            <a:r>
              <a:rPr lang="en-US" dirty="0">
                <a:solidFill>
                  <a:schemeClr val="accent2"/>
                </a:solidFill>
              </a:rPr>
              <a:t> log</a:t>
            </a:r>
            <a:r>
              <a:rPr lang="ru-RU" dirty="0"/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01401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9554" y="2276872"/>
            <a:ext cx="2652246" cy="369332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pPr algn="ctr"/>
            <a:r>
              <a:rPr lang="en-US" dirty="0"/>
              <a:t>snapshot A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3274114" y="2293110"/>
            <a:ext cx="2621335" cy="369332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pPr algn="ctr"/>
            <a:r>
              <a:rPr lang="en-US" dirty="0"/>
              <a:t>snapshot B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6372200" y="2264586"/>
            <a:ext cx="2664296" cy="369332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pPr algn="ctr"/>
            <a:r>
              <a:rPr lang="en-US" dirty="0"/>
              <a:t>snapshot C</a:t>
            </a:r>
            <a:endParaRPr lang="ru-RU" dirty="0"/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/>
        </p:nvGraphicFramePr>
        <p:xfrm>
          <a:off x="88339" y="260648"/>
          <a:ext cx="2683461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33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54fd76e...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parent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accent2"/>
                          </a:solidFill>
                        </a:rPr>
                        <a:t>nil</a:t>
                      </a:r>
                      <a:endParaRPr lang="ru-RU" b="1" dirty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author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Helen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message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initial commit...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1" name="Таблица 10"/>
          <p:cNvGraphicFramePr>
            <a:graphicFrameLocks noGrp="1"/>
          </p:cNvGraphicFramePr>
          <p:nvPr/>
        </p:nvGraphicFramePr>
        <p:xfrm>
          <a:off x="3242635" y="260648"/>
          <a:ext cx="2683461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33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747fab3a...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parent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54fd76e…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author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Helen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message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Fix bug in </a:t>
                      </a:r>
                      <a:r>
                        <a:rPr lang="en-US" b="1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...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2" name="Таблица 11"/>
          <p:cNvGraphicFramePr>
            <a:graphicFrameLocks noGrp="1"/>
          </p:cNvGraphicFramePr>
          <p:nvPr/>
        </p:nvGraphicFramePr>
        <p:xfrm>
          <a:off x="6353035" y="260648"/>
          <a:ext cx="2683461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33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34ba640ed984...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parent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747fab3a…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author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Helen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message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Add feature..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13" name="Прямая со стрелкой 12"/>
          <p:cNvCxnSpPr/>
          <p:nvPr/>
        </p:nvCxnSpPr>
        <p:spPr>
          <a:xfrm flipH="1" flipV="1">
            <a:off x="2051720" y="476672"/>
            <a:ext cx="1224136" cy="36004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/>
          <p:nvPr/>
        </p:nvCxnSpPr>
        <p:spPr>
          <a:xfrm flipH="1" flipV="1">
            <a:off x="5364088" y="476672"/>
            <a:ext cx="1008112" cy="36004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0966" y="3258850"/>
            <a:ext cx="8975530" cy="1477328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dirty="0">
                <a:solidFill>
                  <a:schemeClr val="accent2"/>
                </a:solidFill>
              </a:rPr>
              <a:t>parent</a:t>
            </a:r>
            <a:r>
              <a:rPr lang="en-US" dirty="0"/>
              <a:t> </a:t>
            </a:r>
            <a:r>
              <a:rPr lang="ru-RU" dirty="0"/>
              <a:t>всегда содержит значение контрольной суммы родительского </a:t>
            </a:r>
            <a:r>
              <a:rPr lang="ru-RU" dirty="0" err="1"/>
              <a:t>коммита</a:t>
            </a:r>
            <a:r>
              <a:rPr lang="ru-RU" dirty="0"/>
              <a:t>. </a:t>
            </a:r>
          </a:p>
          <a:p>
            <a:r>
              <a:rPr lang="ru-RU" dirty="0"/>
              <a:t>То есть связь между </a:t>
            </a:r>
            <a:r>
              <a:rPr lang="ru-RU" dirty="0" err="1"/>
              <a:t>коммитами</a:t>
            </a:r>
            <a:r>
              <a:rPr lang="ru-RU" dirty="0"/>
              <a:t> – </a:t>
            </a:r>
            <a:r>
              <a:rPr lang="ru-RU" dirty="0" err="1"/>
              <a:t>коммит</a:t>
            </a:r>
            <a:r>
              <a:rPr lang="en-US" dirty="0"/>
              <a:t> </a:t>
            </a:r>
            <a:r>
              <a:rPr lang="ru-RU" dirty="0"/>
              <a:t>ссылается</a:t>
            </a:r>
            <a:r>
              <a:rPr lang="en-US" dirty="0"/>
              <a:t> </a:t>
            </a:r>
            <a:r>
              <a:rPr lang="ru-RU" dirty="0"/>
              <a:t>на значение зашифрованное алгоритмом </a:t>
            </a:r>
            <a:r>
              <a:rPr lang="en-US" dirty="0"/>
              <a:t>SHA-1 </a:t>
            </a:r>
            <a:r>
              <a:rPr lang="ru-RU" dirty="0"/>
              <a:t>того </a:t>
            </a:r>
            <a:r>
              <a:rPr lang="ru-RU" dirty="0" err="1"/>
              <a:t>коммита</a:t>
            </a:r>
            <a:r>
              <a:rPr lang="ru-RU" dirty="0"/>
              <a:t>, который был перед ним</a:t>
            </a:r>
          </a:p>
        </p:txBody>
      </p:sp>
    </p:spTree>
    <p:extLst>
      <p:ext uri="{BB962C8B-B14F-4D97-AF65-F5344CB8AC3E}">
        <p14:creationId xmlns:p14="http://schemas.microsoft.com/office/powerpoint/2010/main" val="18956322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3443141" y="44624"/>
            <a:ext cx="2304256" cy="369332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dirty="0">
                <a:solidFill>
                  <a:srgbClr val="002060"/>
                </a:solidFill>
              </a:rPr>
              <a:t>Указатель </a:t>
            </a:r>
            <a:r>
              <a:rPr lang="en-US" dirty="0">
                <a:solidFill>
                  <a:srgbClr val="002060"/>
                </a:solidFill>
              </a:rPr>
              <a:t>HEAD</a:t>
            </a:r>
            <a:endParaRPr lang="ru-RU" dirty="0">
              <a:solidFill>
                <a:srgbClr val="00206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0966" y="521164"/>
            <a:ext cx="8975530" cy="3416320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dirty="0"/>
              <a:t>GIT </a:t>
            </a:r>
            <a:r>
              <a:rPr lang="ru-RU" dirty="0"/>
              <a:t>поддерживает ссылочную переменную </a:t>
            </a:r>
            <a:r>
              <a:rPr lang="en-US" dirty="0">
                <a:solidFill>
                  <a:schemeClr val="accent2"/>
                </a:solidFill>
              </a:rPr>
              <a:t>HEAD</a:t>
            </a:r>
            <a:r>
              <a:rPr lang="en-US" dirty="0"/>
              <a:t>  - </a:t>
            </a:r>
            <a:r>
              <a:rPr lang="ru-RU" dirty="0"/>
              <a:t> это указатель, так как ее цель ссылаться или указывать на конкретный  </a:t>
            </a:r>
            <a:r>
              <a:rPr lang="ru-RU" dirty="0" err="1"/>
              <a:t>коммит</a:t>
            </a:r>
            <a:r>
              <a:rPr lang="ru-RU" dirty="0"/>
              <a:t> в </a:t>
            </a:r>
            <a:r>
              <a:rPr lang="ru-RU" dirty="0" err="1"/>
              <a:t>репозитории</a:t>
            </a:r>
            <a:r>
              <a:rPr lang="ru-RU" dirty="0"/>
              <a:t>.</a:t>
            </a:r>
            <a:r>
              <a:rPr lang="en-US" dirty="0"/>
              <a:t> </a:t>
            </a:r>
            <a:r>
              <a:rPr lang="ru-RU" dirty="0"/>
              <a:t>Когда мы делаем новые </a:t>
            </a:r>
            <a:r>
              <a:rPr lang="ru-RU" dirty="0" err="1"/>
              <a:t>коммиты</a:t>
            </a:r>
            <a:r>
              <a:rPr lang="ru-RU" dirty="0"/>
              <a:t> указатель перемещается чтобы выделить новый </a:t>
            </a:r>
            <a:r>
              <a:rPr lang="ru-RU" dirty="0" err="1"/>
              <a:t>коммит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en-US" dirty="0">
                <a:solidFill>
                  <a:schemeClr val="accent2"/>
                </a:solidFill>
              </a:rPr>
              <a:t>HEAD</a:t>
            </a:r>
            <a:r>
              <a:rPr lang="en-US" dirty="0"/>
              <a:t> </a:t>
            </a:r>
            <a:r>
              <a:rPr lang="ru-RU" dirty="0"/>
              <a:t>всегда указывает на верхушку текущего </a:t>
            </a:r>
            <a:r>
              <a:rPr lang="en-US" dirty="0">
                <a:solidFill>
                  <a:schemeClr val="accent2"/>
                </a:solidFill>
              </a:rPr>
              <a:t>branch</a:t>
            </a:r>
            <a:r>
              <a:rPr lang="en-US" dirty="0"/>
              <a:t> </a:t>
            </a:r>
            <a:r>
              <a:rPr lang="ru-RU" dirty="0"/>
              <a:t>нашего </a:t>
            </a:r>
            <a:r>
              <a:rPr lang="ru-RU" dirty="0" err="1"/>
              <a:t>репозитория</a:t>
            </a:r>
            <a:r>
              <a:rPr lang="ru-RU" dirty="0"/>
              <a:t>. Или другими словами – это последнее </a:t>
            </a:r>
            <a:r>
              <a:rPr lang="ru-RU" dirty="0" err="1"/>
              <a:t>состоянее</a:t>
            </a:r>
            <a:r>
              <a:rPr lang="ru-RU" dirty="0"/>
              <a:t> нашего </a:t>
            </a:r>
            <a:r>
              <a:rPr lang="ru-RU" dirty="0" err="1"/>
              <a:t>репозитория</a:t>
            </a:r>
            <a:r>
              <a:rPr lang="ru-RU" dirty="0"/>
              <a:t> (то есть это то, что было </a:t>
            </a:r>
            <a:r>
              <a:rPr lang="ru-RU" dirty="0" err="1"/>
              <a:t>закоммитчено</a:t>
            </a:r>
            <a:r>
              <a:rPr lang="ru-RU" dirty="0"/>
              <a:t> последним) – то есть </a:t>
            </a:r>
            <a:r>
              <a:rPr lang="en-US" dirty="0"/>
              <a:t>HEAD </a:t>
            </a:r>
            <a:r>
              <a:rPr lang="ru-RU" dirty="0"/>
              <a:t>по сути указывает на родителя следующего </a:t>
            </a:r>
            <a:r>
              <a:rPr lang="ru-RU" dirty="0" err="1"/>
              <a:t>коммита</a:t>
            </a:r>
            <a:r>
              <a:rPr lang="ru-RU" dirty="0"/>
              <a:t>.</a:t>
            </a:r>
          </a:p>
          <a:p>
            <a:r>
              <a:rPr lang="ru-RU" dirty="0"/>
              <a:t>Еще говорят что </a:t>
            </a:r>
            <a:r>
              <a:rPr lang="en-US" dirty="0"/>
              <a:t>HEAD </a:t>
            </a:r>
            <a:r>
              <a:rPr lang="ru-RU" dirty="0"/>
              <a:t>указывает на место откуда мы будем начинать запись.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9552" y="4797152"/>
            <a:ext cx="1224136" cy="369332"/>
          </a:xfrm>
          <a:prstGeom prst="rect">
            <a:avLst/>
          </a:prstGeom>
          <a:solidFill>
            <a:schemeClr val="bg2">
              <a:lumMod val="50000"/>
              <a:alpha val="3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dirty="0"/>
              <a:t>54fd76e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2195736" y="4801888"/>
            <a:ext cx="1224136" cy="369332"/>
          </a:xfrm>
          <a:prstGeom prst="rect">
            <a:avLst/>
          </a:prstGeom>
          <a:solidFill>
            <a:schemeClr val="bg2">
              <a:lumMod val="50000"/>
              <a:alpha val="3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dirty="0"/>
              <a:t>747fa</a:t>
            </a:r>
            <a:r>
              <a:rPr lang="ru-RU" dirty="0"/>
              <a:t>с</a:t>
            </a:r>
            <a:r>
              <a:rPr lang="en-US" dirty="0"/>
              <a:t>5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3902412" y="4806624"/>
            <a:ext cx="1224136" cy="369332"/>
          </a:xfrm>
          <a:prstGeom prst="rect">
            <a:avLst/>
          </a:prstGeom>
          <a:solidFill>
            <a:schemeClr val="bg2">
              <a:lumMod val="50000"/>
              <a:alpha val="3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dirty="0"/>
              <a:t>34fd5ca</a:t>
            </a:r>
            <a:endParaRPr lang="ru-RU" dirty="0"/>
          </a:p>
        </p:txBody>
      </p:sp>
      <p:cxnSp>
        <p:nvCxnSpPr>
          <p:cNvPr id="7" name="Прямая соединительная линия 6"/>
          <p:cNvCxnSpPr>
            <a:stCxn id="4" idx="3"/>
            <a:endCxn id="5" idx="1"/>
          </p:cNvCxnSpPr>
          <p:nvPr/>
        </p:nvCxnSpPr>
        <p:spPr>
          <a:xfrm>
            <a:off x="1763688" y="4981818"/>
            <a:ext cx="432048" cy="47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/>
          <p:cNvCxnSpPr/>
          <p:nvPr/>
        </p:nvCxnSpPr>
        <p:spPr>
          <a:xfrm>
            <a:off x="3448848" y="4978178"/>
            <a:ext cx="432048" cy="47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Группа 15"/>
          <p:cNvGrpSpPr/>
          <p:nvPr/>
        </p:nvGrpSpPr>
        <p:grpSpPr>
          <a:xfrm>
            <a:off x="755576" y="5175956"/>
            <a:ext cx="792088" cy="701316"/>
            <a:chOff x="4121734" y="5175956"/>
            <a:chExt cx="792088" cy="701316"/>
          </a:xfrm>
        </p:grpSpPr>
        <p:sp>
          <p:nvSpPr>
            <p:cNvPr id="11" name="TextBox 10"/>
            <p:cNvSpPr txBox="1"/>
            <p:nvPr/>
          </p:nvSpPr>
          <p:spPr>
            <a:xfrm>
              <a:off x="4121734" y="5507940"/>
              <a:ext cx="7920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HEAD</a:t>
              </a:r>
              <a:endParaRPr lang="ru-RU" b="1" dirty="0"/>
            </a:p>
          </p:txBody>
        </p:sp>
        <p:cxnSp>
          <p:nvCxnSpPr>
            <p:cNvPr id="13" name="Прямая со стрелкой 12"/>
            <p:cNvCxnSpPr>
              <a:stCxn id="11" idx="0"/>
              <a:endCxn id="6" idx="2"/>
            </p:cNvCxnSpPr>
            <p:nvPr/>
          </p:nvCxnSpPr>
          <p:spPr>
            <a:xfrm flipH="1" flipV="1">
              <a:off x="4514480" y="5175956"/>
              <a:ext cx="3298" cy="33198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TextBox 16"/>
          <p:cNvSpPr txBox="1"/>
          <p:nvPr/>
        </p:nvSpPr>
        <p:spPr>
          <a:xfrm>
            <a:off x="527930" y="4365104"/>
            <a:ext cx="1976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master branch</a:t>
            </a:r>
            <a:endParaRPr lang="ru-RU" dirty="0"/>
          </a:p>
        </p:txBody>
      </p:sp>
      <p:sp>
        <p:nvSpPr>
          <p:cNvPr id="18" name="TextBox 17"/>
          <p:cNvSpPr txBox="1"/>
          <p:nvPr/>
        </p:nvSpPr>
        <p:spPr>
          <a:xfrm>
            <a:off x="467544" y="5373216"/>
            <a:ext cx="156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new branch</a:t>
            </a:r>
            <a:endParaRPr lang="ru-RU" dirty="0"/>
          </a:p>
        </p:txBody>
      </p:sp>
      <p:sp>
        <p:nvSpPr>
          <p:cNvPr id="19" name="TextBox 18"/>
          <p:cNvSpPr txBox="1"/>
          <p:nvPr/>
        </p:nvSpPr>
        <p:spPr>
          <a:xfrm>
            <a:off x="539552" y="5723964"/>
            <a:ext cx="1224136" cy="369332"/>
          </a:xfrm>
          <a:prstGeom prst="rect">
            <a:avLst/>
          </a:prstGeom>
          <a:solidFill>
            <a:schemeClr val="bg2">
              <a:lumMod val="50000"/>
              <a:alpha val="3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dirty="0"/>
              <a:t>98fd7a2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12780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-3.19223E-7 L 0.18108 -3.19223E-7 " pathEditMode="relative" rAng="0" ptsTypes="AA">
                                      <p:cBhvr>
                                        <p:cTn id="13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04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8107 2.14897E-6 L 0.38194 -0.00139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035" y="-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8194 -0.00139 L -0.00382 0.13509 " pathEditMode="relative" rAng="0" ptsTypes="AA">
                                      <p:cBhvr>
                                        <p:cTn id="35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288" y="68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8" grpId="0"/>
      <p:bldP spid="1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7504" y="478413"/>
            <a:ext cx="8928992" cy="646331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uk-UA" dirty="0" err="1">
                <a:solidFill>
                  <a:srgbClr val="004070"/>
                </a:solidFill>
              </a:rPr>
              <a:t>Изменили</a:t>
            </a:r>
            <a:r>
              <a:rPr lang="uk-UA" dirty="0">
                <a:solidFill>
                  <a:srgbClr val="004070"/>
                </a:solidFill>
              </a:rPr>
              <a:t> файл в </a:t>
            </a:r>
            <a:r>
              <a:rPr lang="en-US" dirty="0" err="1">
                <a:solidFill>
                  <a:srgbClr val="004070"/>
                </a:solidFill>
              </a:rPr>
              <a:t>WorkArea</a:t>
            </a:r>
            <a:r>
              <a:rPr lang="uk-UA" dirty="0">
                <a:solidFill>
                  <a:srgbClr val="004070"/>
                </a:solidFill>
              </a:rPr>
              <a:t>, но потом </a:t>
            </a:r>
            <a:r>
              <a:rPr lang="uk-UA" dirty="0" err="1">
                <a:solidFill>
                  <a:srgbClr val="004070"/>
                </a:solidFill>
              </a:rPr>
              <a:t>решили</a:t>
            </a:r>
            <a:r>
              <a:rPr lang="uk-UA" dirty="0">
                <a:solidFill>
                  <a:srgbClr val="004070"/>
                </a:solidFill>
              </a:rPr>
              <a:t> </a:t>
            </a:r>
            <a:r>
              <a:rPr lang="uk-UA" dirty="0" err="1">
                <a:solidFill>
                  <a:srgbClr val="004070"/>
                </a:solidFill>
              </a:rPr>
              <a:t>что</a:t>
            </a:r>
            <a:r>
              <a:rPr lang="uk-UA" dirty="0">
                <a:solidFill>
                  <a:srgbClr val="004070"/>
                </a:solidFill>
              </a:rPr>
              <a:t> все </a:t>
            </a:r>
            <a:r>
              <a:rPr lang="ru-RU" dirty="0">
                <a:solidFill>
                  <a:srgbClr val="004070"/>
                </a:solidFill>
              </a:rPr>
              <a:t>э</a:t>
            </a:r>
            <a:r>
              <a:rPr lang="uk-UA" dirty="0">
                <a:solidFill>
                  <a:srgbClr val="004070"/>
                </a:solidFill>
              </a:rPr>
              <a:t>то неправильно, и </a:t>
            </a:r>
            <a:r>
              <a:rPr lang="uk-UA" dirty="0" err="1">
                <a:solidFill>
                  <a:srgbClr val="004070"/>
                </a:solidFill>
              </a:rPr>
              <a:t>хотим</a:t>
            </a:r>
            <a:r>
              <a:rPr lang="uk-UA" dirty="0">
                <a:solidFill>
                  <a:srgbClr val="004070"/>
                </a:solidFill>
              </a:rPr>
              <a:t> </a:t>
            </a:r>
            <a:r>
              <a:rPr lang="uk-UA" dirty="0" err="1">
                <a:solidFill>
                  <a:srgbClr val="004070"/>
                </a:solidFill>
              </a:rPr>
              <a:t>восстановить</a:t>
            </a:r>
            <a:r>
              <a:rPr lang="uk-UA" dirty="0">
                <a:solidFill>
                  <a:srgbClr val="004070"/>
                </a:solidFill>
              </a:rPr>
              <a:t> файл </a:t>
            </a:r>
            <a:r>
              <a:rPr lang="uk-UA" dirty="0" err="1">
                <a:solidFill>
                  <a:srgbClr val="004070"/>
                </a:solidFill>
              </a:rPr>
              <a:t>из</a:t>
            </a:r>
            <a:r>
              <a:rPr lang="uk-UA" dirty="0">
                <a:solidFill>
                  <a:srgbClr val="004070"/>
                </a:solidFill>
              </a:rPr>
              <a:t> </a:t>
            </a:r>
            <a:r>
              <a:rPr lang="uk-UA" dirty="0" err="1">
                <a:solidFill>
                  <a:srgbClr val="004070"/>
                </a:solidFill>
              </a:rPr>
              <a:t>крайнего</a:t>
            </a:r>
            <a:r>
              <a:rPr lang="uk-UA" dirty="0">
                <a:solidFill>
                  <a:srgbClr val="004070"/>
                </a:solidFill>
              </a:rPr>
              <a:t> </a:t>
            </a:r>
            <a:r>
              <a:rPr lang="en-US" dirty="0">
                <a:solidFill>
                  <a:srgbClr val="004070"/>
                </a:solidFill>
              </a:rPr>
              <a:t>commit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73435" y="3030866"/>
            <a:ext cx="4047255" cy="738664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uk-UA" dirty="0" err="1">
                <a:solidFill>
                  <a:srgbClr val="004070"/>
                </a:solidFill>
              </a:rPr>
              <a:t>Выполним</a:t>
            </a:r>
            <a:r>
              <a:rPr lang="uk-UA" dirty="0">
                <a:solidFill>
                  <a:srgbClr val="004070"/>
                </a:solidFill>
              </a:rPr>
              <a:t> </a:t>
            </a:r>
            <a:r>
              <a:rPr lang="uk-UA" dirty="0" err="1">
                <a:solidFill>
                  <a:srgbClr val="004070"/>
                </a:solidFill>
              </a:rPr>
              <a:t>сначала</a:t>
            </a:r>
            <a:r>
              <a:rPr lang="uk-UA" dirty="0">
                <a:solidFill>
                  <a:srgbClr val="004070"/>
                </a:solidFill>
              </a:rPr>
              <a:t> команду</a:t>
            </a:r>
            <a:endParaRPr lang="en-US" dirty="0">
              <a:solidFill>
                <a:srgbClr val="004070"/>
              </a:solidFill>
            </a:endParaRPr>
          </a:p>
          <a:p>
            <a:r>
              <a:rPr lang="en-US" sz="2400" dirty="0">
                <a:solidFill>
                  <a:schemeClr val="accent2"/>
                </a:solidFill>
              </a:rPr>
              <a:t>$ </a:t>
            </a:r>
            <a:r>
              <a:rPr lang="en-US" sz="2400" dirty="0" err="1">
                <a:solidFill>
                  <a:schemeClr val="accent2"/>
                </a:solidFill>
              </a:rPr>
              <a:t>git</a:t>
            </a:r>
            <a:r>
              <a:rPr lang="ru-RU" sz="2400" dirty="0">
                <a:solidFill>
                  <a:schemeClr val="accent2"/>
                </a:solidFill>
              </a:rPr>
              <a:t> </a:t>
            </a:r>
            <a:r>
              <a:rPr lang="en-US" sz="2400" dirty="0">
                <a:solidFill>
                  <a:schemeClr val="accent2"/>
                </a:solidFill>
              </a:rPr>
              <a:t>status</a:t>
            </a:r>
            <a:endParaRPr lang="ru-RU" sz="2400" dirty="0">
              <a:solidFill>
                <a:srgbClr val="0070C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77694" y="2546041"/>
            <a:ext cx="2666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b="1" dirty="0"/>
              <a:t>Файл в </a:t>
            </a:r>
            <a:r>
              <a:rPr lang="uk-UA" b="1" dirty="0" err="1"/>
              <a:t>репозитории</a:t>
            </a:r>
            <a:endParaRPr lang="ru-RU" b="1" dirty="0"/>
          </a:p>
        </p:txBody>
      </p:sp>
      <p:sp>
        <p:nvSpPr>
          <p:cNvPr id="8" name="TextBox 7"/>
          <p:cNvSpPr txBox="1"/>
          <p:nvPr/>
        </p:nvSpPr>
        <p:spPr>
          <a:xfrm>
            <a:off x="4642190" y="2442586"/>
            <a:ext cx="36311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b="1" dirty="0" err="1"/>
              <a:t>Изменен</a:t>
            </a:r>
            <a:r>
              <a:rPr lang="ru-RU" b="1" dirty="0" err="1"/>
              <a:t>ый</a:t>
            </a:r>
            <a:r>
              <a:rPr lang="ru-RU" b="1" dirty="0"/>
              <a:t> ф</a:t>
            </a:r>
            <a:r>
              <a:rPr lang="uk-UA" b="1" dirty="0" err="1"/>
              <a:t>айл</a:t>
            </a:r>
            <a:r>
              <a:rPr lang="uk-UA" b="1" dirty="0"/>
              <a:t> в </a:t>
            </a:r>
            <a:r>
              <a:rPr lang="en-US" b="1" dirty="0" err="1"/>
              <a:t>WorkArea</a:t>
            </a:r>
            <a:endParaRPr lang="ru-RU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2843808" y="35332"/>
            <a:ext cx="3414391" cy="369332"/>
          </a:xfrm>
          <a:prstGeom prst="rect">
            <a:avLst/>
          </a:prstGeom>
          <a:solidFill>
            <a:schemeClr val="bg1">
              <a:lumMod val="75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pPr algn="ctr"/>
            <a:r>
              <a:rPr lang="uk-UA" dirty="0" err="1">
                <a:solidFill>
                  <a:schemeClr val="accent2"/>
                </a:solidFill>
              </a:rPr>
              <a:t>Лабараторная</a:t>
            </a:r>
            <a:r>
              <a:rPr lang="uk-UA" dirty="0">
                <a:solidFill>
                  <a:schemeClr val="accent2"/>
                </a:solidFill>
              </a:rPr>
              <a:t> </a:t>
            </a:r>
            <a:r>
              <a:rPr lang="uk-UA" dirty="0" err="1">
                <a:solidFill>
                  <a:schemeClr val="accent2"/>
                </a:solidFill>
              </a:rPr>
              <a:t>работа</a:t>
            </a:r>
            <a:r>
              <a:rPr lang="uk-UA" dirty="0">
                <a:solidFill>
                  <a:schemeClr val="accent2"/>
                </a:solidFill>
              </a:rPr>
              <a:t> 3</a:t>
            </a:r>
            <a:endParaRPr lang="ru-RU" dirty="0">
              <a:solidFill>
                <a:schemeClr val="accent2"/>
              </a:solidFill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57" y="1221820"/>
            <a:ext cx="3666092" cy="1208728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7984" y="1213503"/>
            <a:ext cx="4284836" cy="1200110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68" y="4005064"/>
            <a:ext cx="8715804" cy="244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559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3857" y="188640"/>
            <a:ext cx="5116215" cy="1938992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uk-UA" dirty="0" err="1">
                <a:solidFill>
                  <a:srgbClr val="004070"/>
                </a:solidFill>
              </a:rPr>
              <a:t>Выполняем</a:t>
            </a:r>
            <a:r>
              <a:rPr lang="uk-UA" dirty="0">
                <a:solidFill>
                  <a:srgbClr val="004070"/>
                </a:solidFill>
              </a:rPr>
              <a:t> команду</a:t>
            </a:r>
            <a:endParaRPr lang="en-US" dirty="0">
              <a:solidFill>
                <a:srgbClr val="004070"/>
              </a:solidFill>
            </a:endParaRPr>
          </a:p>
          <a:p>
            <a:r>
              <a:rPr lang="en-US" sz="2400" dirty="0">
                <a:solidFill>
                  <a:schemeClr val="accent2"/>
                </a:solidFill>
              </a:rPr>
              <a:t>$ </a:t>
            </a:r>
            <a:r>
              <a:rPr lang="en-US" sz="2400" dirty="0" err="1">
                <a:solidFill>
                  <a:schemeClr val="accent2"/>
                </a:solidFill>
              </a:rPr>
              <a:t>git</a:t>
            </a:r>
            <a:r>
              <a:rPr lang="en-US" sz="2400" dirty="0">
                <a:solidFill>
                  <a:schemeClr val="accent2"/>
                </a:solidFill>
              </a:rPr>
              <a:t> checkout -- </a:t>
            </a:r>
            <a:r>
              <a:rPr lang="uk-UA" sz="2400" dirty="0" err="1">
                <a:solidFill>
                  <a:srgbClr val="0070C0"/>
                </a:solidFill>
              </a:rPr>
              <a:t>имя_файла</a:t>
            </a:r>
            <a:endParaRPr lang="en-US" sz="2400" dirty="0">
              <a:solidFill>
                <a:srgbClr val="0070C0"/>
              </a:solidFill>
            </a:endParaRPr>
          </a:p>
          <a:p>
            <a:endParaRPr lang="en-US" dirty="0">
              <a:solidFill>
                <a:srgbClr val="0070C0"/>
              </a:solidFill>
            </a:endParaRPr>
          </a:p>
          <a:p>
            <a:r>
              <a:rPr lang="en-US" dirty="0">
                <a:solidFill>
                  <a:srgbClr val="0070C0"/>
                </a:solidFill>
              </a:rPr>
              <a:t>  </a:t>
            </a:r>
            <a:r>
              <a:rPr lang="uk-UA" dirty="0">
                <a:solidFill>
                  <a:srgbClr val="004070"/>
                </a:solidFill>
              </a:rPr>
              <a:t>и </a:t>
            </a:r>
            <a:r>
              <a:rPr lang="uk-UA" dirty="0" err="1">
                <a:solidFill>
                  <a:srgbClr val="004070"/>
                </a:solidFill>
              </a:rPr>
              <a:t>опять</a:t>
            </a:r>
            <a:r>
              <a:rPr lang="uk-UA" dirty="0">
                <a:solidFill>
                  <a:srgbClr val="004070"/>
                </a:solidFill>
              </a:rPr>
              <a:t> </a:t>
            </a:r>
            <a:r>
              <a:rPr lang="uk-UA" dirty="0" err="1">
                <a:solidFill>
                  <a:srgbClr val="004070"/>
                </a:solidFill>
              </a:rPr>
              <a:t>смотрим</a:t>
            </a:r>
            <a:endParaRPr lang="en-US" dirty="0">
              <a:solidFill>
                <a:srgbClr val="004070"/>
              </a:solidFill>
            </a:endParaRPr>
          </a:p>
          <a:p>
            <a:r>
              <a:rPr lang="uk-UA" dirty="0">
                <a:solidFill>
                  <a:srgbClr val="004070"/>
                </a:solidFill>
              </a:rPr>
              <a:t> 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en-US" sz="2400" dirty="0">
                <a:solidFill>
                  <a:schemeClr val="accent2"/>
                </a:solidFill>
              </a:rPr>
              <a:t>$ </a:t>
            </a:r>
            <a:r>
              <a:rPr lang="en-US" sz="2400" dirty="0" err="1">
                <a:solidFill>
                  <a:schemeClr val="accent2"/>
                </a:solidFill>
              </a:rPr>
              <a:t>git</a:t>
            </a:r>
            <a:r>
              <a:rPr lang="en-US" sz="2400" dirty="0">
                <a:solidFill>
                  <a:schemeClr val="accent2"/>
                </a:solidFill>
              </a:rPr>
              <a:t> status</a:t>
            </a:r>
            <a:endParaRPr lang="ru-RU" sz="2400" dirty="0">
              <a:solidFill>
                <a:srgbClr val="0070C0"/>
              </a:solidFill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57" y="2245187"/>
            <a:ext cx="8748464" cy="833187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60" y="3840610"/>
            <a:ext cx="8867528" cy="1172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2441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0966" y="478413"/>
            <a:ext cx="8975530" cy="1631216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dirty="0"/>
              <a:t>1.</a:t>
            </a:r>
            <a:r>
              <a:rPr lang="en-US" dirty="0"/>
              <a:t> </a:t>
            </a:r>
            <a:r>
              <a:rPr lang="ru-RU" dirty="0"/>
              <a:t>Если файл уже добавлен в </a:t>
            </a:r>
            <a:r>
              <a:rPr lang="ru-RU" dirty="0" err="1"/>
              <a:t>репозиторий</a:t>
            </a:r>
            <a:r>
              <a:rPr lang="ru-RU" dirty="0"/>
              <a:t> </a:t>
            </a:r>
            <a:r>
              <a:rPr lang="en-US" dirty="0"/>
              <a:t>GIT </a:t>
            </a:r>
            <a:r>
              <a:rPr lang="uk-UA" dirty="0"/>
              <a:t>то </a:t>
            </a:r>
            <a:r>
              <a:rPr lang="uk-UA" dirty="0" err="1"/>
              <a:t>после</a:t>
            </a:r>
            <a:r>
              <a:rPr lang="uk-UA" dirty="0"/>
              <a:t> его </a:t>
            </a:r>
          </a:p>
          <a:p>
            <a:r>
              <a:rPr lang="uk-UA" dirty="0"/>
              <a:t>   </a:t>
            </a:r>
            <a:r>
              <a:rPr lang="uk-UA" dirty="0" err="1"/>
              <a:t>изменения</a:t>
            </a:r>
            <a:r>
              <a:rPr lang="uk-UA" dirty="0"/>
              <a:t> </a:t>
            </a:r>
            <a:r>
              <a:rPr lang="uk-UA" dirty="0" err="1"/>
              <a:t>можно</a:t>
            </a:r>
            <a:r>
              <a:rPr lang="uk-UA" dirty="0"/>
              <a:t> </a:t>
            </a:r>
            <a:r>
              <a:rPr lang="uk-UA" dirty="0" err="1"/>
              <a:t>осущесвлять</a:t>
            </a:r>
            <a:r>
              <a:rPr lang="uk-UA" dirty="0"/>
              <a:t> </a:t>
            </a:r>
            <a:r>
              <a:rPr lang="en-US" dirty="0"/>
              <a:t>commit </a:t>
            </a:r>
            <a:r>
              <a:rPr lang="uk-UA" dirty="0" err="1"/>
              <a:t>файла</a:t>
            </a:r>
            <a:r>
              <a:rPr lang="uk-UA" dirty="0"/>
              <a:t> </a:t>
            </a:r>
            <a:r>
              <a:rPr lang="uk-UA" dirty="0" err="1"/>
              <a:t>минуя</a:t>
            </a:r>
            <a:r>
              <a:rPr lang="uk-UA" dirty="0"/>
              <a:t> </a:t>
            </a:r>
            <a:r>
              <a:rPr lang="en-US" dirty="0" err="1"/>
              <a:t>StageArea</a:t>
            </a:r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en-US" sz="2800" dirty="0">
                <a:solidFill>
                  <a:schemeClr val="accent2"/>
                </a:solidFill>
              </a:rPr>
              <a:t>$ </a:t>
            </a:r>
            <a:r>
              <a:rPr lang="en-US" sz="2800" dirty="0" err="1">
                <a:solidFill>
                  <a:schemeClr val="accent2"/>
                </a:solidFill>
              </a:rPr>
              <a:t>git</a:t>
            </a:r>
            <a:r>
              <a:rPr lang="en-US" sz="2800" dirty="0">
                <a:solidFill>
                  <a:schemeClr val="accent2"/>
                </a:solidFill>
              </a:rPr>
              <a:t> commit –am  "</a:t>
            </a:r>
            <a:r>
              <a:rPr lang="ru-RU" sz="2800" dirty="0">
                <a:solidFill>
                  <a:srgbClr val="0070C0"/>
                </a:solidFill>
              </a:rPr>
              <a:t>ОПИСАНИЕ КОММИТА</a:t>
            </a:r>
            <a:r>
              <a:rPr lang="en-US" sz="2800" dirty="0">
                <a:solidFill>
                  <a:schemeClr val="accent2"/>
                </a:solidFill>
              </a:rPr>
              <a:t>" </a:t>
            </a:r>
            <a:endParaRPr lang="ru-RU" sz="2800" dirty="0"/>
          </a:p>
        </p:txBody>
      </p:sp>
      <p:sp>
        <p:nvSpPr>
          <p:cNvPr id="21" name="TextBox 20"/>
          <p:cNvSpPr txBox="1"/>
          <p:nvPr/>
        </p:nvSpPr>
        <p:spPr>
          <a:xfrm>
            <a:off x="2843808" y="35332"/>
            <a:ext cx="3414391" cy="369332"/>
          </a:xfrm>
          <a:prstGeom prst="rect">
            <a:avLst/>
          </a:prstGeom>
          <a:solidFill>
            <a:schemeClr val="bg1">
              <a:lumMod val="75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pPr algn="ctr"/>
            <a:r>
              <a:rPr lang="uk-UA" dirty="0" err="1">
                <a:solidFill>
                  <a:schemeClr val="accent2"/>
                </a:solidFill>
              </a:rPr>
              <a:t>Лабараторная</a:t>
            </a:r>
            <a:r>
              <a:rPr lang="uk-UA" dirty="0">
                <a:solidFill>
                  <a:schemeClr val="accent2"/>
                </a:solidFill>
              </a:rPr>
              <a:t> </a:t>
            </a:r>
            <a:r>
              <a:rPr lang="uk-UA" dirty="0" err="1">
                <a:solidFill>
                  <a:schemeClr val="accent2"/>
                </a:solidFill>
              </a:rPr>
              <a:t>работа</a:t>
            </a:r>
            <a:r>
              <a:rPr lang="uk-UA" dirty="0">
                <a:solidFill>
                  <a:schemeClr val="accent2"/>
                </a:solidFill>
              </a:rPr>
              <a:t> 4</a:t>
            </a:r>
            <a:endParaRPr lang="ru-RU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77214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4235" y="116632"/>
            <a:ext cx="8975530" cy="646331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uk-UA" dirty="0"/>
              <a:t>2.Сделали </a:t>
            </a:r>
            <a:r>
              <a:rPr lang="en-US" dirty="0">
                <a:solidFill>
                  <a:srgbClr val="C00000"/>
                </a:solidFill>
              </a:rPr>
              <a:t>commit</a:t>
            </a:r>
            <a:r>
              <a:rPr lang="uk-UA" dirty="0"/>
              <a:t> </a:t>
            </a:r>
            <a:r>
              <a:rPr lang="uk-UA" dirty="0" err="1"/>
              <a:t>файла</a:t>
            </a:r>
            <a:r>
              <a:rPr lang="uk-UA" dirty="0"/>
              <a:t>, потом внесли </a:t>
            </a:r>
            <a:r>
              <a:rPr lang="uk-UA" dirty="0" err="1"/>
              <a:t>изменения</a:t>
            </a:r>
            <a:r>
              <a:rPr lang="uk-UA" dirty="0"/>
              <a:t> в </a:t>
            </a:r>
            <a:r>
              <a:rPr lang="uk-UA" dirty="0" err="1"/>
              <a:t>этот</a:t>
            </a:r>
            <a:r>
              <a:rPr lang="uk-UA" dirty="0"/>
              <a:t> файл и </a:t>
            </a:r>
            <a:r>
              <a:rPr lang="uk-UA" dirty="0" err="1"/>
              <a:t>хотим</a:t>
            </a:r>
            <a:r>
              <a:rPr lang="uk-UA" dirty="0"/>
              <a:t> </a:t>
            </a:r>
            <a:r>
              <a:rPr lang="uk-UA" dirty="0" err="1"/>
              <a:t>чтобы</a:t>
            </a:r>
            <a:r>
              <a:rPr lang="uk-UA" dirty="0"/>
              <a:t> </a:t>
            </a:r>
            <a:r>
              <a:rPr lang="uk-UA" dirty="0" err="1"/>
              <a:t>эти</a:t>
            </a:r>
            <a:r>
              <a:rPr lang="uk-UA" dirty="0"/>
              <a:t> </a:t>
            </a:r>
            <a:r>
              <a:rPr lang="uk-UA" dirty="0" err="1"/>
              <a:t>изменения</a:t>
            </a:r>
            <a:r>
              <a:rPr lang="uk-UA" dirty="0"/>
              <a:t> </a:t>
            </a:r>
            <a:r>
              <a:rPr lang="uk-UA" dirty="0" err="1"/>
              <a:t>вошли</a:t>
            </a:r>
            <a:r>
              <a:rPr lang="uk-UA" dirty="0"/>
              <a:t> в </a:t>
            </a:r>
            <a:r>
              <a:rPr lang="uk-UA" dirty="0">
                <a:solidFill>
                  <a:srgbClr val="0070C0"/>
                </a:solidFill>
              </a:rPr>
              <a:t>уже </a:t>
            </a:r>
            <a:r>
              <a:rPr lang="uk-UA" dirty="0" err="1">
                <a:solidFill>
                  <a:srgbClr val="0070C0"/>
                </a:solidFill>
              </a:rPr>
              <a:t>сделанный</a:t>
            </a:r>
            <a:r>
              <a:rPr lang="uk-UA" dirty="0"/>
              <a:t> </a:t>
            </a:r>
            <a:r>
              <a:rPr lang="en-US" dirty="0">
                <a:solidFill>
                  <a:srgbClr val="C00000"/>
                </a:solidFill>
              </a:rPr>
              <a:t>commit</a:t>
            </a:r>
            <a:r>
              <a:rPr lang="ru-RU" dirty="0"/>
              <a:t> </a:t>
            </a:r>
          </a:p>
        </p:txBody>
      </p:sp>
      <p:cxnSp>
        <p:nvCxnSpPr>
          <p:cNvPr id="6" name="Прямая соединительная линия 5"/>
          <p:cNvCxnSpPr/>
          <p:nvPr/>
        </p:nvCxnSpPr>
        <p:spPr>
          <a:xfrm>
            <a:off x="6732240" y="2348880"/>
            <a:ext cx="0" cy="2376264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Овал 6"/>
          <p:cNvSpPr/>
          <p:nvPr/>
        </p:nvSpPr>
        <p:spPr>
          <a:xfrm>
            <a:off x="6552220" y="2290621"/>
            <a:ext cx="360040" cy="360040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rgbClr val="00407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/>
          <p:cNvSpPr/>
          <p:nvPr/>
        </p:nvSpPr>
        <p:spPr>
          <a:xfrm>
            <a:off x="6560231" y="3068960"/>
            <a:ext cx="360040" cy="360040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rgbClr val="00407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Овал 8"/>
          <p:cNvSpPr/>
          <p:nvPr/>
        </p:nvSpPr>
        <p:spPr>
          <a:xfrm>
            <a:off x="6560231" y="3847299"/>
            <a:ext cx="360040" cy="360040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rgbClr val="00407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Стрелка влево 13"/>
          <p:cNvSpPr/>
          <p:nvPr/>
        </p:nvSpPr>
        <p:spPr>
          <a:xfrm>
            <a:off x="7116789" y="3638149"/>
            <a:ext cx="1224136" cy="778339"/>
          </a:xfrm>
          <a:prstGeom prst="leftArrow">
            <a:avLst/>
          </a:prstGeom>
          <a:solidFill>
            <a:schemeClr val="accent2"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HEAD</a:t>
            </a:r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47262" y="1024143"/>
            <a:ext cx="5616624" cy="1785104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sz="2000" dirty="0">
                <a:solidFill>
                  <a:schemeClr val="accent2"/>
                </a:solidFill>
              </a:rPr>
              <a:t>$ </a:t>
            </a:r>
            <a:r>
              <a:rPr lang="en-US" sz="2000" dirty="0" err="1">
                <a:solidFill>
                  <a:schemeClr val="accent2"/>
                </a:solidFill>
              </a:rPr>
              <a:t>git</a:t>
            </a:r>
            <a:r>
              <a:rPr lang="en-US" sz="2000" dirty="0">
                <a:solidFill>
                  <a:schemeClr val="accent2"/>
                </a:solidFill>
              </a:rPr>
              <a:t> reset –soft HEAD^</a:t>
            </a:r>
          </a:p>
          <a:p>
            <a:r>
              <a:rPr lang="uk-UA" dirty="0"/>
              <a:t>то</a:t>
            </a:r>
            <a:r>
              <a:rPr lang="en-US" dirty="0"/>
              <a:t> </a:t>
            </a:r>
            <a:r>
              <a:rPr lang="uk-UA" dirty="0" err="1"/>
              <a:t>есть</a:t>
            </a:r>
            <a:r>
              <a:rPr lang="uk-UA" dirty="0"/>
              <a:t> на </a:t>
            </a:r>
            <a:r>
              <a:rPr lang="uk-UA" dirty="0" err="1"/>
              <a:t>шкале</a:t>
            </a:r>
            <a:r>
              <a:rPr lang="uk-UA" dirty="0"/>
              <a:t> </a:t>
            </a:r>
            <a:r>
              <a:rPr lang="uk-UA" dirty="0" err="1"/>
              <a:t>коммитов</a:t>
            </a:r>
            <a:r>
              <a:rPr lang="uk-UA" dirty="0"/>
              <a:t> </a:t>
            </a:r>
            <a:r>
              <a:rPr lang="uk-UA" dirty="0" err="1"/>
              <a:t>двигаем</a:t>
            </a:r>
            <a:r>
              <a:rPr lang="uk-UA" dirty="0"/>
              <a:t> </a:t>
            </a:r>
            <a:r>
              <a:rPr lang="en-US" dirty="0"/>
              <a:t>HEAD </a:t>
            </a:r>
            <a:r>
              <a:rPr lang="uk-UA" dirty="0"/>
              <a:t>на 1 шаг назад</a:t>
            </a:r>
          </a:p>
          <a:p>
            <a:endParaRPr lang="en-US" dirty="0"/>
          </a:p>
          <a:p>
            <a:r>
              <a:rPr lang="en-US" dirty="0">
                <a:solidFill>
                  <a:schemeClr val="accent2"/>
                </a:solidFill>
              </a:rPr>
              <a:t>^^ </a:t>
            </a:r>
            <a:r>
              <a:rPr lang="en-US" dirty="0"/>
              <a:t>-&gt; </a:t>
            </a:r>
            <a:r>
              <a:rPr lang="uk-UA" dirty="0"/>
              <a:t>два </a:t>
            </a:r>
            <a:r>
              <a:rPr lang="uk-UA" dirty="0" err="1"/>
              <a:t>шага</a:t>
            </a:r>
            <a:r>
              <a:rPr lang="uk-UA" dirty="0"/>
              <a:t> назад</a:t>
            </a:r>
          </a:p>
          <a:p>
            <a:r>
              <a:rPr lang="en-US" dirty="0">
                <a:solidFill>
                  <a:schemeClr val="accent2"/>
                </a:solidFill>
              </a:rPr>
              <a:t>HEAD~3</a:t>
            </a:r>
            <a:r>
              <a:rPr lang="en-US" dirty="0"/>
              <a:t>  -&gt; </a:t>
            </a:r>
            <a:r>
              <a:rPr lang="uk-UA" dirty="0"/>
              <a:t>три </a:t>
            </a:r>
            <a:r>
              <a:rPr lang="uk-UA" dirty="0" err="1"/>
              <a:t>шага</a:t>
            </a:r>
            <a:r>
              <a:rPr lang="uk-UA" dirty="0"/>
              <a:t> назад</a:t>
            </a:r>
            <a:endParaRPr lang="ru-RU" dirty="0"/>
          </a:p>
        </p:txBody>
      </p:sp>
      <p:sp>
        <p:nvSpPr>
          <p:cNvPr id="18" name="TextBox 17"/>
          <p:cNvSpPr txBox="1"/>
          <p:nvPr/>
        </p:nvSpPr>
        <p:spPr>
          <a:xfrm>
            <a:off x="84235" y="3105834"/>
            <a:ext cx="5616624" cy="646331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uk-UA" dirty="0" err="1"/>
              <a:t>Теперь</a:t>
            </a:r>
            <a:r>
              <a:rPr lang="uk-UA" dirty="0"/>
              <a:t> </a:t>
            </a:r>
            <a:r>
              <a:rPr lang="uk-UA" dirty="0" err="1"/>
              <a:t>можно</a:t>
            </a:r>
            <a:r>
              <a:rPr lang="uk-UA" dirty="0"/>
              <a:t> вносить </a:t>
            </a:r>
            <a:r>
              <a:rPr lang="uk-UA" dirty="0" err="1"/>
              <a:t>изменения</a:t>
            </a:r>
            <a:r>
              <a:rPr lang="uk-UA" dirty="0"/>
              <a:t> и </a:t>
            </a:r>
            <a:r>
              <a:rPr lang="uk-UA" dirty="0" err="1"/>
              <a:t>делать</a:t>
            </a:r>
            <a:endParaRPr lang="uk-UA" dirty="0"/>
          </a:p>
          <a:p>
            <a:r>
              <a:rPr lang="en-US" dirty="0"/>
              <a:t>commit</a:t>
            </a:r>
            <a:endParaRPr lang="ru-RU" dirty="0"/>
          </a:p>
        </p:txBody>
      </p:sp>
      <p:sp>
        <p:nvSpPr>
          <p:cNvPr id="19" name="Умножение 18"/>
          <p:cNvSpPr/>
          <p:nvPr/>
        </p:nvSpPr>
        <p:spPr>
          <a:xfrm>
            <a:off x="6295391" y="3583433"/>
            <a:ext cx="873697" cy="936104"/>
          </a:xfrm>
          <a:prstGeom prst="mathMultiply">
            <a:avLst>
              <a:gd name="adj1" fmla="val 13802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6194871" y="4673970"/>
            <a:ext cx="3690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t</a:t>
            </a:r>
            <a:endParaRPr lang="ru-RU" b="1" dirty="0">
              <a:solidFill>
                <a:srgbClr val="0070C0"/>
              </a:solidFill>
            </a:endParaRPr>
          </a:p>
        </p:txBody>
      </p:sp>
      <p:cxnSp>
        <p:nvCxnSpPr>
          <p:cNvPr id="10" name="Прямая со стрелкой 9"/>
          <p:cNvCxnSpPr/>
          <p:nvPr/>
        </p:nvCxnSpPr>
        <p:spPr>
          <a:xfrm>
            <a:off x="6730727" y="4722763"/>
            <a:ext cx="0" cy="288032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8787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1.48148E-6 L -0.00469 -0.11875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3" y="-594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4" grpId="0" animBg="1"/>
      <p:bldP spid="14" grpId="1" animBg="1"/>
      <p:bldP spid="15" grpId="0" animBg="1"/>
      <p:bldP spid="18" grpId="0" animBg="1"/>
      <p:bldP spid="1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45841" y="35332"/>
            <a:ext cx="2694311" cy="369332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uk-UA" dirty="0" err="1">
                <a:solidFill>
                  <a:srgbClr val="002060"/>
                </a:solidFill>
              </a:rPr>
              <a:t>Домашнее</a:t>
            </a:r>
            <a:r>
              <a:rPr lang="uk-UA" dirty="0">
                <a:solidFill>
                  <a:srgbClr val="002060"/>
                </a:solidFill>
              </a:rPr>
              <a:t> </a:t>
            </a:r>
            <a:r>
              <a:rPr lang="uk-UA" dirty="0" err="1">
                <a:solidFill>
                  <a:srgbClr val="002060"/>
                </a:solidFill>
              </a:rPr>
              <a:t>задание</a:t>
            </a:r>
            <a:endParaRPr lang="ru-RU" dirty="0">
              <a:solidFill>
                <a:srgbClr val="00206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76482" y="496704"/>
            <a:ext cx="8975530" cy="3416320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dirty="0"/>
              <a:t>1. Для работы в команде </a:t>
            </a:r>
            <a:r>
              <a:rPr lang="ru-RU" dirty="0" err="1"/>
              <a:t>использкют</a:t>
            </a:r>
            <a:r>
              <a:rPr lang="uk-UA" dirty="0"/>
              <a:t> </a:t>
            </a:r>
            <a:r>
              <a:rPr lang="uk-UA" dirty="0" err="1"/>
              <a:t>удаленные</a:t>
            </a:r>
            <a:r>
              <a:rPr lang="en-US" dirty="0"/>
              <a:t>(remote)</a:t>
            </a:r>
            <a:r>
              <a:rPr lang="uk-UA" dirty="0"/>
              <a:t> </a:t>
            </a:r>
            <a:r>
              <a:rPr lang="uk-UA" dirty="0" err="1"/>
              <a:t>репозитории</a:t>
            </a:r>
            <a:endParaRPr lang="uk-UA" dirty="0"/>
          </a:p>
          <a:p>
            <a:endParaRPr lang="en-US" dirty="0"/>
          </a:p>
          <a:p>
            <a:r>
              <a:rPr lang="en-US" dirty="0"/>
              <a:t>  </a:t>
            </a:r>
            <a:r>
              <a:rPr lang="en-US" dirty="0">
                <a:hlinkClick r:id="rId3"/>
              </a:rPr>
              <a:t>https://github.com</a:t>
            </a:r>
            <a:r>
              <a:rPr lang="en-US" dirty="0"/>
              <a:t> </a:t>
            </a:r>
          </a:p>
          <a:p>
            <a:r>
              <a:rPr lang="en-US" dirty="0">
                <a:hlinkClick r:id="rId4"/>
              </a:rPr>
              <a:t>  </a:t>
            </a:r>
          </a:p>
          <a:p>
            <a:r>
              <a:rPr lang="en-US" dirty="0">
                <a:hlinkClick r:id="rId4"/>
              </a:rPr>
              <a:t>  https://about.gitlab.com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  </a:t>
            </a:r>
            <a:r>
              <a:rPr lang="en-US" dirty="0">
                <a:hlinkClick r:id="rId5"/>
              </a:rPr>
              <a:t>https://bitbucket.org</a:t>
            </a:r>
            <a:r>
              <a:rPr lang="en-US" dirty="0"/>
              <a:t>	</a:t>
            </a:r>
          </a:p>
          <a:p>
            <a:endParaRPr lang="en-US" dirty="0"/>
          </a:p>
          <a:p>
            <a:endParaRPr lang="uk-UA" dirty="0"/>
          </a:p>
          <a:p>
            <a:endParaRPr lang="uk-UA" dirty="0"/>
          </a:p>
          <a:p>
            <a:r>
              <a:rPr lang="ru-RU" dirty="0"/>
              <a:t>Задача – </a:t>
            </a:r>
            <a:r>
              <a:rPr lang="ru-RU" dirty="0" err="1"/>
              <a:t>зарегестрироваться</a:t>
            </a:r>
            <a:r>
              <a:rPr lang="ru-RU" dirty="0"/>
              <a:t> на них, и на следующее занятие данные  регистрации иметь с собой.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9485" y="4293096"/>
            <a:ext cx="8975530" cy="369332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dirty="0"/>
              <a:t>2. Выполнить самостоятельно </a:t>
            </a:r>
            <a:r>
              <a:rPr lang="ru-RU" dirty="0" err="1"/>
              <a:t>лабараторные</a:t>
            </a:r>
            <a:r>
              <a:rPr lang="ru-RU" dirty="0"/>
              <a:t> работы  1, 2, 3, 4 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9126454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38049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Прямая соединительная линия 16"/>
          <p:cNvCxnSpPr/>
          <p:nvPr/>
        </p:nvCxnSpPr>
        <p:spPr>
          <a:xfrm>
            <a:off x="5892761" y="432121"/>
            <a:ext cx="34157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/>
          <p:nvPr/>
        </p:nvCxnSpPr>
        <p:spPr>
          <a:xfrm>
            <a:off x="5276581" y="764704"/>
            <a:ext cx="151216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/>
          <p:cNvCxnSpPr/>
          <p:nvPr/>
        </p:nvCxnSpPr>
        <p:spPr>
          <a:xfrm>
            <a:off x="7596336" y="362478"/>
            <a:ext cx="0" cy="8044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/>
          <p:nvPr/>
        </p:nvCxnSpPr>
        <p:spPr>
          <a:xfrm>
            <a:off x="6732240" y="2348880"/>
            <a:ext cx="0" cy="2376264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Овал 19"/>
          <p:cNvSpPr/>
          <p:nvPr/>
        </p:nvSpPr>
        <p:spPr>
          <a:xfrm>
            <a:off x="6552220" y="2290621"/>
            <a:ext cx="360040" cy="360040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rgbClr val="00407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Овал 20"/>
          <p:cNvSpPr/>
          <p:nvPr/>
        </p:nvSpPr>
        <p:spPr>
          <a:xfrm>
            <a:off x="6560231" y="3068960"/>
            <a:ext cx="360040" cy="360040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rgbClr val="00407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Овал 21"/>
          <p:cNvSpPr/>
          <p:nvPr/>
        </p:nvSpPr>
        <p:spPr>
          <a:xfrm>
            <a:off x="6560231" y="3847299"/>
            <a:ext cx="360040" cy="360040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rgbClr val="00407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Стрелка влево 22"/>
          <p:cNvSpPr/>
          <p:nvPr/>
        </p:nvSpPr>
        <p:spPr>
          <a:xfrm>
            <a:off x="7092280" y="2081471"/>
            <a:ext cx="1224136" cy="778339"/>
          </a:xfrm>
          <a:prstGeom prst="leftArrow">
            <a:avLst/>
          </a:prstGeom>
          <a:solidFill>
            <a:schemeClr val="accent2"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HEAD</a:t>
            </a:r>
            <a:endParaRPr lang="ru-RU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1917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4.81481E-6 L -0.00399 0.10833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8" y="54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3" grpId="1" animBg="1"/>
    </p:bldLst>
  </p:timing>
</p:sld>
</file>

<file path=ppt/theme/theme1.xml><?xml version="1.0" encoding="utf-8"?>
<a:theme xmlns:a="http://schemas.openxmlformats.org/drawingml/2006/main" name="Тема Office">
  <a:themeElements>
    <a:clrScheme name="Метро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Cour">
      <a:majorFont>
        <a:latin typeface="Courier New"/>
        <a:ea typeface=""/>
        <a:cs typeface=""/>
      </a:majorFont>
      <a:minorFont>
        <a:latin typeface="Courier New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4739</TotalTime>
  <Words>1057</Words>
  <Application>Microsoft Office PowerPoint</Application>
  <PresentationFormat>Экран (4:3)</PresentationFormat>
  <Paragraphs>195</Paragraphs>
  <Slides>18</Slides>
  <Notes>18</Notes>
  <HiddenSlides>1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2" baseType="lpstr">
      <vt:lpstr>Arial</vt:lpstr>
      <vt:lpstr>Calibri</vt:lpstr>
      <vt:lpstr>Courier New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*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roman</dc:creator>
  <cp:lastModifiedBy>Роман Никифоров</cp:lastModifiedBy>
  <cp:revision>752</cp:revision>
  <dcterms:created xsi:type="dcterms:W3CDTF">2012-03-08T07:38:11Z</dcterms:created>
  <dcterms:modified xsi:type="dcterms:W3CDTF">2022-01-24T16:22:37Z</dcterms:modified>
</cp:coreProperties>
</file>