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8"/>
  </p:notesMasterIdLst>
  <p:sldIdLst>
    <p:sldId id="256" r:id="rId2"/>
    <p:sldId id="277" r:id="rId3"/>
    <p:sldId id="278" r:id="rId4"/>
    <p:sldId id="280" r:id="rId5"/>
    <p:sldId id="281" r:id="rId6"/>
    <p:sldId id="283" r:id="rId7"/>
    <p:sldId id="284" r:id="rId8"/>
    <p:sldId id="272" r:id="rId9"/>
    <p:sldId id="279" r:id="rId10"/>
    <p:sldId id="286" r:id="rId11"/>
    <p:sldId id="274" r:id="rId12"/>
    <p:sldId id="282" r:id="rId13"/>
    <p:sldId id="289" r:id="rId14"/>
    <p:sldId id="287" r:id="rId15"/>
    <p:sldId id="297" r:id="rId16"/>
    <p:sldId id="296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456A1C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514" autoAdjust="0"/>
  </p:normalViewPr>
  <p:slideViewPr>
    <p:cSldViewPr>
      <p:cViewPr varScale="1">
        <p:scale>
          <a:sx n="108" d="100"/>
          <a:sy n="108" d="100"/>
        </p:scale>
        <p:origin x="171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7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Lists and Tables</a:t>
            </a:r>
            <a:endParaRPr lang="ru-RU" sz="72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843808" y="140995"/>
            <a:ext cx="266429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писки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520" y="1418580"/>
            <a:ext cx="4176464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&lt;li&gt;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Первый пункт&lt;/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&lt;li&gt;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Второй пункт&lt;/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&lt;li&gt;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Третий пункт&lt;/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&lt;li&gt;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Четвертый пункт&lt;/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&lt;li&gt;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Пятый пункт&lt;/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1538941"/>
            <a:ext cx="2565985" cy="15751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520" y="4229799"/>
            <a:ext cx="8712968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А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внутри  элементов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&lt;li&gt; …&lt;/li&gt;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может находится любой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контент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(например ссылки, изображения, параграфы, другие списки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&gt;…&lt;/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Перед контентом  который находится  в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&lt;li&gt; …&lt;/li&gt;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образуются маркеры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96" y="591123"/>
            <a:ext cx="5904656" cy="369332"/>
          </a:xfrm>
          <a:prstGeom prst="rect">
            <a:avLst/>
          </a:prstGeom>
          <a:solidFill>
            <a:srgbClr val="00B050">
              <a:alpha val="9000"/>
            </a:srgbClr>
          </a:solidFill>
        </p:spPr>
        <p:txBody>
          <a:bodyPr wrap="square" rtlCol="0">
            <a:spAutoFit/>
          </a:bodyPr>
          <a:lstStyle/>
          <a:p>
            <a:r>
              <a:rPr lang="uk-UA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Маркированный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список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unordered list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520" y="3645024"/>
            <a:ext cx="8712968" cy="584775"/>
          </a:xfrm>
          <a:prstGeom prst="rect">
            <a:avLst/>
          </a:prstGeom>
          <a:solidFill>
            <a:srgbClr val="00B050">
              <a:alpha val="12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– 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блочный элемент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Внутри элементов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могут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находится только элементы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&lt;li&gt;</a:t>
            </a:r>
            <a:endParaRPr lang="ru-R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Стрелка вправо 1"/>
          <p:cNvSpPr/>
          <p:nvPr/>
        </p:nvSpPr>
        <p:spPr>
          <a:xfrm>
            <a:off x="4716016" y="2110496"/>
            <a:ext cx="1368152" cy="432048"/>
          </a:xfrm>
          <a:prstGeom prst="rightArrow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309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2696"/>
            <a:ext cx="4113892" cy="5225226"/>
          </a:xfrm>
          <a:prstGeom prst="rect">
            <a:avLst/>
          </a:prstGeom>
        </p:spPr>
      </p:pic>
      <p:sp>
        <p:nvSpPr>
          <p:cNvPr id="6" name="Заголовок 2"/>
          <p:cNvSpPr txBox="1">
            <a:spLocks/>
          </p:cNvSpPr>
          <p:nvPr/>
        </p:nvSpPr>
        <p:spPr>
          <a:xfrm>
            <a:off x="2771800" y="83533"/>
            <a:ext cx="3888432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extLst/>
          </a:lstStyle>
          <a:p>
            <a:r>
              <a:rPr lang="ru-RU" dirty="0"/>
              <a:t>Маркеры списков</a:t>
            </a:r>
          </a:p>
        </p:txBody>
      </p:sp>
      <p:sp>
        <p:nvSpPr>
          <p:cNvPr id="4" name="Стрелка влево 3"/>
          <p:cNvSpPr/>
          <p:nvPr/>
        </p:nvSpPr>
        <p:spPr>
          <a:xfrm>
            <a:off x="3995936" y="1105127"/>
            <a:ext cx="2520280" cy="792088"/>
          </a:xfrm>
          <a:prstGeom prst="leftArrow">
            <a:avLst/>
          </a:prstGeom>
          <a:solidFill>
            <a:schemeClr val="accent1">
              <a:alpha val="13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По умолчанию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7301" y="2204864"/>
            <a:ext cx="4884989" cy="923330"/>
          </a:xfrm>
          <a:prstGeom prst="rect">
            <a:avLst/>
          </a:prstGeom>
          <a:solidFill>
            <a:srgbClr val="FFFF00">
              <a:alpha val="7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Вид маркера списку задается с помощью атрибута  тега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type= "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тип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9952" y="3645024"/>
            <a:ext cx="4464496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base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base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520" y="6021288"/>
            <a:ext cx="8568952" cy="707886"/>
          </a:xfrm>
          <a:prstGeom prst="rect">
            <a:avLst/>
          </a:prstGeom>
          <a:solidFill>
            <a:schemeClr val="accent2">
              <a:lumMod val="40000"/>
              <a:lumOff val="60000"/>
              <a:alpha val="31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Атрибут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"</a:t>
            </a:r>
            <a:r>
              <a:rPr lang="ru-RU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можно также присваивать элементам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&lt;li&gt;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70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51302"/>
            <a:ext cx="6480720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uk-UA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Нумерованный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список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(ordered list)</a:t>
            </a:r>
          </a:p>
        </p:txBody>
      </p:sp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254000" y="5711825"/>
            <a:ext cx="26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AFAFAF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 </a:t>
            </a:r>
          </a:p>
        </p:txBody>
      </p:sp>
      <p:sp>
        <p:nvSpPr>
          <p:cNvPr id="155694" name="Rectangle 46"/>
          <p:cNvSpPr>
            <a:spLocks noChangeArrowheads="1"/>
          </p:cNvSpPr>
          <p:nvPr/>
        </p:nvSpPr>
        <p:spPr bwMode="auto">
          <a:xfrm>
            <a:off x="107504" y="836712"/>
            <a:ext cx="5328592" cy="1938992"/>
          </a:xfrm>
          <a:prstGeom prst="rect">
            <a:avLst/>
          </a:prstGeom>
          <a:noFill/>
          <a:ln w="9525" algn="ctr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AFAFAF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sz="2000" b="1" dirty="0">
                <a:latin typeface="Courier New" pitchFamily="49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ol</a:t>
            </a:r>
            <a:r>
              <a:rPr lang="en-US" sz="2000" b="1" dirty="0">
                <a:latin typeface="Courier New" pitchFamily="49" charset="0"/>
              </a:rPr>
              <a:t>&gt; </a:t>
            </a:r>
            <a:endParaRPr lang="uk-UA" sz="2000" b="1" dirty="0">
              <a:latin typeface="Courier New" pitchFamily="49" charset="0"/>
            </a:endParaRPr>
          </a:p>
          <a:p>
            <a:pPr eaLnBrk="0" hangingPunct="0"/>
            <a:r>
              <a:rPr lang="en-US" sz="2000" b="1" dirty="0">
                <a:latin typeface="Courier New" pitchFamily="49" charset="0"/>
              </a:rPr>
              <a:t>	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li</a:t>
            </a:r>
            <a:r>
              <a:rPr lang="en-US" sz="2000" b="1" dirty="0">
                <a:latin typeface="Courier New" pitchFamily="49" charset="0"/>
              </a:rPr>
              <a:t>&gt;</a:t>
            </a:r>
            <a:r>
              <a:rPr lang="en-US" sz="2000" b="1" dirty="0" err="1">
                <a:latin typeface="Courier New" pitchFamily="49" charset="0"/>
              </a:rPr>
              <a:t>первый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элемент</a:t>
            </a:r>
            <a:r>
              <a:rPr lang="en-US" sz="2000" b="1" dirty="0">
                <a:latin typeface="Courier New" pitchFamily="49" charset="0"/>
              </a:rPr>
              <a:t>&lt;/li&gt; </a:t>
            </a:r>
          </a:p>
          <a:p>
            <a:pPr eaLnBrk="0" hangingPunct="0"/>
            <a:r>
              <a:rPr lang="en-US" sz="2000" b="1" dirty="0">
                <a:latin typeface="Courier New" pitchFamily="49" charset="0"/>
              </a:rPr>
              <a:t>	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li</a:t>
            </a:r>
            <a:r>
              <a:rPr lang="en-US" sz="2000" b="1" dirty="0">
                <a:latin typeface="Courier New" pitchFamily="49" charset="0"/>
              </a:rPr>
              <a:t>&gt;</a:t>
            </a:r>
            <a:r>
              <a:rPr lang="en-US" sz="2000" b="1" dirty="0" err="1">
                <a:latin typeface="Courier New" pitchFamily="49" charset="0"/>
              </a:rPr>
              <a:t>второй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элемент</a:t>
            </a:r>
            <a:r>
              <a:rPr lang="en-US" sz="2000" b="1" dirty="0">
                <a:latin typeface="Courier New" pitchFamily="49" charset="0"/>
              </a:rPr>
              <a:t>&lt;/li&gt; </a:t>
            </a:r>
          </a:p>
          <a:p>
            <a:pPr eaLnBrk="0" hangingPunct="0"/>
            <a:r>
              <a:rPr lang="en-US" sz="2000" b="1" dirty="0">
                <a:latin typeface="Courier New" pitchFamily="49" charset="0"/>
              </a:rPr>
              <a:t>	... </a:t>
            </a:r>
            <a:endParaRPr lang="uk-UA" sz="2000" b="1" dirty="0">
              <a:latin typeface="Courier New" pitchFamily="49" charset="0"/>
            </a:endParaRPr>
          </a:p>
          <a:p>
            <a:pPr eaLnBrk="0" hangingPunct="0"/>
            <a:r>
              <a:rPr lang="en-US" sz="2000" b="1" dirty="0">
                <a:latin typeface="Courier New" pitchFamily="49" charset="0"/>
              </a:rPr>
              <a:t>	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li</a:t>
            </a:r>
            <a:r>
              <a:rPr lang="en-US" sz="2000" b="1" dirty="0">
                <a:latin typeface="Courier New" pitchFamily="49" charset="0"/>
              </a:rPr>
              <a:t>&gt;</a:t>
            </a:r>
            <a:r>
              <a:rPr lang="en-US" sz="2000" b="1" dirty="0" err="1">
                <a:latin typeface="Courier New" pitchFamily="49" charset="0"/>
              </a:rPr>
              <a:t>последний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элемент</a:t>
            </a:r>
            <a:r>
              <a:rPr lang="en-US" sz="2000" b="1" dirty="0">
                <a:latin typeface="Courier New" pitchFamily="49" charset="0"/>
              </a:rPr>
              <a:t>&lt;/li&gt; </a:t>
            </a:r>
            <a:endParaRPr lang="uk-UA" sz="2000" b="1" dirty="0">
              <a:latin typeface="Courier New" pitchFamily="49" charset="0"/>
            </a:endParaRPr>
          </a:p>
          <a:p>
            <a:pPr eaLnBrk="0" hangingPunct="0"/>
            <a:r>
              <a:rPr lang="en-US" sz="2000" b="1" dirty="0">
                <a:latin typeface="Courier New" pitchFamily="49" charset="0"/>
              </a:rPr>
              <a:t>&lt;/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ol</a:t>
            </a:r>
            <a:r>
              <a:rPr lang="en-US" sz="2000" b="1" dirty="0">
                <a:latin typeface="Courier New" pitchFamily="49" charset="0"/>
              </a:rPr>
              <a:t>&gt;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1124744"/>
            <a:ext cx="2045166" cy="1892731"/>
          </a:xfrm>
          <a:prstGeom prst="rect">
            <a:avLst/>
          </a:prstGeom>
        </p:spPr>
      </p:pic>
      <p:sp>
        <p:nvSpPr>
          <p:cNvPr id="9" name="Стрелка вправо 8"/>
          <p:cNvSpPr/>
          <p:nvPr/>
        </p:nvSpPr>
        <p:spPr>
          <a:xfrm>
            <a:off x="5636325" y="1587568"/>
            <a:ext cx="1341091" cy="50405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04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627784" y="25751"/>
            <a:ext cx="3610744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uk-UA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Типы</a:t>
            </a:r>
            <a:r>
              <a:rPr lang="uk-UA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uk-UA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нумерации</a:t>
            </a:r>
            <a:endParaRPr lang="en-US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graphicFrame>
        <p:nvGraphicFramePr>
          <p:cNvPr id="156891" name="Group 2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695813"/>
              </p:ext>
            </p:extLst>
          </p:nvPr>
        </p:nvGraphicFramePr>
        <p:xfrm>
          <a:off x="156369" y="620688"/>
          <a:ext cx="8831262" cy="5489200"/>
        </p:xfrm>
        <a:graphic>
          <a:graphicData uri="http://schemas.openxmlformats.org/drawingml/2006/table">
            <a:tbl>
              <a:tblPr/>
              <a:tblGrid>
                <a:gridCol w="269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2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Начальный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тег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Вид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номера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на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экране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&lt;ol&gt;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Нумерация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выполняется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арабскими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цифрами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(1, 2, 3,...)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ol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</a:rPr>
                        <a:t>type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="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"&gt;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Нумерация выполняется арабскими цифрами (1, 2, 3,...)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&lt;ol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</a:rPr>
                        <a:t>type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="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"&gt;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Нумерация выполняется прописными буквами (A, B, C,...)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&lt;ol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</a:rPr>
                        <a:t>type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="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"&gt;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Нумерация выполняется строчными буквами (a, b, c,...)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&lt;ol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</a:rPr>
                        <a:t>type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="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</a:rPr>
                        <a:t>I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"&gt;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Нумерация выполняется большими римскими цифрами (I, II, III,...)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&lt;ol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</a:rPr>
                        <a:t>type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="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</a:rPr>
                        <a:t>i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"&gt;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Нумерация выполняется малыми римскими цифрами (i, ii, iii,...)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&lt;ol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</a:rPr>
                        <a:t>start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="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"&gt;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 </a:t>
                      </a: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какой цифры начинать нумерацию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первого элемента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&lt;li&gt; …</a:t>
                      </a:r>
                      <a:r>
                        <a:rPr kumimoji="0" lang="ru-R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&lt;/li&gt;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253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475656" y="44624"/>
            <a:ext cx="6192688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uk-UA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Списки </a:t>
            </a:r>
            <a:r>
              <a:rPr lang="uk-UA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определений</a:t>
            </a:r>
            <a:r>
              <a:rPr lang="uk-UA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(definition list)</a:t>
            </a:r>
          </a:p>
        </p:txBody>
      </p:sp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45404" y="476672"/>
            <a:ext cx="6254788" cy="2339102"/>
          </a:xfrm>
          <a:prstGeom prst="rect">
            <a:avLst/>
          </a:prstGeom>
          <a:noFill/>
          <a:ln w="9525" algn="ctr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AFAFAF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sz="1600" b="1" dirty="0">
                <a:latin typeface="Courier New" pitchFamily="49" charset="0"/>
              </a:rPr>
              <a:t>&lt;dl&gt;</a:t>
            </a:r>
          </a:p>
          <a:p>
            <a:pPr eaLnBrk="0" hangingPunct="0"/>
            <a:r>
              <a:rPr lang="ru-RU" sz="1600" b="1" dirty="0">
                <a:latin typeface="Courier New" pitchFamily="49" charset="0"/>
              </a:rPr>
              <a:t>   </a:t>
            </a:r>
            <a:r>
              <a:rPr lang="en-US" sz="1600" b="1" dirty="0">
                <a:latin typeface="Courier New" pitchFamily="49" charset="0"/>
              </a:rPr>
              <a:t>&lt;</a:t>
            </a:r>
            <a:r>
              <a:rPr lang="en-US" sz="1600" b="1" dirty="0" err="1">
                <a:latin typeface="Courier New" pitchFamily="49" charset="0"/>
              </a:rPr>
              <a:t>dt</a:t>
            </a:r>
            <a:r>
              <a:rPr lang="en-US" sz="1600" b="1" dirty="0">
                <a:latin typeface="Courier New" pitchFamily="49" charset="0"/>
              </a:rPr>
              <a:t>&gt;Web - </a:t>
            </a:r>
            <a:r>
              <a:rPr lang="ru-RU" sz="1600" b="1" dirty="0">
                <a:latin typeface="Courier New" pitchFamily="49" charset="0"/>
              </a:rPr>
              <a:t>дизайн&lt;/</a:t>
            </a:r>
            <a:r>
              <a:rPr lang="en-US" sz="1600" b="1" dirty="0" err="1">
                <a:latin typeface="Courier New" pitchFamily="49" charset="0"/>
              </a:rPr>
              <a:t>dt</a:t>
            </a:r>
            <a:r>
              <a:rPr lang="en-US" sz="16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en-US" sz="1600" b="1" dirty="0">
                <a:latin typeface="Courier New" pitchFamily="49" charset="0"/>
              </a:rPr>
              <a:t>	&lt;</a:t>
            </a:r>
            <a:r>
              <a:rPr lang="en-US" sz="1600" b="1" dirty="0" err="1">
                <a:latin typeface="Courier New" pitchFamily="49" charset="0"/>
              </a:rPr>
              <a:t>dd</a:t>
            </a:r>
            <a:r>
              <a:rPr lang="en-US" sz="1600" b="1" dirty="0">
                <a:latin typeface="Courier New" pitchFamily="49" charset="0"/>
              </a:rPr>
              <a:t>&gt;HTML </a:t>
            </a:r>
            <a:r>
              <a:rPr lang="ru-RU" sz="1600" b="1" dirty="0">
                <a:latin typeface="Courier New" pitchFamily="49" charset="0"/>
              </a:rPr>
              <a:t>и </a:t>
            </a:r>
            <a:r>
              <a:rPr lang="en-US" sz="1600" b="1" dirty="0">
                <a:latin typeface="Courier New" pitchFamily="49" charset="0"/>
              </a:rPr>
              <a:t>CSS </a:t>
            </a:r>
            <a:r>
              <a:rPr lang="ru-RU" sz="1600" b="1" dirty="0">
                <a:latin typeface="Courier New" pitchFamily="49" charset="0"/>
              </a:rPr>
              <a:t>начальный уровень&lt;/</a:t>
            </a:r>
            <a:r>
              <a:rPr lang="en-US" sz="1600" b="1" dirty="0" err="1">
                <a:latin typeface="Courier New" pitchFamily="49" charset="0"/>
              </a:rPr>
              <a:t>dd</a:t>
            </a:r>
            <a:r>
              <a:rPr lang="en-US" sz="16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en-US" sz="1600" b="1" dirty="0">
                <a:latin typeface="Courier New" pitchFamily="49" charset="0"/>
              </a:rPr>
              <a:t>	&lt;</a:t>
            </a:r>
            <a:r>
              <a:rPr lang="en-US" sz="1600" b="1" dirty="0" err="1">
                <a:latin typeface="Courier New" pitchFamily="49" charset="0"/>
              </a:rPr>
              <a:t>dd</a:t>
            </a:r>
            <a:r>
              <a:rPr lang="en-US" sz="1600" b="1" dirty="0">
                <a:latin typeface="Courier New" pitchFamily="49" charset="0"/>
              </a:rPr>
              <a:t>&gt;Java Script </a:t>
            </a:r>
            <a:r>
              <a:rPr lang="ru-RU" sz="1600" b="1" dirty="0">
                <a:latin typeface="Courier New" pitchFamily="49" charset="0"/>
              </a:rPr>
              <a:t>и библиотека  </a:t>
            </a:r>
            <a:r>
              <a:rPr lang="en-US" sz="1600" b="1" dirty="0" err="1">
                <a:latin typeface="Courier New" pitchFamily="49" charset="0"/>
              </a:rPr>
              <a:t>jQuery</a:t>
            </a:r>
            <a:r>
              <a:rPr lang="en-US" sz="1600" b="1" dirty="0">
                <a:latin typeface="Courier New" pitchFamily="49" charset="0"/>
              </a:rPr>
              <a:t>&lt;/</a:t>
            </a:r>
            <a:r>
              <a:rPr lang="en-US" sz="1600" b="1" dirty="0" err="1">
                <a:latin typeface="Courier New" pitchFamily="49" charset="0"/>
              </a:rPr>
              <a:t>dd</a:t>
            </a:r>
            <a:r>
              <a:rPr lang="en-US" sz="16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sz="1600" b="1" dirty="0">
                <a:latin typeface="Courier New" pitchFamily="49" charset="0"/>
              </a:rPr>
              <a:t>   </a:t>
            </a:r>
          </a:p>
          <a:p>
            <a:pPr eaLnBrk="0" hangingPunct="0"/>
            <a:r>
              <a:rPr lang="ru-RU" sz="1600" b="1" dirty="0">
                <a:latin typeface="Courier New" pitchFamily="49" charset="0"/>
              </a:rPr>
              <a:t>   </a:t>
            </a:r>
            <a:r>
              <a:rPr lang="en-US" sz="1600" b="1" dirty="0">
                <a:latin typeface="Courier New" pitchFamily="49" charset="0"/>
              </a:rPr>
              <a:t>&lt;</a:t>
            </a:r>
            <a:r>
              <a:rPr lang="en-US" sz="1600" b="1" dirty="0" err="1">
                <a:latin typeface="Courier New" pitchFamily="49" charset="0"/>
              </a:rPr>
              <a:t>dt</a:t>
            </a:r>
            <a:r>
              <a:rPr lang="en-US" sz="1600" b="1" dirty="0">
                <a:latin typeface="Courier New" pitchFamily="49" charset="0"/>
              </a:rPr>
              <a:t>&gt;3 D MAX&lt;/</a:t>
            </a:r>
            <a:r>
              <a:rPr lang="en-US" sz="1600" b="1" dirty="0" err="1">
                <a:latin typeface="Courier New" pitchFamily="49" charset="0"/>
              </a:rPr>
              <a:t>dt</a:t>
            </a:r>
            <a:r>
              <a:rPr lang="en-US" sz="16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en-US" sz="1600" b="1" dirty="0">
                <a:latin typeface="Courier New" pitchFamily="49" charset="0"/>
              </a:rPr>
              <a:t>	&lt;</a:t>
            </a:r>
            <a:r>
              <a:rPr lang="en-US" sz="1600" b="1" dirty="0" err="1">
                <a:latin typeface="Courier New" pitchFamily="49" charset="0"/>
              </a:rPr>
              <a:t>dd</a:t>
            </a:r>
            <a:r>
              <a:rPr lang="en-US" sz="1600" b="1" dirty="0">
                <a:latin typeface="Courier New" pitchFamily="49" charset="0"/>
              </a:rPr>
              <a:t>&gt;</a:t>
            </a:r>
            <a:r>
              <a:rPr lang="ru-RU" sz="1600" b="1" dirty="0">
                <a:latin typeface="Courier New" pitchFamily="49" charset="0"/>
              </a:rPr>
              <a:t>Начальный уровень&lt;/</a:t>
            </a:r>
            <a:r>
              <a:rPr lang="en-US" sz="1600" b="1" dirty="0" err="1">
                <a:latin typeface="Courier New" pitchFamily="49" charset="0"/>
              </a:rPr>
              <a:t>dd</a:t>
            </a:r>
            <a:r>
              <a:rPr lang="en-US" sz="16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en-US" sz="1600" b="1" dirty="0">
                <a:latin typeface="Courier New" pitchFamily="49" charset="0"/>
              </a:rPr>
              <a:t>	&lt;</a:t>
            </a:r>
            <a:r>
              <a:rPr lang="en-US" sz="1600" b="1" dirty="0" err="1">
                <a:latin typeface="Courier New" pitchFamily="49" charset="0"/>
              </a:rPr>
              <a:t>dd</a:t>
            </a:r>
            <a:r>
              <a:rPr lang="en-US" sz="1600" b="1" dirty="0">
                <a:latin typeface="Courier New" pitchFamily="49" charset="0"/>
              </a:rPr>
              <a:t>&gt;</a:t>
            </a:r>
            <a:r>
              <a:rPr lang="ru-RU" sz="1600" b="1" dirty="0">
                <a:latin typeface="Courier New" pitchFamily="49" charset="0"/>
              </a:rPr>
              <a:t>Продвинутый  уровень&lt;/</a:t>
            </a:r>
            <a:r>
              <a:rPr lang="en-US" sz="1600" b="1" dirty="0" err="1">
                <a:latin typeface="Courier New" pitchFamily="49" charset="0"/>
              </a:rPr>
              <a:t>dd</a:t>
            </a:r>
            <a:r>
              <a:rPr lang="en-US" sz="1600" b="1" dirty="0"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en-US" sz="1600" b="1" dirty="0">
                <a:latin typeface="Courier New" pitchFamily="49" charset="0"/>
              </a:rPr>
              <a:t>&lt;/dl&gt;</a:t>
            </a:r>
            <a:endParaRPr lang="ru-RU" sz="1600" b="1" dirty="0">
              <a:latin typeface="Courier New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024" y="2951373"/>
            <a:ext cx="8903464" cy="707886"/>
          </a:xfrm>
          <a:prstGeom prst="rect">
            <a:avLst/>
          </a:prstGeom>
          <a:solidFill>
            <a:schemeClr val="bg2">
              <a:alpha val="11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Теги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&lt;dl&gt;,</a:t>
            </a:r>
            <a:r>
              <a:rPr lang="ru-RU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&gt;,</a:t>
            </a:r>
            <a:r>
              <a:rPr lang="ru-RU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являются блочными элементами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894" y="5353191"/>
            <a:ext cx="8869594" cy="1077218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definition description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Может содержать любой контент. 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Этот контент имеет отступ слева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894" y="4346541"/>
            <a:ext cx="8869594" cy="769441"/>
          </a:xfrm>
          <a:prstGeom prst="rect">
            <a:avLst/>
          </a:prstGeom>
          <a:solidFill>
            <a:srgbClr val="FFC000">
              <a:alpha val="11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definition term</a:t>
            </a:r>
          </a:p>
          <a:p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Может содержать только строчные элементы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025" y="3801234"/>
            <a:ext cx="8903463" cy="400110"/>
          </a:xfrm>
          <a:prstGeom prst="rect">
            <a:avLst/>
          </a:prstGeom>
          <a:solidFill>
            <a:srgbClr val="00B0F0">
              <a:alpha val="11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Тег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&lt;dl&gt;</a:t>
            </a:r>
            <a:r>
              <a:rPr lang="ru-RU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может содержать только  элементы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48245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11760" y="35332"/>
            <a:ext cx="3816424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extLst/>
          </a:lstStyle>
          <a:p>
            <a:r>
              <a:rPr lang="ru-RU" dirty="0"/>
              <a:t>   Лабораторная работа  </a:t>
            </a:r>
            <a:r>
              <a:rPr lang="en-US" dirty="0"/>
              <a:t>1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5496" y="548680"/>
            <a:ext cx="9036496" cy="1200329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 каталоге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находится файл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index.html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Задача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используя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элементы списков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&lt;dl&gt; ,&lt;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&lt;li&gt; 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написать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html-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код  который  сформирует следующий список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063" y="2420888"/>
            <a:ext cx="6694425" cy="3607622"/>
          </a:xfrm>
          <a:prstGeom prst="rect">
            <a:avLst/>
          </a:prstGeom>
        </p:spPr>
      </p:pic>
      <p:grpSp>
        <p:nvGrpSpPr>
          <p:cNvPr id="9" name="Группа 8"/>
          <p:cNvGrpSpPr/>
          <p:nvPr/>
        </p:nvGrpSpPr>
        <p:grpSpPr>
          <a:xfrm>
            <a:off x="112055" y="1988840"/>
            <a:ext cx="1184463" cy="4536504"/>
            <a:chOff x="112055" y="2348880"/>
            <a:chExt cx="1184463" cy="4176464"/>
          </a:xfrm>
        </p:grpSpPr>
        <p:sp>
          <p:nvSpPr>
            <p:cNvPr id="3" name="Левая фигурная скобка 2"/>
            <p:cNvSpPr/>
            <p:nvPr/>
          </p:nvSpPr>
          <p:spPr>
            <a:xfrm>
              <a:off x="251520" y="2348880"/>
              <a:ext cx="1044998" cy="4176464"/>
            </a:xfrm>
            <a:prstGeom prst="leftBrace">
              <a:avLst>
                <a:gd name="adj1" fmla="val 8333"/>
                <a:gd name="adj2" fmla="val 48656"/>
              </a:avLst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2055" y="4084624"/>
              <a:ext cx="514885" cy="5232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dl</a:t>
              </a:r>
              <a:endParaRPr lang="ru-RU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Группа 11"/>
          <p:cNvGrpSpPr/>
          <p:nvPr/>
        </p:nvGrpSpPr>
        <p:grpSpPr>
          <a:xfrm>
            <a:off x="2783929" y="3573016"/>
            <a:ext cx="1067991" cy="900100"/>
            <a:chOff x="2783929" y="3573016"/>
            <a:chExt cx="1067991" cy="900100"/>
          </a:xfrm>
        </p:grpSpPr>
        <p:sp>
          <p:nvSpPr>
            <p:cNvPr id="7" name="Левая фигурная скобка 6"/>
            <p:cNvSpPr/>
            <p:nvPr/>
          </p:nvSpPr>
          <p:spPr>
            <a:xfrm>
              <a:off x="3347864" y="3573016"/>
              <a:ext cx="504056" cy="900100"/>
            </a:xfrm>
            <a:prstGeom prst="leftBrace">
              <a:avLst>
                <a:gd name="adj1" fmla="val 8333"/>
                <a:gd name="adj2" fmla="val 49547"/>
              </a:avLst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83929" y="3699903"/>
              <a:ext cx="6046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 err="1">
                  <a:solidFill>
                    <a:srgbClr val="FF0000"/>
                  </a:solidFill>
                </a:rPr>
                <a:t>ul</a:t>
              </a:r>
              <a:endParaRPr lang="ru-RU" sz="3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Группа 12"/>
          <p:cNvGrpSpPr/>
          <p:nvPr/>
        </p:nvGrpSpPr>
        <p:grpSpPr>
          <a:xfrm>
            <a:off x="2722247" y="5128410"/>
            <a:ext cx="1129673" cy="900100"/>
            <a:chOff x="2722247" y="5128410"/>
            <a:chExt cx="1129673" cy="900100"/>
          </a:xfrm>
        </p:grpSpPr>
        <p:sp>
          <p:nvSpPr>
            <p:cNvPr id="8" name="Левая фигурная скобка 7"/>
            <p:cNvSpPr/>
            <p:nvPr/>
          </p:nvSpPr>
          <p:spPr>
            <a:xfrm>
              <a:off x="3347864" y="5128410"/>
              <a:ext cx="504056" cy="900100"/>
            </a:xfrm>
            <a:prstGeom prst="leftBrace">
              <a:avLst>
                <a:gd name="adj1" fmla="val 8333"/>
                <a:gd name="adj2" fmla="val 49547"/>
              </a:avLst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22247" y="5255294"/>
              <a:ext cx="6014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 err="1">
                  <a:solidFill>
                    <a:srgbClr val="FF0000"/>
                  </a:solidFill>
                </a:rPr>
                <a:t>ol</a:t>
              </a:r>
              <a:endParaRPr lang="ru-RU" sz="3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Группа 18"/>
          <p:cNvGrpSpPr/>
          <p:nvPr/>
        </p:nvGrpSpPr>
        <p:grpSpPr>
          <a:xfrm>
            <a:off x="1137956" y="2420888"/>
            <a:ext cx="1115239" cy="584775"/>
            <a:chOff x="1224510" y="2564904"/>
            <a:chExt cx="1115239" cy="584775"/>
          </a:xfrm>
        </p:grpSpPr>
        <p:cxnSp>
          <p:nvCxnSpPr>
            <p:cNvPr id="15" name="Прямая со стрелкой 14"/>
            <p:cNvCxnSpPr/>
            <p:nvPr/>
          </p:nvCxnSpPr>
          <p:spPr>
            <a:xfrm>
              <a:off x="1835696" y="2866143"/>
              <a:ext cx="504053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224510" y="2564904"/>
              <a:ext cx="596638" cy="5847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b="1" dirty="0" err="1">
                  <a:solidFill>
                    <a:srgbClr val="FF0000"/>
                  </a:solidFill>
                </a:rPr>
                <a:t>dt</a:t>
              </a:r>
              <a:endParaRPr lang="ru-RU" sz="3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Группа 19"/>
          <p:cNvGrpSpPr/>
          <p:nvPr/>
        </p:nvGrpSpPr>
        <p:grpSpPr>
          <a:xfrm>
            <a:off x="1152504" y="3060249"/>
            <a:ext cx="1835320" cy="584775"/>
            <a:chOff x="1196358" y="2492896"/>
            <a:chExt cx="899217" cy="584775"/>
          </a:xfrm>
        </p:grpSpPr>
        <p:cxnSp>
          <p:nvCxnSpPr>
            <p:cNvPr id="21" name="Прямая со стрелкой 20"/>
            <p:cNvCxnSpPr/>
            <p:nvPr/>
          </p:nvCxnSpPr>
          <p:spPr>
            <a:xfrm>
              <a:off x="1559242" y="2742752"/>
              <a:ext cx="536333" cy="435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196358" y="2492896"/>
              <a:ext cx="362884" cy="5847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solidFill>
                    <a:srgbClr val="FF0000"/>
                  </a:solidFill>
                </a:rPr>
                <a:t>dd</a:t>
              </a:r>
              <a:endParaRPr lang="ru-RU" sz="3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1115616" y="4572417"/>
            <a:ext cx="1137579" cy="584775"/>
            <a:chOff x="1196358" y="2492896"/>
            <a:chExt cx="557358" cy="584775"/>
          </a:xfrm>
        </p:grpSpPr>
        <p:cxnSp>
          <p:nvCxnSpPr>
            <p:cNvPr id="27" name="Прямая со стрелкой 26"/>
            <p:cNvCxnSpPr/>
            <p:nvPr/>
          </p:nvCxnSpPr>
          <p:spPr>
            <a:xfrm>
              <a:off x="1559242" y="2742752"/>
              <a:ext cx="194474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1196358" y="2492896"/>
              <a:ext cx="362884" cy="58477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solidFill>
                    <a:srgbClr val="FF0000"/>
                  </a:solidFill>
                </a:rPr>
                <a:t>dd</a:t>
              </a:r>
              <a:endParaRPr lang="ru-RU" sz="36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718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57153" y="1052736"/>
            <a:ext cx="3312368" cy="1080120"/>
          </a:xfrm>
          <a:prstGeom prst="rect">
            <a:avLst/>
          </a:prstGeom>
          <a:solidFill>
            <a:schemeClr val="accent2">
              <a:lumMod val="20000"/>
              <a:lumOff val="80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251520" y="2204864"/>
            <a:ext cx="3312368" cy="1080120"/>
          </a:xfrm>
          <a:prstGeom prst="rect">
            <a:avLst/>
          </a:prstGeom>
          <a:solidFill>
            <a:schemeClr val="accent2">
              <a:lumMod val="20000"/>
              <a:lumOff val="80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635896" y="44624"/>
            <a:ext cx="194421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Таблицы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732760"/>
            <a:ext cx="331236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&lt;table&gt;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&lt;td&gt;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Ячейка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td&gt;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&lt;td&gt;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Ячейка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td&gt;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&lt;td&gt;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Ячейка 3&lt;/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td&gt;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&lt;td&gt;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Ячейка 4&lt;/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td&gt;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&lt;/table&gt;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61917"/>
              </p:ext>
            </p:extLst>
          </p:nvPr>
        </p:nvGraphicFramePr>
        <p:xfrm>
          <a:off x="3563888" y="4221088"/>
          <a:ext cx="2903984" cy="7315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45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Ячейка1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Ячейка2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928">
                <a:tc>
                  <a:txBody>
                    <a:bodyPr/>
                    <a:lstStyle/>
                    <a:p>
                      <a:r>
                        <a:rPr lang="ru-RU" dirty="0"/>
                        <a:t>Ячейка3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Ячейка4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851920" y="732760"/>
            <a:ext cx="5184576" cy="1200329"/>
          </a:xfrm>
          <a:prstGeom prst="rect">
            <a:avLst/>
          </a:prstGeom>
          <a:solidFill>
            <a:srgbClr val="FFFF00">
              <a:alpha val="7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Тег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&lt;table&gt;…&lt;/ table &gt;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это блочный 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элемент, но он не занимает по ширине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все доступное ему место, а зависит от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количества контента</a:t>
            </a:r>
          </a:p>
        </p:txBody>
      </p:sp>
      <p:grpSp>
        <p:nvGrpSpPr>
          <p:cNvPr id="11" name="Группа 10"/>
          <p:cNvGrpSpPr/>
          <p:nvPr/>
        </p:nvGrpSpPr>
        <p:grpSpPr>
          <a:xfrm>
            <a:off x="323528" y="4221088"/>
            <a:ext cx="3024336" cy="369332"/>
            <a:chOff x="827584" y="5013176"/>
            <a:chExt cx="3024336" cy="369332"/>
          </a:xfrm>
        </p:grpSpPr>
        <p:sp>
          <p:nvSpPr>
            <p:cNvPr id="4" name="TextBox 3"/>
            <p:cNvSpPr txBox="1"/>
            <p:nvPr/>
          </p:nvSpPr>
          <p:spPr>
            <a:xfrm>
              <a:off x="827584" y="5013176"/>
              <a:ext cx="1656184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9000"/>
              </a:schemeClr>
            </a:solidFill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  <a:r>
                <a:rPr lang="ru-RU" dirty="0"/>
                <a:t>трока</a:t>
              </a:r>
              <a:r>
                <a:rPr lang="en-US" dirty="0"/>
                <a:t>  </a:t>
              </a:r>
              <a:r>
                <a:rPr lang="ru-RU" dirty="0"/>
                <a:t> </a:t>
              </a:r>
              <a:r>
                <a:rPr lang="en-US" b="1" dirty="0" err="1">
                  <a:solidFill>
                    <a:schemeClr val="accent2"/>
                  </a:solidFill>
                </a:rPr>
                <a:t>tr</a:t>
              </a:r>
              <a:endParaRPr lang="ru-RU" dirty="0"/>
            </a:p>
          </p:txBody>
        </p:sp>
        <p:cxnSp>
          <p:nvCxnSpPr>
            <p:cNvPr id="8" name="Прямая со стрелкой 7"/>
            <p:cNvCxnSpPr>
              <a:stCxn id="4" idx="3"/>
            </p:cNvCxnSpPr>
            <p:nvPr/>
          </p:nvCxnSpPr>
          <p:spPr>
            <a:xfrm>
              <a:off x="2483768" y="5197842"/>
              <a:ext cx="13681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Группа 13"/>
          <p:cNvGrpSpPr/>
          <p:nvPr/>
        </p:nvGrpSpPr>
        <p:grpSpPr>
          <a:xfrm>
            <a:off x="323528" y="4643844"/>
            <a:ext cx="3024336" cy="369332"/>
            <a:chOff x="827584" y="5013176"/>
            <a:chExt cx="3024336" cy="369332"/>
          </a:xfrm>
        </p:grpSpPr>
        <p:sp>
          <p:nvSpPr>
            <p:cNvPr id="15" name="TextBox 14"/>
            <p:cNvSpPr txBox="1"/>
            <p:nvPr/>
          </p:nvSpPr>
          <p:spPr>
            <a:xfrm>
              <a:off x="827584" y="5013176"/>
              <a:ext cx="1656184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9000"/>
              </a:schemeClr>
            </a:solidFill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  <a:r>
                <a:rPr lang="ru-RU" dirty="0"/>
                <a:t>трока</a:t>
              </a:r>
              <a:r>
                <a:rPr lang="en-US" dirty="0"/>
                <a:t>  </a:t>
              </a:r>
              <a:r>
                <a:rPr lang="ru-RU" dirty="0"/>
                <a:t> </a:t>
              </a:r>
              <a:r>
                <a:rPr lang="en-US" b="1" dirty="0" err="1">
                  <a:solidFill>
                    <a:schemeClr val="accent2"/>
                  </a:solidFill>
                </a:rPr>
                <a:t>tr</a:t>
              </a:r>
              <a:endParaRPr lang="ru-RU" dirty="0"/>
            </a:p>
          </p:txBody>
        </p:sp>
        <p:cxnSp>
          <p:nvCxnSpPr>
            <p:cNvPr id="16" name="Прямая со стрелкой 15"/>
            <p:cNvCxnSpPr>
              <a:stCxn id="15" idx="3"/>
            </p:cNvCxnSpPr>
            <p:nvPr/>
          </p:nvCxnSpPr>
          <p:spPr>
            <a:xfrm>
              <a:off x="2483768" y="5197842"/>
              <a:ext cx="13681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Группа 18"/>
          <p:cNvGrpSpPr/>
          <p:nvPr/>
        </p:nvGrpSpPr>
        <p:grpSpPr>
          <a:xfrm>
            <a:off x="3563888" y="5013176"/>
            <a:ext cx="1440160" cy="729372"/>
            <a:chOff x="4067944" y="5805264"/>
            <a:chExt cx="1440160" cy="729372"/>
          </a:xfrm>
        </p:grpSpPr>
        <p:sp>
          <p:nvSpPr>
            <p:cNvPr id="12" name="TextBox 11"/>
            <p:cNvSpPr txBox="1"/>
            <p:nvPr/>
          </p:nvSpPr>
          <p:spPr>
            <a:xfrm>
              <a:off x="4067944" y="6165304"/>
              <a:ext cx="1440160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/>
                <a:t>ячейка </a:t>
              </a:r>
              <a:r>
                <a:rPr lang="en-US" b="1" dirty="0">
                  <a:solidFill>
                    <a:schemeClr val="accent2"/>
                  </a:solidFill>
                </a:rPr>
                <a:t>td</a:t>
              </a:r>
              <a:endParaRPr lang="ru-RU" b="1" dirty="0">
                <a:solidFill>
                  <a:schemeClr val="accent2"/>
                </a:solidFill>
              </a:endParaRPr>
            </a:p>
          </p:txBody>
        </p:sp>
        <p:cxnSp>
          <p:nvCxnSpPr>
            <p:cNvPr id="18" name="Прямая со стрелкой 17"/>
            <p:cNvCxnSpPr>
              <a:stCxn id="12" idx="0"/>
            </p:cNvCxnSpPr>
            <p:nvPr/>
          </p:nvCxnSpPr>
          <p:spPr>
            <a:xfrm flipV="1">
              <a:off x="4788024" y="5805264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0" name="Группа 19"/>
          <p:cNvGrpSpPr/>
          <p:nvPr/>
        </p:nvGrpSpPr>
        <p:grpSpPr>
          <a:xfrm>
            <a:off x="5076056" y="5013176"/>
            <a:ext cx="1440160" cy="729372"/>
            <a:chOff x="4067944" y="5805264"/>
            <a:chExt cx="1440160" cy="729372"/>
          </a:xfrm>
        </p:grpSpPr>
        <p:sp>
          <p:nvSpPr>
            <p:cNvPr id="21" name="TextBox 20"/>
            <p:cNvSpPr txBox="1"/>
            <p:nvPr/>
          </p:nvSpPr>
          <p:spPr>
            <a:xfrm>
              <a:off x="4067944" y="6165304"/>
              <a:ext cx="1440160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/>
                <a:t>ячейка </a:t>
              </a:r>
              <a:r>
                <a:rPr lang="en-US" b="1" dirty="0">
                  <a:solidFill>
                    <a:schemeClr val="accent2"/>
                  </a:solidFill>
                </a:rPr>
                <a:t>td</a:t>
              </a:r>
              <a:endParaRPr lang="ru-RU" b="1" dirty="0">
                <a:solidFill>
                  <a:schemeClr val="accent2"/>
                </a:solidFill>
              </a:endParaRPr>
            </a:p>
          </p:txBody>
        </p:sp>
        <p:cxnSp>
          <p:nvCxnSpPr>
            <p:cNvPr id="22" name="Прямая со стрелкой 21"/>
            <p:cNvCxnSpPr>
              <a:stCxn id="21" idx="0"/>
            </p:cNvCxnSpPr>
            <p:nvPr/>
          </p:nvCxnSpPr>
          <p:spPr>
            <a:xfrm flipV="1">
              <a:off x="4788024" y="5805264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3815872" y="2132856"/>
            <a:ext cx="5256671" cy="923330"/>
          </a:xfrm>
          <a:prstGeom prst="rect">
            <a:avLst/>
          </a:prstGeom>
          <a:solidFill>
            <a:srgbClr val="92D050">
              <a:alpha val="7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Количество ячеек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&lt;td&gt;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…&lt;/td&gt;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 строках таблицы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должно быть одинаковым</a:t>
            </a:r>
          </a:p>
        </p:txBody>
      </p:sp>
    </p:spTree>
    <p:extLst>
      <p:ext uri="{BB962C8B-B14F-4D97-AF65-F5344CB8AC3E}">
        <p14:creationId xmlns:p14="http://schemas.microsoft.com/office/powerpoint/2010/main" val="214985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282774"/>
              </p:ext>
            </p:extLst>
          </p:nvPr>
        </p:nvGraphicFramePr>
        <p:xfrm>
          <a:off x="251520" y="601008"/>
          <a:ext cx="8712200" cy="5029200"/>
        </p:xfrm>
        <a:graphic>
          <a:graphicData uri="http://schemas.openxmlformats.org/drawingml/2006/table">
            <a:tbl>
              <a:tblPr/>
              <a:tblGrid>
                <a:gridCol w="3757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4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Атрибут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Значение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align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left, right, center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width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число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или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процент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cellpadding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число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cellspacing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число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bgcolor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цвет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background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файл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число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bordercolor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цвет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bordercolordark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цвет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bordercolorlight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цвет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6372200" y="44624"/>
            <a:ext cx="170110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table.html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9772" y="44624"/>
            <a:ext cx="3348372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extLst/>
          </a:lstStyle>
          <a:p>
            <a:r>
              <a:rPr lang="ru-RU" dirty="0"/>
              <a:t>Атрибуты элемента TABLE </a:t>
            </a:r>
          </a:p>
        </p:txBody>
      </p:sp>
    </p:spTree>
    <p:extLst>
      <p:ext uri="{BB962C8B-B14F-4D97-AF65-F5344CB8AC3E}">
        <p14:creationId xmlns:p14="http://schemas.microsoft.com/office/powerpoint/2010/main" val="2882589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448201" y="56858"/>
            <a:ext cx="156324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table.html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13130" y="75712"/>
            <a:ext cx="3312368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Атрибуты элемента TR </a:t>
            </a:r>
          </a:p>
        </p:txBody>
      </p:sp>
      <p:graphicFrame>
        <p:nvGraphicFramePr>
          <p:cNvPr id="5" name="Group 2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096672"/>
              </p:ext>
            </p:extLst>
          </p:nvPr>
        </p:nvGraphicFramePr>
        <p:xfrm>
          <a:off x="179512" y="1844824"/>
          <a:ext cx="8702675" cy="4076700"/>
        </p:xfrm>
        <a:graphic>
          <a:graphicData uri="http://schemas.openxmlformats.org/drawingml/2006/table">
            <a:tbl>
              <a:tblPr/>
              <a:tblGrid>
                <a:gridCol w="363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8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Атрибут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Значения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align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left, center, right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valign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top, middle, bottom, baseline</a:t>
                      </a:r>
                      <a:r>
                        <a:rPr kumimoji="0" lang="ru-RU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+mn-cs"/>
                        </a:rPr>
                        <a:t>(выравнивает первые строчки в ячейках по базовой линии)</a:t>
                      </a:r>
                      <a:endParaRPr kumimoji="0" 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bgcolor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цвет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bordercolordark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цвет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bordercolorlight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цвет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07504" y="500479"/>
            <a:ext cx="8883229" cy="1200329"/>
          </a:xfrm>
          <a:prstGeom prst="rect">
            <a:avLst/>
          </a:prstGeom>
          <a:solidFill>
            <a:schemeClr val="accent1">
              <a:lumMod val="40000"/>
              <a:lumOff val="60000"/>
              <a:alpha val="16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Элемент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это служебный элемент (то есть его не видно визуально),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и служит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он как контейнер для элементов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TD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Поэтому все его атрибуты воздействуют на ячейки расположенные в нем</a:t>
            </a:r>
          </a:p>
        </p:txBody>
      </p:sp>
    </p:spTree>
    <p:extLst>
      <p:ext uri="{BB962C8B-B14F-4D97-AF65-F5344CB8AC3E}">
        <p14:creationId xmlns:p14="http://schemas.microsoft.com/office/powerpoint/2010/main" val="3687673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555776" y="24162"/>
            <a:ext cx="3168352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Атрибуты элемента  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TD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300192" y="37099"/>
            <a:ext cx="170110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table.html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7" name="Group 4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332911"/>
              </p:ext>
            </p:extLst>
          </p:nvPr>
        </p:nvGraphicFramePr>
        <p:xfrm>
          <a:off x="212725" y="1124744"/>
          <a:ext cx="8699500" cy="5364480"/>
        </p:xfrm>
        <a:graphic>
          <a:graphicData uri="http://schemas.openxmlformats.org/drawingml/2006/table">
            <a:tbl>
              <a:tblPr/>
              <a:tblGrid>
                <a:gridCol w="4024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5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Атрибут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Значения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align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left, center, right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valign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top, middle, bottom, baseline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width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число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или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процент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height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число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или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процент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bgcolor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цвет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background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файл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nowrap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не переносить контент на другую строчку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colspan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число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rowspan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число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3528" y="620688"/>
            <a:ext cx="4824536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Указываются для конкретной ячейки</a:t>
            </a:r>
          </a:p>
        </p:txBody>
      </p:sp>
    </p:spTree>
    <p:extLst>
      <p:ext uri="{BB962C8B-B14F-4D97-AF65-F5344CB8AC3E}">
        <p14:creationId xmlns:p14="http://schemas.microsoft.com/office/powerpoint/2010/main" val="1915347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31840" y="48684"/>
            <a:ext cx="2520280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ea typeface="+mj-ea"/>
                <a:cs typeface="Courier New" panose="02070309020205020404" pitchFamily="49" charset="0"/>
              </a:defRPr>
            </a:lvl1pPr>
            <a:extLst/>
          </a:lstStyle>
          <a:p>
            <a:r>
              <a:rPr lang="ru-RU" dirty="0"/>
              <a:t>Объединение ячеек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12" y="716503"/>
            <a:ext cx="8784976" cy="1200329"/>
          </a:xfrm>
          <a:prstGeom prst="rect">
            <a:avLst/>
          </a:prstGeom>
          <a:solidFill>
            <a:schemeClr val="bg2">
              <a:alpha val="26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Осуществляется атрибутами элемента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TD</a:t>
            </a:r>
          </a:p>
          <a:p>
            <a:endParaRPr lang="en-US" dirty="0"/>
          </a:p>
          <a:p>
            <a:pPr lvl="0"/>
            <a:r>
              <a:rPr lang="ru-RU" b="1" dirty="0">
                <a:latin typeface="Courier New" pitchFamily="49" charset="0"/>
              </a:rPr>
              <a:t>с</a:t>
            </a:r>
            <a:r>
              <a:rPr lang="en-US" b="1" dirty="0" err="1">
                <a:latin typeface="Courier New" pitchFamily="49" charset="0"/>
              </a:rPr>
              <a:t>olspan</a:t>
            </a:r>
            <a:r>
              <a:rPr lang="en-US" b="1" dirty="0">
                <a:latin typeface="Courier New" pitchFamily="49" charset="0"/>
              </a:rPr>
              <a:t> = “</a:t>
            </a:r>
            <a:r>
              <a:rPr lang="ru-RU" b="1" dirty="0">
                <a:latin typeface="Courier New" pitchFamily="49" charset="0"/>
              </a:rPr>
              <a:t>число</a:t>
            </a:r>
            <a:r>
              <a:rPr lang="en-US" b="1" dirty="0">
                <a:latin typeface="Courier New" pitchFamily="49" charset="0"/>
              </a:rPr>
              <a:t>”</a:t>
            </a:r>
            <a:r>
              <a:rPr lang="ru-RU" b="1" dirty="0">
                <a:latin typeface="Courier New" pitchFamily="49" charset="0"/>
              </a:rPr>
              <a:t> – количество объединяемых ячеек</a:t>
            </a:r>
          </a:p>
          <a:p>
            <a:r>
              <a:rPr lang="en-US" b="1" dirty="0" err="1">
                <a:latin typeface="Courier New" pitchFamily="49" charset="0"/>
              </a:rPr>
              <a:t>rowspan</a:t>
            </a:r>
            <a:r>
              <a:rPr lang="en-US" b="1" dirty="0">
                <a:latin typeface="Courier New" pitchFamily="49" charset="0"/>
              </a:rPr>
              <a:t> = “</a:t>
            </a:r>
            <a:r>
              <a:rPr lang="ru-RU" b="1" dirty="0">
                <a:latin typeface="Courier New" pitchFamily="49" charset="0"/>
              </a:rPr>
              <a:t>число</a:t>
            </a:r>
            <a:r>
              <a:rPr lang="en-US" b="1" dirty="0">
                <a:latin typeface="Courier New" pitchFamily="49" charset="0"/>
              </a:rPr>
              <a:t>”</a:t>
            </a:r>
            <a:r>
              <a:rPr lang="ru-RU" b="1" dirty="0">
                <a:latin typeface="Courier New" pitchFamily="49" charset="0"/>
              </a:rPr>
              <a:t> – количество объединяемых строк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057959"/>
              </p:ext>
            </p:extLst>
          </p:nvPr>
        </p:nvGraphicFramePr>
        <p:xfrm>
          <a:off x="6132512" y="4365104"/>
          <a:ext cx="2903984" cy="109728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45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928">
                <a:tc gridSpan="2"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sz="1800" b="1" kern="1200" dirty="0">
                          <a:solidFill>
                            <a:srgbClr val="456A1C"/>
                          </a:solidFill>
                          <a:latin typeface="+mn-lt"/>
                          <a:ea typeface="+mn-ea"/>
                          <a:cs typeface="+mn-cs"/>
                        </a:rPr>
                        <a:t>Ячейка1</a:t>
                      </a:r>
                      <a:r>
                        <a:rPr kumimoji="0" lang="en-US" sz="1800" b="1" kern="1200" dirty="0">
                          <a:solidFill>
                            <a:srgbClr val="456A1C"/>
                          </a:solidFill>
                          <a:latin typeface="+mn-lt"/>
                          <a:ea typeface="+mn-ea"/>
                          <a:cs typeface="+mn-cs"/>
                        </a:rPr>
                        <a:t>  +  </a:t>
                      </a:r>
                      <a:r>
                        <a:rPr kumimoji="0" lang="ru-RU" sz="1800" b="1" kern="1200" dirty="0">
                          <a:solidFill>
                            <a:srgbClr val="456A1C"/>
                          </a:solidFill>
                          <a:latin typeface="+mn-lt"/>
                          <a:ea typeface="+mn-ea"/>
                          <a:cs typeface="+mn-cs"/>
                        </a:rPr>
                        <a:t>Ячейка2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928">
                <a:tc>
                  <a:txBody>
                    <a:bodyPr/>
                    <a:lstStyle/>
                    <a:p>
                      <a:r>
                        <a:rPr lang="ru-RU" dirty="0"/>
                        <a:t>Ячейка</a:t>
                      </a:r>
                      <a:r>
                        <a:rPr lang="en-US" dirty="0"/>
                        <a:t> 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456A1C"/>
                          </a:solidFill>
                          <a:latin typeface="+mn-lt"/>
                          <a:ea typeface="+mn-ea"/>
                          <a:cs typeface="+mn-cs"/>
                        </a:rPr>
                        <a:t>Ячейка</a:t>
                      </a:r>
                      <a:r>
                        <a:rPr lang="en-US" sz="1800" b="1" kern="1200" dirty="0">
                          <a:solidFill>
                            <a:srgbClr val="456A1C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kern="1200" dirty="0">
                          <a:solidFill>
                            <a:srgbClr val="456A1C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800" b="1" kern="1200" dirty="0">
                          <a:solidFill>
                            <a:srgbClr val="456A1C"/>
                          </a:solidFill>
                          <a:latin typeface="+mn-lt"/>
                          <a:ea typeface="+mn-ea"/>
                          <a:cs typeface="+mn-cs"/>
                        </a:rPr>
                        <a:t> +</a:t>
                      </a:r>
                      <a:endParaRPr lang="ru-RU" sz="1800" b="1" kern="1200" dirty="0">
                        <a:solidFill>
                          <a:srgbClr val="456A1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1" kern="1200" dirty="0">
                          <a:solidFill>
                            <a:srgbClr val="456A1C"/>
                          </a:solidFill>
                          <a:latin typeface="+mn-lt"/>
                          <a:ea typeface="+mn-ea"/>
                          <a:cs typeface="+mn-cs"/>
                        </a:rPr>
                        <a:t>Ячейка</a:t>
                      </a:r>
                      <a:r>
                        <a:rPr lang="en-US" sz="1800" b="1" kern="1200" dirty="0">
                          <a:solidFill>
                            <a:srgbClr val="456A1C"/>
                          </a:solidFill>
                          <a:latin typeface="+mn-lt"/>
                          <a:ea typeface="+mn-ea"/>
                          <a:cs typeface="+mn-cs"/>
                        </a:rPr>
                        <a:t> 6</a:t>
                      </a:r>
                      <a:endParaRPr lang="ru-RU" sz="1800" b="1" kern="1200" dirty="0">
                        <a:solidFill>
                          <a:srgbClr val="456A1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928">
                <a:tc>
                  <a:txBody>
                    <a:bodyPr/>
                    <a:lstStyle/>
                    <a:p>
                      <a:r>
                        <a:rPr lang="ru-RU" dirty="0"/>
                        <a:t>Ячейка</a:t>
                      </a:r>
                      <a:r>
                        <a:rPr lang="en-US" dirty="0"/>
                        <a:t> 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060"/>
              </p:ext>
            </p:extLst>
          </p:nvPr>
        </p:nvGraphicFramePr>
        <p:xfrm>
          <a:off x="6132512" y="2097564"/>
          <a:ext cx="2903984" cy="109728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45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9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Ячейка1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Ячейка2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928">
                <a:tc>
                  <a:txBody>
                    <a:bodyPr/>
                    <a:lstStyle/>
                    <a:p>
                      <a:r>
                        <a:rPr lang="ru-RU" dirty="0"/>
                        <a:t>Ячейка</a:t>
                      </a:r>
                      <a:r>
                        <a:rPr lang="en-US" dirty="0"/>
                        <a:t> 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Ячейка4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928">
                <a:tc>
                  <a:txBody>
                    <a:bodyPr/>
                    <a:lstStyle/>
                    <a:p>
                      <a:r>
                        <a:rPr lang="ru-RU" dirty="0"/>
                        <a:t>Ячейка</a:t>
                      </a:r>
                      <a:r>
                        <a:rPr lang="en-US" dirty="0"/>
                        <a:t> 5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Ячейка</a:t>
                      </a:r>
                      <a:r>
                        <a:rPr lang="en-US" dirty="0"/>
                        <a:t> 6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496" y="3120057"/>
            <a:ext cx="5976664" cy="36933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r>
              <a:rPr lang="en-US" dirty="0"/>
              <a:t>    </a:t>
            </a:r>
            <a:r>
              <a:rPr lang="en-US" b="1" dirty="0"/>
              <a:t>&lt;td  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</a:rPr>
              <a:t>с</a:t>
            </a:r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</a:rPr>
              <a:t>olspan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 = “2”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  <a:r>
              <a:rPr lang="ru-RU" b="1" dirty="0">
                <a:solidFill>
                  <a:srgbClr val="456A1C"/>
                </a:solidFill>
              </a:rPr>
              <a:t>Ячейка1</a:t>
            </a:r>
            <a:r>
              <a:rPr lang="en-US" b="1" dirty="0">
                <a:solidFill>
                  <a:srgbClr val="456A1C"/>
                </a:solidFill>
              </a:rPr>
              <a:t>+ </a:t>
            </a:r>
            <a:r>
              <a:rPr lang="ru-RU" b="1" dirty="0">
                <a:solidFill>
                  <a:srgbClr val="456A1C"/>
                </a:solidFill>
              </a:rPr>
              <a:t>Ячейка2</a:t>
            </a:r>
            <a:r>
              <a:rPr lang="en-US" b="1" dirty="0"/>
              <a:t>&lt;/td&gt;</a:t>
            </a:r>
          </a:p>
          <a:p>
            <a:r>
              <a:rPr lang="en-US" dirty="0"/>
              <a:t>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r>
              <a:rPr lang="en-US" dirty="0"/>
              <a:t>   &lt;td&gt;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Ячейка</a:t>
            </a:r>
            <a:r>
              <a:rPr lang="en-US" dirty="0"/>
              <a:t> 3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/>
              <a:t>&lt;/td&gt;</a:t>
            </a:r>
          </a:p>
          <a:p>
            <a:r>
              <a:rPr lang="en-US" dirty="0"/>
              <a:t>    </a:t>
            </a:r>
            <a:r>
              <a:rPr lang="en-US" b="1" dirty="0"/>
              <a:t>&lt;td </a:t>
            </a:r>
            <a:r>
              <a:rPr lang="en-US" dirty="0"/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</a:rPr>
              <a:t>rowspan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 = “2”</a:t>
            </a:r>
            <a:r>
              <a:rPr lang="en-US" dirty="0">
                <a:latin typeface="Courier New" pitchFamily="49" charset="0"/>
              </a:rPr>
              <a:t>&gt;</a:t>
            </a:r>
            <a:r>
              <a:rPr lang="ru-RU" b="1" dirty="0">
                <a:solidFill>
                  <a:srgbClr val="456A1C"/>
                </a:solidFill>
              </a:rPr>
              <a:t>Ячейка</a:t>
            </a:r>
            <a:r>
              <a:rPr lang="en-US" b="1" dirty="0">
                <a:solidFill>
                  <a:srgbClr val="456A1C"/>
                </a:solidFill>
              </a:rPr>
              <a:t> 4+</a:t>
            </a:r>
            <a:r>
              <a:rPr lang="ru-RU" b="1" dirty="0">
                <a:solidFill>
                  <a:srgbClr val="456A1C"/>
                </a:solidFill>
              </a:rPr>
              <a:t>Ячейка</a:t>
            </a:r>
            <a:r>
              <a:rPr lang="en-US" b="1" dirty="0">
                <a:solidFill>
                  <a:srgbClr val="456A1C"/>
                </a:solidFill>
              </a:rPr>
              <a:t> 6 </a:t>
            </a:r>
            <a:r>
              <a:rPr lang="en-US" b="1" dirty="0"/>
              <a:t>&lt;/td&gt;</a:t>
            </a:r>
          </a:p>
          <a:p>
            <a:r>
              <a:rPr lang="en-US" dirty="0"/>
              <a:t>&lt;/</a:t>
            </a:r>
            <a:r>
              <a:rPr lang="en-US" dirty="0" err="1"/>
              <a:t>tr</a:t>
            </a:r>
            <a:r>
              <a:rPr lang="en-US" dirty="0"/>
              <a:t>&gt;</a:t>
            </a:r>
            <a:endParaRPr lang="ru-RU" dirty="0"/>
          </a:p>
          <a:p>
            <a:endParaRPr lang="en-US" dirty="0"/>
          </a:p>
          <a:p>
            <a:r>
              <a:rPr lang="en-US" dirty="0"/>
              <a:t>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r>
              <a:rPr lang="en-US" dirty="0"/>
              <a:t>   &lt;td&gt;</a:t>
            </a:r>
            <a:r>
              <a:rPr lang="ru-RU" dirty="0"/>
              <a:t> Ячейка</a:t>
            </a:r>
            <a:r>
              <a:rPr lang="en-US" dirty="0"/>
              <a:t>  5&lt;/td&gt;</a:t>
            </a:r>
          </a:p>
          <a:p>
            <a:r>
              <a:rPr lang="en-US" dirty="0"/>
              <a:t>&lt;/</a:t>
            </a:r>
            <a:r>
              <a:rPr lang="en-US" dirty="0" err="1"/>
              <a:t>tr</a:t>
            </a:r>
            <a:r>
              <a:rPr lang="en-US" dirty="0"/>
              <a:t>&gt;</a:t>
            </a:r>
            <a:endParaRPr lang="ru-RU" dirty="0"/>
          </a:p>
          <a:p>
            <a:endParaRPr lang="ru-RU" dirty="0"/>
          </a:p>
        </p:txBody>
      </p:sp>
      <p:cxnSp>
        <p:nvCxnSpPr>
          <p:cNvPr id="9" name="Прямая со стрелкой 8"/>
          <p:cNvCxnSpPr/>
          <p:nvPr/>
        </p:nvCxnSpPr>
        <p:spPr>
          <a:xfrm>
            <a:off x="2555776" y="3717032"/>
            <a:ext cx="3672408" cy="720080"/>
          </a:xfrm>
          <a:prstGeom prst="straightConnector1">
            <a:avLst/>
          </a:prstGeom>
          <a:ln w="190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Группа 20"/>
          <p:cNvGrpSpPr/>
          <p:nvPr/>
        </p:nvGrpSpPr>
        <p:grpSpPr>
          <a:xfrm>
            <a:off x="2521819" y="5168766"/>
            <a:ext cx="5722589" cy="1299667"/>
            <a:chOff x="2521819" y="5168766"/>
            <a:chExt cx="5722589" cy="1299667"/>
          </a:xfrm>
        </p:grpSpPr>
        <p:cxnSp>
          <p:nvCxnSpPr>
            <p:cNvPr id="10" name="Прямая со стрелкой 9"/>
            <p:cNvCxnSpPr/>
            <p:nvPr/>
          </p:nvCxnSpPr>
          <p:spPr>
            <a:xfrm flipV="1">
              <a:off x="7988968" y="5373216"/>
              <a:ext cx="255440" cy="288032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Полилиния 16"/>
            <p:cNvSpPr/>
            <p:nvPr/>
          </p:nvSpPr>
          <p:spPr>
            <a:xfrm>
              <a:off x="2521819" y="5168766"/>
              <a:ext cx="5467149" cy="1299667"/>
            </a:xfrm>
            <a:custGeom>
              <a:avLst/>
              <a:gdLst>
                <a:gd name="connsiteX0" fmla="*/ 0 w 5467149"/>
                <a:gd name="connsiteY0" fmla="*/ 0 h 1299667"/>
                <a:gd name="connsiteX1" fmla="*/ 3619099 w 5467149"/>
                <a:gd name="connsiteY1" fmla="*/ 1289786 h 1299667"/>
                <a:gd name="connsiteX2" fmla="*/ 5467149 w 5467149"/>
                <a:gd name="connsiteY2" fmla="*/ 490889 h 129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67149" h="1299667">
                  <a:moveTo>
                    <a:pt x="0" y="0"/>
                  </a:moveTo>
                  <a:cubicBezTo>
                    <a:pt x="1353954" y="603985"/>
                    <a:pt x="2707908" y="1207971"/>
                    <a:pt x="3619099" y="1289786"/>
                  </a:cubicBezTo>
                  <a:cubicBezTo>
                    <a:pt x="4530290" y="1371601"/>
                    <a:pt x="4998719" y="931245"/>
                    <a:pt x="5467149" y="490889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749791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90056" y="44624"/>
            <a:ext cx="3582144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ea typeface="+mj-ea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   Лабораторная работа 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5496" y="620688"/>
            <a:ext cx="9036496" cy="646331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 каталоге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находится файл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index.html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 нем исходного варианта кода таблицы следующий</a:t>
            </a:r>
            <a:endParaRPr lang="ru-RU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488307"/>
              </p:ext>
            </p:extLst>
          </p:nvPr>
        </p:nvGraphicFramePr>
        <p:xfrm>
          <a:off x="179512" y="4537928"/>
          <a:ext cx="849694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1-1  +   Ячейка 2-1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1-2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1-3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2-2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2-3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1-4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2-4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152254"/>
              </p:ext>
            </p:extLst>
          </p:nvPr>
        </p:nvGraphicFramePr>
        <p:xfrm>
          <a:off x="294427" y="1556792"/>
          <a:ext cx="84249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1-1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2-1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2-2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2-3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2-4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4016" y="3429000"/>
            <a:ext cx="8892480" cy="646331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Задача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из исходного варианта таблица   сделать  следующее объединение </a:t>
            </a:r>
            <a:endParaRPr lang="ru-RU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062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2017" y="72260"/>
            <a:ext cx="2736304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ea typeface="+mj-ea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Вложенные </a:t>
            </a:r>
            <a:r>
              <a:rPr lang="uk-UA" dirty="0"/>
              <a:t> </a:t>
            </a:r>
            <a:r>
              <a:rPr lang="uk-UA" dirty="0" err="1"/>
              <a:t>таблицы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796136" y="107340"/>
            <a:ext cx="273630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chemeClr val="tx1"/>
                  </a:solidFill>
                </a:ln>
                <a:latin typeface="Courier New" pitchFamily="49" charset="0"/>
                <a:cs typeface="Courier New" pitchFamily="49" charset="0"/>
              </a:rPr>
              <a:t>innertables.html</a:t>
            </a:r>
            <a:endParaRPr lang="ru-RU" dirty="0">
              <a:ln>
                <a:solidFill>
                  <a:schemeClr val="tx1"/>
                </a:solidFill>
              </a:ln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548680"/>
            <a:ext cx="8712968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&lt;table&gt;</a:t>
            </a:r>
          </a:p>
          <a:p>
            <a:r>
              <a:rPr lang="en-US" dirty="0"/>
              <a:t>	</a:t>
            </a:r>
            <a:r>
              <a:rPr lang="en-US" b="1" dirty="0"/>
              <a:t>&lt;</a:t>
            </a:r>
            <a:r>
              <a:rPr lang="en-US" b="1" dirty="0" err="1"/>
              <a:t>tr</a:t>
            </a:r>
            <a:r>
              <a:rPr lang="en-US" b="1" dirty="0"/>
              <a:t>&gt;</a:t>
            </a:r>
          </a:p>
          <a:p>
            <a:r>
              <a:rPr lang="ru-RU" b="1" dirty="0"/>
              <a:t>	     </a:t>
            </a:r>
            <a:r>
              <a:rPr lang="en-US" b="1" dirty="0"/>
              <a:t>&lt;td&gt;</a:t>
            </a:r>
          </a:p>
          <a:p>
            <a:r>
              <a:rPr lang="en-US" dirty="0"/>
              <a:t>		</a:t>
            </a:r>
            <a:r>
              <a:rPr lang="en-US" b="1" dirty="0">
                <a:solidFill>
                  <a:srgbClr val="FF0000"/>
                </a:solidFill>
              </a:rPr>
              <a:t>&lt;table&gt;	</a:t>
            </a:r>
            <a:endParaRPr lang="ru-RU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		     &lt;</a:t>
            </a:r>
            <a:r>
              <a:rPr lang="en-US" b="1" dirty="0" err="1">
                <a:solidFill>
                  <a:srgbClr val="FF0000"/>
                </a:solidFill>
              </a:rPr>
              <a:t>tr</a:t>
            </a:r>
            <a:r>
              <a:rPr lang="en-US" b="1" dirty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>
                <a:solidFill>
                  <a:srgbClr val="FF0000"/>
                </a:solidFill>
              </a:rPr>
              <a:t>			&lt;td&gt;1&lt;/td&gt;</a:t>
            </a:r>
          </a:p>
          <a:p>
            <a:r>
              <a:rPr lang="en-US" b="1" dirty="0">
                <a:solidFill>
                  <a:srgbClr val="FF0000"/>
                </a:solidFill>
              </a:rPr>
              <a:t>			&lt;td&gt;2&lt;/td&gt;</a:t>
            </a:r>
          </a:p>
          <a:p>
            <a:r>
              <a:rPr lang="en-US" b="1" dirty="0">
                <a:solidFill>
                  <a:srgbClr val="FF0000"/>
                </a:solidFill>
              </a:rPr>
              <a:t>			&lt;td&gt;3&lt;/td&gt;</a:t>
            </a:r>
          </a:p>
          <a:p>
            <a:r>
              <a:rPr lang="en-US" b="1" dirty="0">
                <a:solidFill>
                  <a:srgbClr val="FF0000"/>
                </a:solidFill>
              </a:rPr>
              <a:t>		     &lt;/</a:t>
            </a:r>
            <a:r>
              <a:rPr lang="en-US" b="1" dirty="0" err="1">
                <a:solidFill>
                  <a:srgbClr val="FF0000"/>
                </a:solidFill>
              </a:rPr>
              <a:t>tr</a:t>
            </a:r>
            <a:r>
              <a:rPr lang="en-US" b="1" dirty="0">
                <a:solidFill>
                  <a:srgbClr val="FF0000"/>
                </a:solidFill>
              </a:rPr>
              <a:t>&gt;			</a:t>
            </a:r>
          </a:p>
          <a:p>
            <a:r>
              <a:rPr lang="en-US" b="1" dirty="0">
                <a:solidFill>
                  <a:srgbClr val="FF0000"/>
                </a:solidFill>
              </a:rPr>
              <a:t>		  &lt;/table&gt;</a:t>
            </a:r>
          </a:p>
          <a:p>
            <a:pPr lvl="2"/>
            <a:r>
              <a:rPr lang="en-US" dirty="0"/>
              <a:t>     </a:t>
            </a:r>
            <a:r>
              <a:rPr lang="en-US" b="1" dirty="0"/>
              <a:t>&lt;/td&gt;</a:t>
            </a:r>
          </a:p>
          <a:p>
            <a:r>
              <a:rPr lang="en-US" b="1" dirty="0"/>
              <a:t>	     &lt;td&gt;</a:t>
            </a:r>
          </a:p>
          <a:p>
            <a:r>
              <a:rPr lang="en-US" dirty="0"/>
              <a:t>		</a:t>
            </a:r>
            <a:r>
              <a:rPr lang="en-US" b="1" dirty="0">
                <a:solidFill>
                  <a:srgbClr val="FF0000"/>
                </a:solidFill>
              </a:rPr>
              <a:t>&lt;table&gt;	</a:t>
            </a:r>
            <a:endParaRPr lang="ru-RU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		     &lt;</a:t>
            </a:r>
            <a:r>
              <a:rPr lang="en-US" b="1" dirty="0" err="1">
                <a:solidFill>
                  <a:srgbClr val="FF0000"/>
                </a:solidFill>
              </a:rPr>
              <a:t>tr</a:t>
            </a:r>
            <a:r>
              <a:rPr lang="en-US" b="1" dirty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>
                <a:solidFill>
                  <a:srgbClr val="FF0000"/>
                </a:solidFill>
              </a:rPr>
              <a:t>			&lt;td&gt;1&lt;/td&gt;</a:t>
            </a:r>
          </a:p>
          <a:p>
            <a:r>
              <a:rPr lang="en-US" b="1" dirty="0">
                <a:solidFill>
                  <a:srgbClr val="FF0000"/>
                </a:solidFill>
              </a:rPr>
              <a:t>			&lt;td&gt;2&lt;/td&gt;</a:t>
            </a:r>
          </a:p>
          <a:p>
            <a:r>
              <a:rPr lang="en-US" b="1" dirty="0">
                <a:solidFill>
                  <a:srgbClr val="FF0000"/>
                </a:solidFill>
              </a:rPr>
              <a:t>			&lt;td&gt;3&lt;/td&gt;</a:t>
            </a:r>
          </a:p>
          <a:p>
            <a:r>
              <a:rPr lang="en-US" b="1" dirty="0">
                <a:solidFill>
                  <a:srgbClr val="FF0000"/>
                </a:solidFill>
              </a:rPr>
              <a:t>		     &lt;/</a:t>
            </a:r>
            <a:r>
              <a:rPr lang="en-US" b="1" dirty="0" err="1">
                <a:solidFill>
                  <a:srgbClr val="FF0000"/>
                </a:solidFill>
              </a:rPr>
              <a:t>tr</a:t>
            </a:r>
            <a:r>
              <a:rPr lang="en-US" b="1" dirty="0">
                <a:solidFill>
                  <a:srgbClr val="FF0000"/>
                </a:solidFill>
              </a:rPr>
              <a:t>&gt;			</a:t>
            </a:r>
          </a:p>
          <a:p>
            <a:r>
              <a:rPr lang="en-US" b="1" dirty="0">
                <a:solidFill>
                  <a:srgbClr val="FF0000"/>
                </a:solidFill>
              </a:rPr>
              <a:t>		  &lt;/table&gt;</a:t>
            </a:r>
          </a:p>
          <a:p>
            <a:r>
              <a:rPr lang="en-US" dirty="0"/>
              <a:t>	</a:t>
            </a:r>
            <a:r>
              <a:rPr lang="ru-RU" dirty="0">
                <a:solidFill>
                  <a:srgbClr val="00B0F0"/>
                </a:solidFill>
              </a:rPr>
              <a:t>    </a:t>
            </a:r>
            <a:r>
              <a:rPr lang="en-US" dirty="0"/>
              <a:t>&lt;/td&gt;</a:t>
            </a:r>
          </a:p>
          <a:p>
            <a:r>
              <a:rPr lang="en-US" dirty="0"/>
              <a:t>	&lt;/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r>
              <a:rPr lang="en-US" b="1" dirty="0"/>
              <a:t>&lt;/table&gt;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051720" y="1372094"/>
            <a:ext cx="3168352" cy="1944216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051720" y="3861048"/>
            <a:ext cx="3168352" cy="1944216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390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55776" y="41476"/>
            <a:ext cx="3672408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ea typeface="+mj-ea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Лабораторная работа 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5496" y="460429"/>
            <a:ext cx="9036496" cy="923330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 каталоге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Lab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находится файл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index.html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 заготовкой таблицы 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Создать следующий макет сайта используя теги 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table,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td</a:t>
            </a:r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 p,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li</a:t>
            </a:r>
            <a:endParaRPr lang="ru-RU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5" y="1415591"/>
            <a:ext cx="9082569" cy="4026817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179512" y="5442408"/>
            <a:ext cx="0" cy="79490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9036496" y="5448040"/>
            <a:ext cx="0" cy="79490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179512" y="5848397"/>
            <a:ext cx="8856984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11959" y="587361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552" y="1609168"/>
            <a:ext cx="136815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#e0e0e0</a:t>
            </a:r>
            <a:endParaRPr lang="ru-R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475656" y="2636912"/>
            <a:ext cx="115212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#ffcc00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640520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743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2729</TotalTime>
  <Words>1187</Words>
  <Application>Microsoft Office PowerPoint</Application>
  <PresentationFormat>Экран (4:3)</PresentationFormat>
  <Paragraphs>235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Calibri</vt:lpstr>
      <vt:lpstr>Courier New</vt:lpstr>
      <vt:lpstr>Lucida Sans Unicode</vt:lpstr>
      <vt:lpstr>Times New Roman</vt:lpstr>
      <vt:lpstr>Verdana</vt:lpstr>
      <vt:lpstr>Wingdings 2</vt:lpstr>
      <vt:lpstr>Wingdings 3</vt:lpstr>
      <vt:lpstr>Тема1</vt:lpstr>
      <vt:lpstr>Lists and Tables</vt:lpstr>
      <vt:lpstr>Cписки</vt:lpstr>
      <vt:lpstr>Презентация PowerPoint</vt:lpstr>
      <vt:lpstr>Нумерованный список  (ordered list)</vt:lpstr>
      <vt:lpstr>Типы нумерации</vt:lpstr>
      <vt:lpstr>Списки определений  (definition list)</vt:lpstr>
      <vt:lpstr>Презентация PowerPoint</vt:lpstr>
      <vt:lpstr>Таблицы</vt:lpstr>
      <vt:lpstr>Презентация PowerPoint</vt:lpstr>
      <vt:lpstr>Презентация PowerPoint</vt:lpstr>
      <vt:lpstr>Атрибуты элемента  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475</cp:revision>
  <dcterms:modified xsi:type="dcterms:W3CDTF">2021-03-04T05:59:34Z</dcterms:modified>
</cp:coreProperties>
</file>