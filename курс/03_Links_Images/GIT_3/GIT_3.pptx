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503" r:id="rId2"/>
    <p:sldId id="545" r:id="rId3"/>
    <p:sldId id="531" r:id="rId4"/>
    <p:sldId id="535" r:id="rId5"/>
    <p:sldId id="534" r:id="rId6"/>
    <p:sldId id="536" r:id="rId7"/>
    <p:sldId id="537" r:id="rId8"/>
    <p:sldId id="538" r:id="rId9"/>
    <p:sldId id="550" r:id="rId10"/>
    <p:sldId id="546" r:id="rId11"/>
    <p:sldId id="549" r:id="rId12"/>
    <p:sldId id="547" r:id="rId13"/>
    <p:sldId id="548" r:id="rId14"/>
    <p:sldId id="462" r:id="rId15"/>
    <p:sldId id="442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070"/>
    <a:srgbClr val="66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0" autoAdjust="0"/>
    <p:restoredTop sz="95404" autoAdjust="0"/>
  </p:normalViewPr>
  <p:slideViewPr>
    <p:cSldViewPr showGuides="1">
      <p:cViewPr varScale="1">
        <p:scale>
          <a:sx n="109" d="100"/>
          <a:sy n="109" d="100"/>
        </p:scale>
        <p:origin x="1854" y="108"/>
      </p:cViewPr>
      <p:guideLst>
        <p:guide orient="horz" pos="193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0" d="100"/>
          <a:sy n="70" d="100"/>
        </p:scale>
        <p:origin x="-1891" y="-103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31450-B050-45E2-8615-538A492B15A9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0A7537-64E2-4FB1-A143-BC4EC49EFF7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302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44945-8607-4F2F-AB6B-4EC0DBA6E6CF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B747D1-FEBF-423A-AD6B-EF9B292E11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5852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6605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63372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41143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6581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841939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969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4393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01796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87407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0490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06066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46344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1486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B747D1-FEBF-423A-AD6B-EF9B292E11F6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63724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681336" y="58614"/>
            <a:ext cx="4618856" cy="562074"/>
          </a:xfr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none"/>
        </p:style>
        <p:txBody>
          <a:bodyPr>
            <a:normAutofit/>
          </a:bodyPr>
          <a:lstStyle>
            <a:lvl1pPr>
              <a:defRPr sz="2200" b="1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7" name="TextBox 6"/>
          <p:cNvSpPr txBox="1"/>
          <p:nvPr userDrawn="1"/>
        </p:nvSpPr>
        <p:spPr>
          <a:xfrm>
            <a:off x="107504" y="908720"/>
            <a:ext cx="8928992" cy="369332"/>
          </a:xfrm>
          <a:prstGeom prst="rect">
            <a:avLst/>
          </a:prstGeom>
          <a:solidFill>
            <a:srgbClr val="92D05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107504" y="2195572"/>
            <a:ext cx="8928992" cy="369332"/>
          </a:xfrm>
          <a:prstGeom prst="rect">
            <a:avLst/>
          </a:prstGeom>
          <a:solidFill>
            <a:srgbClr val="FFFF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107504" y="3707740"/>
            <a:ext cx="8928992" cy="369332"/>
          </a:xfrm>
          <a:prstGeom prst="rect">
            <a:avLst/>
          </a:prstGeom>
          <a:solidFill>
            <a:srgbClr val="7030A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35496" y="5219908"/>
            <a:ext cx="8928992" cy="369332"/>
          </a:xfrm>
          <a:prstGeom prst="rect">
            <a:avLst/>
          </a:prstGeom>
          <a:solidFill>
            <a:srgbClr val="FF0000">
              <a:alpha val="9000"/>
            </a:srgb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/>
              <a:t>text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140073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262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6517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238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63186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9470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80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0584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3959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4088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8998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7633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298EDE-99C0-458B-82F9-AAF47343B0E8}" type="datetimeFigureOut">
              <a:rPr lang="ru-RU" smtClean="0"/>
              <a:t>02.03.2021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6F89E-0603-4DDE-AF50-0CBC2DCB37F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403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046639"/>
            <a:ext cx="9144000" cy="433364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71700" y="188640"/>
            <a:ext cx="5400600" cy="70788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noFill/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sz="4000" dirty="0" err="1"/>
              <a:t>занятие</a:t>
            </a:r>
            <a:r>
              <a:rPr lang="uk-UA" sz="4000" dirty="0"/>
              <a:t> </a:t>
            </a:r>
            <a:r>
              <a:rPr lang="en-US" sz="4000"/>
              <a:t>3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1701887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3059832" y="82657"/>
            <a:ext cx="2785043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Работа с </a:t>
            </a:r>
            <a:r>
              <a:rPr lang="en-US" dirty="0"/>
              <a:t>branches</a:t>
            </a:r>
            <a:endParaRPr lang="ru-RU" dirty="0"/>
          </a:p>
        </p:txBody>
      </p:sp>
      <p:sp>
        <p:nvSpPr>
          <p:cNvPr id="3" name="TextBox 2"/>
          <p:cNvSpPr txBox="1"/>
          <p:nvPr/>
        </p:nvSpPr>
        <p:spPr>
          <a:xfrm>
            <a:off x="60966" y="539388"/>
            <a:ext cx="8950060" cy="2585323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Например появилась новая идея по проекту, но мы не знаем сработает она или нет. Вместо того, чтобы делать много </a:t>
            </a:r>
            <a:r>
              <a:rPr lang="ru-RU" dirty="0" err="1"/>
              <a:t>коммитов</a:t>
            </a:r>
            <a:r>
              <a:rPr lang="ru-RU" dirty="0"/>
              <a:t> по основному проекту можно создать новую ветку (</a:t>
            </a:r>
            <a:r>
              <a:rPr lang="en-US" dirty="0">
                <a:solidFill>
                  <a:srgbClr val="C00000"/>
                </a:solidFill>
              </a:rPr>
              <a:t>branch</a:t>
            </a:r>
            <a:r>
              <a:rPr lang="ru-RU" dirty="0"/>
              <a:t>)</a:t>
            </a:r>
            <a:r>
              <a:rPr lang="en-US" dirty="0"/>
              <a:t> </a:t>
            </a:r>
            <a:r>
              <a:rPr lang="uk-UA" dirty="0"/>
              <a:t>и</a:t>
            </a:r>
            <a:r>
              <a:rPr lang="ru-RU" dirty="0"/>
              <a:t> в ней проводить эксперименты и </a:t>
            </a:r>
          </a:p>
          <a:p>
            <a:endParaRPr lang="ru-RU" dirty="0"/>
          </a:p>
          <a:p>
            <a:r>
              <a:rPr lang="ru-RU" dirty="0"/>
              <a:t>- в случае удачи слить ветки вместе</a:t>
            </a:r>
          </a:p>
          <a:p>
            <a:r>
              <a:rPr lang="ru-RU" dirty="0"/>
              <a:t>- в случае неудачи вернуться в старый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en-US" dirty="0">
                <a:solidFill>
                  <a:srgbClr val="C00000"/>
                </a:solidFill>
              </a:rPr>
              <a:t>branch</a:t>
            </a:r>
            <a:r>
              <a:rPr lang="ru-RU" dirty="0"/>
              <a:t> и удалить  </a:t>
            </a:r>
          </a:p>
          <a:p>
            <a:r>
              <a:rPr lang="ru-RU" dirty="0"/>
              <a:t>  </a:t>
            </a:r>
            <a:r>
              <a:rPr lang="ru-RU" dirty="0" err="1"/>
              <a:t>эксперементальный</a:t>
            </a:r>
            <a:endParaRPr lang="ru-RU" dirty="0"/>
          </a:p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49924" y="4077072"/>
            <a:ext cx="8975530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uk-UA" dirty="0">
                <a:solidFill>
                  <a:srgbClr val="002060"/>
                </a:solidFill>
              </a:rPr>
              <a:t>Команд</a:t>
            </a:r>
            <a:r>
              <a:rPr lang="ru-RU" dirty="0">
                <a:solidFill>
                  <a:srgbClr val="002060"/>
                </a:solidFill>
              </a:rPr>
              <a:t>ы для создания нового </a:t>
            </a:r>
            <a:r>
              <a:rPr lang="en-US" dirty="0">
                <a:solidFill>
                  <a:srgbClr val="004070"/>
                </a:solidFill>
              </a:rPr>
              <a:t>branch</a:t>
            </a:r>
            <a:endParaRPr lang="ru-RU" dirty="0">
              <a:solidFill>
                <a:srgbClr val="004070"/>
              </a:solidFill>
            </a:endParaRPr>
          </a:p>
          <a:p>
            <a:pPr algn="ctr"/>
            <a:endParaRPr lang="ru-RU" dirty="0">
              <a:solidFill>
                <a:srgbClr val="002060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 </a:t>
            </a:r>
            <a:r>
              <a:rPr lang="uk-UA" dirty="0">
                <a:solidFill>
                  <a:srgbClr val="004070"/>
                </a:solidFill>
              </a:rPr>
              <a:t>ИМЯ_</a:t>
            </a:r>
            <a:r>
              <a:rPr lang="en-US" dirty="0">
                <a:solidFill>
                  <a:srgbClr val="004070"/>
                </a:solidFill>
              </a:rPr>
              <a:t>BRANCH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en-US" dirty="0">
                <a:solidFill>
                  <a:srgbClr val="004070"/>
                </a:solidFill>
              </a:rPr>
              <a:t>    </a:t>
            </a:r>
            <a:r>
              <a:rPr lang="uk-UA" dirty="0"/>
              <a:t>-</a:t>
            </a:r>
            <a:r>
              <a:rPr lang="en-US" dirty="0"/>
              <a:t>&gt; </a:t>
            </a:r>
            <a:r>
              <a:rPr lang="uk-UA" dirty="0" err="1"/>
              <a:t>создать</a:t>
            </a:r>
            <a:r>
              <a:rPr lang="uk-UA" dirty="0"/>
              <a:t> </a:t>
            </a:r>
            <a:r>
              <a:rPr lang="en-US" dirty="0"/>
              <a:t> branch</a:t>
            </a:r>
            <a:r>
              <a:rPr lang="uk-UA" dirty="0">
                <a:solidFill>
                  <a:srgbClr val="004070"/>
                </a:solidFill>
              </a:rPr>
              <a:t> </a:t>
            </a:r>
          </a:p>
          <a:p>
            <a:endParaRPr lang="uk-UA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</a:t>
            </a:r>
            <a:r>
              <a:rPr lang="uk-UA" dirty="0">
                <a:solidFill>
                  <a:schemeClr val="accent2"/>
                </a:solidFill>
              </a:rPr>
              <a:t> –</a:t>
            </a:r>
            <a:r>
              <a:rPr lang="en-US" dirty="0">
                <a:solidFill>
                  <a:schemeClr val="accent2"/>
                </a:solidFill>
              </a:rPr>
              <a:t>b </a:t>
            </a:r>
            <a:r>
              <a:rPr lang="uk-UA" dirty="0">
                <a:solidFill>
                  <a:srgbClr val="004070"/>
                </a:solidFill>
              </a:rPr>
              <a:t>ИМЯ_</a:t>
            </a:r>
            <a:r>
              <a:rPr lang="en-US" dirty="0">
                <a:solidFill>
                  <a:srgbClr val="004070"/>
                </a:solidFill>
              </a:rPr>
              <a:t> BRANCH</a:t>
            </a:r>
            <a:r>
              <a:rPr lang="uk-UA" dirty="0">
                <a:solidFill>
                  <a:srgbClr val="004070"/>
                </a:solidFill>
              </a:rPr>
              <a:t> </a:t>
            </a:r>
            <a:r>
              <a:rPr lang="uk-UA" dirty="0"/>
              <a:t>-</a:t>
            </a:r>
            <a:r>
              <a:rPr lang="en-US" dirty="0"/>
              <a:t>&gt; </a:t>
            </a:r>
            <a:r>
              <a:rPr lang="uk-UA" dirty="0" err="1"/>
              <a:t>создать</a:t>
            </a:r>
            <a:r>
              <a:rPr lang="uk-UA" dirty="0"/>
              <a:t> и перейти в </a:t>
            </a:r>
            <a:r>
              <a:rPr lang="ru-RU" dirty="0"/>
              <a:t>этот </a:t>
            </a:r>
            <a:r>
              <a:rPr lang="en-US" dirty="0"/>
              <a:t>branch</a:t>
            </a:r>
            <a:r>
              <a:rPr lang="uk-UA" dirty="0">
                <a:solidFill>
                  <a:srgbClr val="004070"/>
                </a:solidFill>
              </a:rPr>
              <a:t> </a:t>
            </a:r>
          </a:p>
          <a:p>
            <a:endParaRPr lang="ru-RU" dirty="0"/>
          </a:p>
        </p:txBody>
      </p:sp>
      <p:sp>
        <p:nvSpPr>
          <p:cNvPr id="13" name="TextBox 12"/>
          <p:cNvSpPr txBox="1"/>
          <p:nvPr/>
        </p:nvSpPr>
        <p:spPr>
          <a:xfrm>
            <a:off x="47261" y="3268612"/>
            <a:ext cx="897553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В</a:t>
            </a:r>
            <a:r>
              <a:rPr lang="en-US" dirty="0"/>
              <a:t> GIT </a:t>
            </a:r>
            <a:r>
              <a:rPr lang="uk-UA" dirty="0" err="1"/>
              <a:t>изначально</a:t>
            </a:r>
            <a:r>
              <a:rPr lang="uk-UA" dirty="0"/>
              <a:t> </a:t>
            </a:r>
            <a:r>
              <a:rPr lang="uk-UA" dirty="0" err="1"/>
              <a:t>присутствует</a:t>
            </a:r>
            <a:r>
              <a:rPr lang="uk-UA" dirty="0"/>
              <a:t> </a:t>
            </a:r>
            <a:r>
              <a:rPr lang="en-US" dirty="0">
                <a:solidFill>
                  <a:srgbClr val="C00000"/>
                </a:solidFill>
              </a:rPr>
              <a:t>branch </a:t>
            </a:r>
            <a:r>
              <a:rPr lang="uk-UA" dirty="0" err="1"/>
              <a:t>под</a:t>
            </a:r>
            <a:r>
              <a:rPr lang="uk-UA" dirty="0"/>
              <a:t> </a:t>
            </a:r>
            <a:r>
              <a:rPr lang="uk-UA" dirty="0" err="1"/>
              <a:t>названием</a:t>
            </a:r>
            <a:r>
              <a:rPr lang="uk-UA" dirty="0"/>
              <a:t> 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master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2071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Прямая соединительная линия 11"/>
          <p:cNvCxnSpPr/>
          <p:nvPr/>
        </p:nvCxnSpPr>
        <p:spPr>
          <a:xfrm>
            <a:off x="6344410" y="1556792"/>
            <a:ext cx="0" cy="381642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Овал 12"/>
          <p:cNvSpPr/>
          <p:nvPr/>
        </p:nvSpPr>
        <p:spPr>
          <a:xfrm>
            <a:off x="6164390" y="2938693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Овал 13"/>
          <p:cNvSpPr/>
          <p:nvPr/>
        </p:nvSpPr>
        <p:spPr>
          <a:xfrm>
            <a:off x="6172401" y="3717032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Овал 14"/>
          <p:cNvSpPr/>
          <p:nvPr/>
        </p:nvSpPr>
        <p:spPr>
          <a:xfrm>
            <a:off x="6172401" y="4495371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Стрелка вправо 3"/>
          <p:cNvSpPr/>
          <p:nvPr/>
        </p:nvSpPr>
        <p:spPr>
          <a:xfrm>
            <a:off x="4716016" y="2743513"/>
            <a:ext cx="1296144" cy="750399"/>
          </a:xfrm>
          <a:prstGeom prst="rightArrow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HEAD</a:t>
            </a:r>
            <a:endParaRPr lang="ru-RU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244" y="360554"/>
            <a:ext cx="3151604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/>
              <a:t>C</a:t>
            </a:r>
            <a:r>
              <a:rPr lang="ru-RU" dirty="0" err="1"/>
              <a:t>озда</a:t>
            </a:r>
            <a:r>
              <a:rPr lang="uk-UA" dirty="0" err="1"/>
              <a:t>ть</a:t>
            </a:r>
            <a:r>
              <a:rPr lang="ru-RU" dirty="0"/>
              <a:t> новый </a:t>
            </a:r>
            <a:r>
              <a:rPr lang="en-US" dirty="0">
                <a:solidFill>
                  <a:srgbClr val="C00000"/>
                </a:solidFill>
              </a:rPr>
              <a:t>branch </a:t>
            </a: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 cat</a:t>
            </a:r>
            <a:endParaRPr lang="ru-RU" dirty="0"/>
          </a:p>
        </p:txBody>
      </p:sp>
      <p:sp>
        <p:nvSpPr>
          <p:cNvPr id="19" name="TextBox 18"/>
          <p:cNvSpPr txBox="1"/>
          <p:nvPr/>
        </p:nvSpPr>
        <p:spPr>
          <a:xfrm>
            <a:off x="5882517" y="103378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master</a:t>
            </a:r>
            <a:endParaRPr lang="ru-RU" b="1" dirty="0"/>
          </a:p>
        </p:txBody>
      </p:sp>
      <p:grpSp>
        <p:nvGrpSpPr>
          <p:cNvPr id="28" name="Группа 27"/>
          <p:cNvGrpSpPr/>
          <p:nvPr/>
        </p:nvGrpSpPr>
        <p:grpSpPr>
          <a:xfrm>
            <a:off x="6344411" y="1556792"/>
            <a:ext cx="1412166" cy="1253450"/>
            <a:chOff x="4527986" y="1556792"/>
            <a:chExt cx="1412166" cy="1253450"/>
          </a:xfrm>
        </p:grpSpPr>
        <p:cxnSp>
          <p:nvCxnSpPr>
            <p:cNvPr id="20" name="Прямая соединительная линия 19"/>
            <p:cNvCxnSpPr/>
            <p:nvPr/>
          </p:nvCxnSpPr>
          <p:spPr>
            <a:xfrm flipH="1">
              <a:off x="4527986" y="2502927"/>
              <a:ext cx="1412166" cy="307315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Прямая соединительная линия 22"/>
            <p:cNvCxnSpPr/>
            <p:nvPr/>
          </p:nvCxnSpPr>
          <p:spPr>
            <a:xfrm>
              <a:off x="5940152" y="1556792"/>
              <a:ext cx="0" cy="946135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/>
          <p:cNvSpPr txBox="1"/>
          <p:nvPr/>
        </p:nvSpPr>
        <p:spPr>
          <a:xfrm>
            <a:off x="7324529" y="1052736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cat</a:t>
            </a:r>
            <a:endParaRPr lang="ru-RU" b="1" dirty="0"/>
          </a:p>
        </p:txBody>
      </p:sp>
      <p:sp>
        <p:nvSpPr>
          <p:cNvPr id="33" name="TextBox 32"/>
          <p:cNvSpPr txBox="1"/>
          <p:nvPr/>
        </p:nvSpPr>
        <p:spPr>
          <a:xfrm>
            <a:off x="51500" y="1218448"/>
            <a:ext cx="5159106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!!! Но </a:t>
            </a:r>
            <a:r>
              <a:rPr lang="en-US" dirty="0"/>
              <a:t>HEAD </a:t>
            </a:r>
            <a:r>
              <a:rPr lang="uk-UA" dirty="0" err="1"/>
              <a:t>остается</a:t>
            </a:r>
            <a:r>
              <a:rPr lang="uk-UA" dirty="0"/>
              <a:t> в </a:t>
            </a:r>
            <a:r>
              <a:rPr lang="en-US" dirty="0">
                <a:solidFill>
                  <a:schemeClr val="accent2"/>
                </a:solidFill>
              </a:rPr>
              <a:t>master </a:t>
            </a:r>
            <a:r>
              <a:rPr lang="en-US" dirty="0"/>
              <a:t>branch</a:t>
            </a:r>
            <a:endParaRPr lang="uk-UA" dirty="0"/>
          </a:p>
          <a:p>
            <a:r>
              <a:rPr lang="ru-RU" dirty="0"/>
              <a:t>Команда для перехода в </a:t>
            </a:r>
            <a:r>
              <a:rPr lang="ru-RU" dirty="0">
                <a:solidFill>
                  <a:schemeClr val="accent2"/>
                </a:solidFill>
              </a:rPr>
              <a:t>с</a:t>
            </a:r>
            <a:r>
              <a:rPr lang="en-US" dirty="0">
                <a:solidFill>
                  <a:schemeClr val="accent2"/>
                </a:solidFill>
              </a:rPr>
              <a:t>at</a:t>
            </a:r>
            <a:r>
              <a:rPr lang="en-US" dirty="0"/>
              <a:t> branch</a:t>
            </a:r>
            <a:endParaRPr lang="ru-RU" dirty="0"/>
          </a:p>
          <a:p>
            <a:r>
              <a:rPr lang="ru-RU" dirty="0"/>
              <a:t> </a:t>
            </a:r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cat</a:t>
            </a:r>
            <a:r>
              <a:rPr lang="uk-UA" dirty="0"/>
              <a:t> 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34" name="TextBox 33"/>
          <p:cNvSpPr txBox="1"/>
          <p:nvPr/>
        </p:nvSpPr>
        <p:spPr>
          <a:xfrm>
            <a:off x="52244" y="3521229"/>
            <a:ext cx="5455859" cy="203132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/>
              <a:t>Теперь</a:t>
            </a:r>
            <a:r>
              <a:rPr lang="uk-UA" dirty="0"/>
              <a:t> </a:t>
            </a:r>
            <a:r>
              <a:rPr lang="uk-UA" dirty="0" err="1"/>
              <a:t>можно</a:t>
            </a:r>
            <a:r>
              <a:rPr lang="uk-UA" dirty="0"/>
              <a:t> вносить </a:t>
            </a:r>
            <a:r>
              <a:rPr lang="uk-UA" dirty="0" err="1"/>
              <a:t>изменения</a:t>
            </a:r>
            <a:r>
              <a:rPr lang="uk-UA" dirty="0"/>
              <a:t> в </a:t>
            </a:r>
            <a:r>
              <a:rPr lang="uk-UA" dirty="0" err="1"/>
              <a:t>файлы</a:t>
            </a:r>
            <a:r>
              <a:rPr lang="uk-UA" dirty="0"/>
              <a:t>, </a:t>
            </a:r>
            <a:r>
              <a:rPr lang="uk-UA" dirty="0" err="1"/>
              <a:t>делать</a:t>
            </a:r>
            <a:r>
              <a:rPr lang="uk-UA" dirty="0"/>
              <a:t> </a:t>
            </a:r>
            <a:r>
              <a:rPr lang="en-US" dirty="0"/>
              <a:t>commits </a:t>
            </a:r>
            <a:r>
              <a:rPr lang="uk-UA" dirty="0"/>
              <a:t>в </a:t>
            </a:r>
            <a:r>
              <a:rPr lang="uk-UA" dirty="0" err="1"/>
              <a:t>новом</a:t>
            </a:r>
            <a:r>
              <a:rPr lang="uk-UA" dirty="0"/>
              <a:t> </a:t>
            </a:r>
            <a:r>
              <a:rPr lang="en-US" dirty="0"/>
              <a:t>branch</a:t>
            </a:r>
            <a:endParaRPr lang="uk-UA" dirty="0"/>
          </a:p>
          <a:p>
            <a:endParaRPr lang="en-US" dirty="0"/>
          </a:p>
          <a:p>
            <a:r>
              <a:rPr lang="ru-RU" dirty="0"/>
              <a:t>При переключении в другой </a:t>
            </a:r>
            <a:r>
              <a:rPr lang="en-US" dirty="0">
                <a:solidFill>
                  <a:schemeClr val="accent2"/>
                </a:solidFill>
              </a:rPr>
              <a:t>branch</a:t>
            </a:r>
            <a:r>
              <a:rPr lang="uk-UA" dirty="0">
                <a:solidFill>
                  <a:schemeClr val="accent2"/>
                </a:solidFill>
              </a:rPr>
              <a:t>  </a:t>
            </a:r>
          </a:p>
          <a:p>
            <a:r>
              <a:rPr lang="uk-UA"/>
              <a:t>если</a:t>
            </a:r>
            <a:r>
              <a:rPr lang="uk-UA" dirty="0"/>
              <a:t> в </a:t>
            </a:r>
            <a:r>
              <a:rPr lang="uk-UA" dirty="0" err="1"/>
              <a:t>текущем</a:t>
            </a:r>
            <a:r>
              <a:rPr lang="uk-UA" dirty="0"/>
              <a:t> вносились </a:t>
            </a:r>
            <a:r>
              <a:rPr lang="uk-UA" dirty="0" err="1"/>
              <a:t>изменения</a:t>
            </a:r>
            <a:r>
              <a:rPr lang="uk-UA" dirty="0"/>
              <a:t> в </a:t>
            </a:r>
            <a:r>
              <a:rPr lang="uk-UA" dirty="0" err="1"/>
              <a:t>файлы</a:t>
            </a:r>
            <a:r>
              <a:rPr lang="uk-UA" dirty="0"/>
              <a:t> </a:t>
            </a:r>
            <a:r>
              <a:rPr lang="ru-RU" dirty="0"/>
              <a:t>надо или сделать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commit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ru-RU" dirty="0"/>
              <a:t>или работать с копилкой </a:t>
            </a:r>
            <a:r>
              <a:rPr lang="en-US" dirty="0"/>
              <a:t>stash 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2638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94444E-6 3.7037E-7 L 0.18906 -0.13009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444" y="-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9" grpId="0"/>
      <p:bldP spid="33" grpId="0" animBg="1"/>
      <p:bldP spid="3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/>
          <p:cNvSpPr txBox="1"/>
          <p:nvPr/>
        </p:nvSpPr>
        <p:spPr>
          <a:xfrm>
            <a:off x="145502" y="243066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 err="1"/>
              <a:t>Чтобы</a:t>
            </a:r>
            <a:r>
              <a:rPr lang="uk-UA" dirty="0"/>
              <a:t> </a:t>
            </a:r>
            <a:r>
              <a:rPr lang="uk-UA" dirty="0" err="1"/>
              <a:t>создать</a:t>
            </a:r>
            <a:r>
              <a:rPr lang="uk-UA" dirty="0"/>
              <a:t> </a:t>
            </a:r>
            <a:r>
              <a:rPr lang="uk-UA" dirty="0" err="1"/>
              <a:t>новый</a:t>
            </a:r>
            <a:r>
              <a:rPr lang="uk-UA" dirty="0"/>
              <a:t> </a:t>
            </a:r>
            <a:r>
              <a:rPr lang="en-US" dirty="0">
                <a:solidFill>
                  <a:srgbClr val="C00000"/>
                </a:solidFill>
              </a:rPr>
              <a:t>branch </a:t>
            </a:r>
            <a:r>
              <a:rPr lang="ru-RU" dirty="0">
                <a:solidFill>
                  <a:srgbClr val="C00000"/>
                </a:solidFill>
              </a:rPr>
              <a:t> </a:t>
            </a:r>
            <a:r>
              <a:rPr lang="uk-UA" dirty="0"/>
              <a:t>и </a:t>
            </a:r>
            <a:r>
              <a:rPr lang="uk-UA" dirty="0" err="1"/>
              <a:t>сразу</a:t>
            </a:r>
            <a:r>
              <a:rPr lang="uk-UA" dirty="0"/>
              <a:t> в </a:t>
            </a:r>
            <a:r>
              <a:rPr lang="uk-UA" dirty="0" err="1"/>
              <a:t>него</a:t>
            </a:r>
            <a:r>
              <a:rPr lang="uk-UA" dirty="0"/>
              <a:t> перейти </a:t>
            </a:r>
            <a:r>
              <a:rPr lang="uk-UA" dirty="0" err="1"/>
              <a:t>надо</a:t>
            </a:r>
            <a:r>
              <a:rPr lang="uk-UA" dirty="0"/>
              <a:t> </a:t>
            </a:r>
            <a:r>
              <a:rPr lang="uk-UA" dirty="0" err="1"/>
              <a:t>выполнить</a:t>
            </a:r>
            <a:r>
              <a:rPr lang="uk-UA" dirty="0"/>
              <a:t> команду</a:t>
            </a:r>
            <a:endParaRPr lang="en-US" dirty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</a:t>
            </a:r>
            <a:r>
              <a:rPr lang="ru-RU" dirty="0">
                <a:solidFill>
                  <a:schemeClr val="accent2"/>
                </a:solidFill>
              </a:rPr>
              <a:t>–</a:t>
            </a:r>
            <a:r>
              <a:rPr lang="en-US" dirty="0">
                <a:solidFill>
                  <a:schemeClr val="accent2"/>
                </a:solidFill>
              </a:rPr>
              <a:t>b cat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340768"/>
            <a:ext cx="8471173" cy="967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2162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48157" y="476672"/>
            <a:ext cx="898834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Посмотреть имеющие </a:t>
            </a:r>
            <a:r>
              <a:rPr lang="en-US" dirty="0"/>
              <a:t>branches </a:t>
            </a:r>
            <a:r>
              <a:rPr lang="ru-RU" dirty="0"/>
              <a:t>можно как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</a:t>
            </a:r>
            <a:endParaRPr lang="ru-RU" dirty="0">
              <a:solidFill>
                <a:schemeClr val="accent2"/>
              </a:solidFill>
            </a:endParaRPr>
          </a:p>
          <a:p>
            <a:r>
              <a:rPr lang="ru-RU" dirty="0"/>
              <a:t>Текущий </a:t>
            </a:r>
            <a:r>
              <a:rPr lang="en-US" dirty="0"/>
              <a:t>branch </a:t>
            </a:r>
            <a:r>
              <a:rPr lang="ru-RU" dirty="0"/>
              <a:t>будет отмечен </a:t>
            </a:r>
            <a:r>
              <a:rPr lang="en-US" dirty="0"/>
              <a:t>*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5" y="1701110"/>
            <a:ext cx="8532440" cy="136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099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9711" y="116632"/>
            <a:ext cx="8975530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Переименование</a:t>
            </a:r>
            <a:r>
              <a:rPr lang="en-US" dirty="0">
                <a:solidFill>
                  <a:srgbClr val="002060"/>
                </a:solidFill>
              </a:rPr>
              <a:t> branch</a:t>
            </a:r>
            <a:endParaRPr lang="ru-RU" dirty="0">
              <a:solidFill>
                <a:srgbClr val="002060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 –m </a:t>
            </a:r>
            <a:r>
              <a:rPr lang="uk-UA" dirty="0">
                <a:solidFill>
                  <a:schemeClr val="accent6"/>
                </a:solidFill>
              </a:rPr>
              <a:t>СТАРОЕ_ИМЯ </a:t>
            </a:r>
            <a:r>
              <a:rPr lang="uk-UA" dirty="0">
                <a:solidFill>
                  <a:srgbClr val="0070C0"/>
                </a:solidFill>
              </a:rPr>
              <a:t>НОВОЕ_ИМЯ</a:t>
            </a:r>
            <a:endParaRPr lang="en-US" dirty="0">
              <a:solidFill>
                <a:schemeClr val="accent6"/>
              </a:solidFill>
            </a:endParaRPr>
          </a:p>
          <a:p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11" y="1196752"/>
            <a:ext cx="8705305" cy="210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4042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4235" y="116632"/>
            <a:ext cx="8975530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>
                <a:solidFill>
                  <a:srgbClr val="002060"/>
                </a:solidFill>
              </a:rPr>
              <a:t>Удаление</a:t>
            </a:r>
            <a:r>
              <a:rPr lang="en-US" dirty="0">
                <a:solidFill>
                  <a:srgbClr val="002060"/>
                </a:solidFill>
              </a:rPr>
              <a:t> branch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master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branch –D </a:t>
            </a:r>
            <a:r>
              <a:rPr lang="en-US" dirty="0" err="1">
                <a:solidFill>
                  <a:schemeClr val="accent2"/>
                </a:solidFill>
              </a:rPr>
              <a:t>newcat</a:t>
            </a:r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ru-RU" dirty="0"/>
              <a:t>Но если мы находимся в этом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en-US" dirty="0"/>
              <a:t> </a:t>
            </a:r>
            <a:r>
              <a:rPr lang="ru-RU" dirty="0"/>
              <a:t>мы не сможем его удалить</a:t>
            </a:r>
            <a:r>
              <a:rPr lang="uk-UA" dirty="0"/>
              <a:t>, то </a:t>
            </a:r>
            <a:r>
              <a:rPr lang="uk-UA" dirty="0" err="1"/>
              <a:t>есть</a:t>
            </a:r>
            <a:r>
              <a:rPr lang="uk-UA" dirty="0"/>
              <a:t> перед </a:t>
            </a:r>
            <a:r>
              <a:rPr lang="uk-UA" dirty="0" err="1"/>
              <a:t>удалением</a:t>
            </a:r>
            <a:r>
              <a:rPr lang="uk-UA" dirty="0"/>
              <a:t>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en-US" dirty="0"/>
              <a:t> </a:t>
            </a:r>
            <a:r>
              <a:rPr lang="uk-UA" dirty="0" err="1"/>
              <a:t>надо</a:t>
            </a:r>
            <a:r>
              <a:rPr lang="uk-UA" dirty="0"/>
              <a:t> переключиться в </a:t>
            </a:r>
            <a:r>
              <a:rPr lang="uk-UA" dirty="0" err="1"/>
              <a:t>другой</a:t>
            </a:r>
            <a:r>
              <a:rPr lang="uk-UA" dirty="0"/>
              <a:t>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uk-UA" dirty="0"/>
              <a:t> 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146" y="2132856"/>
            <a:ext cx="8758164" cy="225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464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66" y="107340"/>
            <a:ext cx="321489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$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 -b cat</a:t>
            </a:r>
            <a:endParaRPr lang="ru-RU" dirty="0">
              <a:solidFill>
                <a:schemeClr val="accent2"/>
              </a:solidFill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344410" y="2727874"/>
            <a:ext cx="0" cy="381642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6164390" y="5517232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161749" y="6068464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882517" y="220486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master</a:t>
            </a:r>
            <a:endParaRPr lang="ru-RU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6398566" y="2202688"/>
            <a:ext cx="1711286" cy="3102662"/>
            <a:chOff x="1907704" y="878662"/>
            <a:chExt cx="1711286" cy="3102662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 flipH="1">
              <a:off x="1907704" y="3674009"/>
              <a:ext cx="1412166" cy="307315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3319870" y="2537022"/>
              <a:ext cx="0" cy="113698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20749" y="878662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cat</a:t>
              </a:r>
              <a:endParaRPr lang="ru-RU" b="1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4732" y="671224"/>
            <a:ext cx="4107228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-внесли </a:t>
            </a:r>
            <a:r>
              <a:rPr lang="uk-UA" dirty="0" err="1"/>
              <a:t>изменения</a:t>
            </a:r>
            <a:r>
              <a:rPr lang="uk-UA" dirty="0"/>
              <a:t> в файл</a:t>
            </a:r>
            <a:r>
              <a:rPr lang="ru-RU" dirty="0"/>
              <a:t>ы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add .</a:t>
            </a:r>
          </a:p>
          <a:p>
            <a:r>
              <a:rPr lang="en-US" dirty="0">
                <a:solidFill>
                  <a:schemeClr val="accent2"/>
                </a:solidFill>
              </a:rPr>
              <a:t>$ commit –m "…"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4724735" y="5308082"/>
            <a:ext cx="1224136" cy="778339"/>
            <a:chOff x="4724735" y="5308082"/>
            <a:chExt cx="1224136" cy="778339"/>
          </a:xfrm>
        </p:grpSpPr>
        <p:sp>
          <p:nvSpPr>
            <p:cNvPr id="29" name="Стрелка влево 28"/>
            <p:cNvSpPr/>
            <p:nvPr/>
          </p:nvSpPr>
          <p:spPr>
            <a:xfrm rot="10800000">
              <a:off x="4724735" y="5308082"/>
              <a:ext cx="1224136" cy="778339"/>
            </a:xfrm>
            <a:prstGeom prst="leftArrow">
              <a:avLst/>
            </a:prstGeom>
            <a:solidFill>
              <a:schemeClr val="accent2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5928" y="551723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HEAD</a:t>
              </a:r>
              <a:endParaRPr lang="ru-RU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07504" y="1916832"/>
            <a:ext cx="410445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 переходим в </a:t>
            </a:r>
            <a:r>
              <a:rPr lang="en-US" dirty="0"/>
              <a:t>master branch</a:t>
            </a:r>
            <a:endParaRPr lang="ru-RU" dirty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master</a:t>
            </a:r>
            <a:endParaRPr lang="ru-RU" dirty="0"/>
          </a:p>
        </p:txBody>
      </p:sp>
      <p:sp>
        <p:nvSpPr>
          <p:cNvPr id="31" name="Овал 30"/>
          <p:cNvSpPr/>
          <p:nvPr/>
        </p:nvSpPr>
        <p:spPr>
          <a:xfrm>
            <a:off x="7630711" y="4325905"/>
            <a:ext cx="360040" cy="360040"/>
          </a:xfrm>
          <a:prstGeom prst="ellipse">
            <a:avLst/>
          </a:prstGeom>
          <a:solidFill>
            <a:srgbClr val="92D050"/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132974" y="2852936"/>
            <a:ext cx="407898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 в</a:t>
            </a:r>
            <a:r>
              <a:rPr lang="ru-RU" dirty="0" err="1"/>
              <a:t>ыполняем</a:t>
            </a:r>
            <a:r>
              <a:rPr lang="ru-RU" dirty="0"/>
              <a:t> слияние </a:t>
            </a:r>
            <a:r>
              <a:rPr lang="en-US" dirty="0"/>
              <a:t>branches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merge cat</a:t>
            </a:r>
            <a:endParaRPr lang="ru-RU" dirty="0"/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6344410" y="3284984"/>
            <a:ext cx="1466322" cy="5760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6166618" y="3183115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132974" y="3645024"/>
            <a:ext cx="407898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</a:t>
            </a:r>
            <a:r>
              <a:rPr lang="en-US" dirty="0"/>
              <a:t> </a:t>
            </a:r>
            <a:r>
              <a:rPr lang="uk-UA" dirty="0" err="1"/>
              <a:t>удаляем</a:t>
            </a:r>
            <a:r>
              <a:rPr lang="ru-RU" dirty="0"/>
              <a:t> </a:t>
            </a:r>
            <a:r>
              <a:rPr lang="en-US" dirty="0"/>
              <a:t>branch</a:t>
            </a:r>
            <a:r>
              <a:rPr lang="ru-RU" dirty="0"/>
              <a:t> с</a:t>
            </a:r>
            <a:r>
              <a:rPr lang="en-US" dirty="0"/>
              <a:t>at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banch</a:t>
            </a:r>
            <a:r>
              <a:rPr lang="en-US" dirty="0">
                <a:solidFill>
                  <a:schemeClr val="accent2"/>
                </a:solidFill>
              </a:rPr>
              <a:t> -d cat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5130136" y="264014"/>
            <a:ext cx="35283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С</a:t>
            </a:r>
            <a:r>
              <a:rPr lang="en-US" dirty="0" err="1"/>
              <a:t>ase</a:t>
            </a:r>
            <a:r>
              <a:rPr lang="en-US" dirty="0"/>
              <a:t> 1 c</a:t>
            </a:r>
            <a:r>
              <a:rPr lang="ru-RU" dirty="0" err="1">
                <a:solidFill>
                  <a:srgbClr val="002060"/>
                </a:solidFill>
              </a:rPr>
              <a:t>лияние</a:t>
            </a:r>
            <a:r>
              <a:rPr lang="en-US" dirty="0">
                <a:solidFill>
                  <a:srgbClr val="002060"/>
                </a:solidFill>
              </a:rPr>
              <a:t> branches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56401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96296E-6 L 0.17569 -0.173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69 -0.17338 L 5.55556E-7 -2.96296E-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028" y="840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2.96296E-6 L -0.00469 -0.3412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30" grpId="0" animBg="1"/>
      <p:bldP spid="31" grpId="0" animBg="1"/>
      <p:bldP spid="32" grpId="0" animBg="1"/>
      <p:bldP spid="37" grpId="0" animBg="1"/>
      <p:bldP spid="3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60966" y="107340"/>
            <a:ext cx="3214890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$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 -b cat</a:t>
            </a:r>
            <a:endParaRPr lang="ru-RU" dirty="0">
              <a:solidFill>
                <a:schemeClr val="accent2"/>
              </a:solidFill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6344410" y="2727874"/>
            <a:ext cx="0" cy="381642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Овал 10"/>
          <p:cNvSpPr/>
          <p:nvPr/>
        </p:nvSpPr>
        <p:spPr>
          <a:xfrm>
            <a:off x="6164390" y="5517232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вал 11"/>
          <p:cNvSpPr/>
          <p:nvPr/>
        </p:nvSpPr>
        <p:spPr>
          <a:xfrm>
            <a:off x="6161749" y="6068464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882517" y="2204864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master</a:t>
            </a:r>
            <a:endParaRPr lang="ru-RU" b="1" dirty="0"/>
          </a:p>
        </p:txBody>
      </p:sp>
      <p:grpSp>
        <p:nvGrpSpPr>
          <p:cNvPr id="2" name="Группа 1"/>
          <p:cNvGrpSpPr/>
          <p:nvPr/>
        </p:nvGrpSpPr>
        <p:grpSpPr>
          <a:xfrm>
            <a:off x="6426356" y="2202688"/>
            <a:ext cx="1711286" cy="3102662"/>
            <a:chOff x="1907704" y="878662"/>
            <a:chExt cx="1711286" cy="3102662"/>
          </a:xfrm>
        </p:grpSpPr>
        <p:cxnSp>
          <p:nvCxnSpPr>
            <p:cNvPr id="16" name="Прямая соединительная линия 15"/>
            <p:cNvCxnSpPr/>
            <p:nvPr/>
          </p:nvCxnSpPr>
          <p:spPr>
            <a:xfrm flipH="1">
              <a:off x="1907704" y="3674009"/>
              <a:ext cx="1412166" cy="307315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Прямая соединительная линия 16"/>
            <p:cNvCxnSpPr/>
            <p:nvPr/>
          </p:nvCxnSpPr>
          <p:spPr>
            <a:xfrm>
              <a:off x="3319870" y="2537022"/>
              <a:ext cx="0" cy="1136987"/>
            </a:xfrm>
            <a:prstGeom prst="line">
              <a:avLst/>
            </a:prstGeom>
            <a:ln w="381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/>
            <p:cNvSpPr txBox="1"/>
            <p:nvPr/>
          </p:nvSpPr>
          <p:spPr>
            <a:xfrm>
              <a:off x="3020749" y="878662"/>
              <a:ext cx="5982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cat</a:t>
              </a:r>
              <a:endParaRPr lang="ru-RU" b="1" dirty="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4732" y="671224"/>
            <a:ext cx="4107228" cy="1200329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-внесли </a:t>
            </a:r>
            <a:r>
              <a:rPr lang="uk-UA" dirty="0" err="1"/>
              <a:t>изменения</a:t>
            </a:r>
            <a:r>
              <a:rPr lang="uk-UA" dirty="0"/>
              <a:t> в файл</a:t>
            </a:r>
            <a:r>
              <a:rPr lang="ru-RU" dirty="0"/>
              <a:t>ы </a:t>
            </a:r>
          </a:p>
          <a:p>
            <a:r>
              <a:rPr lang="ru-RU" dirty="0"/>
              <a:t> </a:t>
            </a:r>
            <a:r>
              <a:rPr lang="ru-RU" dirty="0">
                <a:solidFill>
                  <a:srgbClr val="0070C0"/>
                </a:solidFill>
              </a:rPr>
              <a:t>в ветке </a:t>
            </a:r>
            <a:r>
              <a:rPr lang="en-US" dirty="0">
                <a:solidFill>
                  <a:srgbClr val="0070C0"/>
                </a:solidFill>
              </a:rPr>
              <a:t>cat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add .</a:t>
            </a:r>
          </a:p>
          <a:p>
            <a:r>
              <a:rPr lang="en-US" dirty="0">
                <a:solidFill>
                  <a:schemeClr val="accent2"/>
                </a:solidFill>
              </a:rPr>
              <a:t>$ commit –m "…"</a:t>
            </a:r>
            <a:endParaRPr lang="ru-RU" dirty="0"/>
          </a:p>
        </p:txBody>
      </p:sp>
      <p:grpSp>
        <p:nvGrpSpPr>
          <p:cNvPr id="6" name="Группа 5"/>
          <p:cNvGrpSpPr/>
          <p:nvPr/>
        </p:nvGrpSpPr>
        <p:grpSpPr>
          <a:xfrm>
            <a:off x="4724735" y="5314957"/>
            <a:ext cx="1224136" cy="778339"/>
            <a:chOff x="4724735" y="5308082"/>
            <a:chExt cx="1224136" cy="778339"/>
          </a:xfrm>
        </p:grpSpPr>
        <p:sp>
          <p:nvSpPr>
            <p:cNvPr id="29" name="Стрелка влево 28"/>
            <p:cNvSpPr/>
            <p:nvPr/>
          </p:nvSpPr>
          <p:spPr>
            <a:xfrm rot="10800000">
              <a:off x="4724735" y="5308082"/>
              <a:ext cx="1224136" cy="778339"/>
            </a:xfrm>
            <a:prstGeom prst="leftArrow">
              <a:avLst/>
            </a:prstGeom>
            <a:solidFill>
              <a:schemeClr val="accent2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4855928" y="551723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HEAD</a:t>
              </a:r>
              <a:endParaRPr lang="ru-RU" sz="2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107504" y="1916832"/>
            <a:ext cx="410445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 переходим в </a:t>
            </a:r>
            <a:r>
              <a:rPr lang="en-US" dirty="0"/>
              <a:t>master branch</a:t>
            </a:r>
            <a:endParaRPr lang="ru-RU" dirty="0"/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checkout master</a:t>
            </a:r>
            <a:endParaRPr lang="ru-RU" dirty="0"/>
          </a:p>
        </p:txBody>
      </p:sp>
      <p:sp>
        <p:nvSpPr>
          <p:cNvPr id="31" name="Овал 30"/>
          <p:cNvSpPr/>
          <p:nvPr/>
        </p:nvSpPr>
        <p:spPr>
          <a:xfrm>
            <a:off x="7630711" y="4325905"/>
            <a:ext cx="360040" cy="360040"/>
          </a:xfrm>
          <a:prstGeom prst="ellipse">
            <a:avLst/>
          </a:prstGeom>
          <a:solidFill>
            <a:srgbClr val="92D050"/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2" name="TextBox 31"/>
          <p:cNvSpPr txBox="1"/>
          <p:nvPr/>
        </p:nvSpPr>
        <p:spPr>
          <a:xfrm>
            <a:off x="132974" y="3645024"/>
            <a:ext cx="4078986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 в</a:t>
            </a:r>
            <a:r>
              <a:rPr lang="ru-RU" dirty="0" err="1"/>
              <a:t>ыполняем</a:t>
            </a:r>
            <a:r>
              <a:rPr lang="ru-RU" dirty="0"/>
              <a:t> слияние </a:t>
            </a:r>
            <a:r>
              <a:rPr lang="en-US" dirty="0"/>
              <a:t>branches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merge cat</a:t>
            </a:r>
          </a:p>
          <a:p>
            <a:r>
              <a:rPr lang="uk-UA" dirty="0">
                <a:solidFill>
                  <a:srgbClr val="00B050"/>
                </a:solidFill>
              </a:rPr>
              <a:t>- ЗАПУСКАЕТСЯ </a:t>
            </a:r>
            <a:r>
              <a:rPr lang="en-US" dirty="0">
                <a:solidFill>
                  <a:srgbClr val="00B050"/>
                </a:solidFill>
              </a:rPr>
              <a:t>Vim</a:t>
            </a:r>
            <a:endParaRPr lang="ru-RU" dirty="0">
              <a:solidFill>
                <a:srgbClr val="00B050"/>
              </a:solidFill>
            </a:endParaRPr>
          </a:p>
        </p:txBody>
      </p:sp>
      <p:cxnSp>
        <p:nvCxnSpPr>
          <p:cNvPr id="34" name="Прямая соединительная линия 33"/>
          <p:cNvCxnSpPr/>
          <p:nvPr/>
        </p:nvCxnSpPr>
        <p:spPr>
          <a:xfrm>
            <a:off x="6372200" y="3284984"/>
            <a:ext cx="1466322" cy="576064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Овал 36"/>
          <p:cNvSpPr/>
          <p:nvPr/>
        </p:nvSpPr>
        <p:spPr>
          <a:xfrm>
            <a:off x="6166618" y="3183115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8" name="TextBox 37"/>
          <p:cNvSpPr txBox="1"/>
          <p:nvPr/>
        </p:nvSpPr>
        <p:spPr>
          <a:xfrm>
            <a:off x="121023" y="4870901"/>
            <a:ext cx="4078986" cy="646331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</a:t>
            </a:r>
            <a:r>
              <a:rPr lang="en-US" dirty="0"/>
              <a:t> </a:t>
            </a:r>
            <a:r>
              <a:rPr lang="uk-UA" dirty="0" err="1"/>
              <a:t>удаляем</a:t>
            </a:r>
            <a:r>
              <a:rPr lang="ru-RU" dirty="0"/>
              <a:t> </a:t>
            </a:r>
            <a:r>
              <a:rPr lang="en-US" dirty="0"/>
              <a:t>branch</a:t>
            </a:r>
            <a:r>
              <a:rPr lang="ru-RU" dirty="0"/>
              <a:t> с</a:t>
            </a:r>
            <a:r>
              <a:rPr lang="en-US" dirty="0"/>
              <a:t>at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</a:t>
            </a:r>
            <a:r>
              <a:rPr lang="en-US" dirty="0" err="1">
                <a:solidFill>
                  <a:schemeClr val="accent2"/>
                </a:solidFill>
              </a:rPr>
              <a:t>banch</a:t>
            </a:r>
            <a:r>
              <a:rPr lang="en-US" dirty="0">
                <a:solidFill>
                  <a:schemeClr val="accent2"/>
                </a:solidFill>
              </a:rPr>
              <a:t> -d cat</a:t>
            </a:r>
            <a:endParaRPr lang="ru-RU" dirty="0"/>
          </a:p>
        </p:txBody>
      </p:sp>
      <p:sp>
        <p:nvSpPr>
          <p:cNvPr id="21" name="TextBox 20"/>
          <p:cNvSpPr txBox="1"/>
          <p:nvPr/>
        </p:nvSpPr>
        <p:spPr>
          <a:xfrm>
            <a:off x="5130136" y="264014"/>
            <a:ext cx="352839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С</a:t>
            </a:r>
            <a:r>
              <a:rPr lang="en-US" dirty="0" err="1"/>
              <a:t>ase</a:t>
            </a:r>
            <a:r>
              <a:rPr lang="en-US" dirty="0"/>
              <a:t> </a:t>
            </a:r>
            <a:r>
              <a:rPr lang="ru-RU" dirty="0"/>
              <a:t>2</a:t>
            </a:r>
            <a:r>
              <a:rPr lang="en-US" dirty="0"/>
              <a:t> c</a:t>
            </a:r>
            <a:r>
              <a:rPr lang="ru-RU" dirty="0" err="1">
                <a:solidFill>
                  <a:srgbClr val="002060"/>
                </a:solidFill>
              </a:rPr>
              <a:t>лияние</a:t>
            </a:r>
            <a:r>
              <a:rPr lang="en-US" dirty="0">
                <a:solidFill>
                  <a:srgbClr val="002060"/>
                </a:solidFill>
              </a:rPr>
              <a:t> branches</a:t>
            </a:r>
            <a:endParaRPr lang="ru-RU" dirty="0"/>
          </a:p>
        </p:txBody>
      </p:sp>
      <p:sp>
        <p:nvSpPr>
          <p:cNvPr id="22" name="TextBox 21"/>
          <p:cNvSpPr txBox="1"/>
          <p:nvPr/>
        </p:nvSpPr>
        <p:spPr>
          <a:xfrm>
            <a:off x="107504" y="2636912"/>
            <a:ext cx="4107228" cy="923330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uk-UA" dirty="0"/>
              <a:t>-внесли </a:t>
            </a:r>
            <a:r>
              <a:rPr lang="uk-UA" dirty="0" err="1"/>
              <a:t>изменения</a:t>
            </a:r>
            <a:r>
              <a:rPr lang="uk-UA" dirty="0"/>
              <a:t> в файл</a:t>
            </a:r>
            <a:r>
              <a:rPr lang="ru-RU" dirty="0"/>
              <a:t>ы</a:t>
            </a:r>
            <a:endParaRPr lang="en-US" dirty="0"/>
          </a:p>
          <a:p>
            <a:r>
              <a:rPr lang="en-US" dirty="0"/>
              <a:t> </a:t>
            </a:r>
            <a:r>
              <a:rPr lang="ru-RU" dirty="0">
                <a:solidFill>
                  <a:srgbClr val="0070C0"/>
                </a:solidFill>
              </a:rPr>
              <a:t>в ветке </a:t>
            </a:r>
            <a:r>
              <a:rPr lang="en-US" dirty="0">
                <a:solidFill>
                  <a:srgbClr val="0070C0"/>
                </a:solidFill>
              </a:rPr>
              <a:t>master</a:t>
            </a:r>
            <a:r>
              <a:rPr lang="ru-RU" dirty="0"/>
              <a:t> </a:t>
            </a:r>
          </a:p>
          <a:p>
            <a:r>
              <a:rPr lang="en-US" dirty="0">
                <a:solidFill>
                  <a:schemeClr val="accent2"/>
                </a:solidFill>
              </a:rPr>
              <a:t>$ commit –am "…"</a:t>
            </a:r>
            <a:endParaRPr lang="ru-RU" dirty="0"/>
          </a:p>
        </p:txBody>
      </p:sp>
      <p:sp>
        <p:nvSpPr>
          <p:cNvPr id="23" name="Овал 22"/>
          <p:cNvSpPr/>
          <p:nvPr/>
        </p:nvSpPr>
        <p:spPr>
          <a:xfrm>
            <a:off x="6167193" y="4293096"/>
            <a:ext cx="360040" cy="360040"/>
          </a:xfrm>
          <a:prstGeom prst="ellipse">
            <a:avLst/>
          </a:prstGeom>
          <a:solidFill>
            <a:srgbClr val="92D050"/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4932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0.17569 -0.17338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69 -0.17338 L 3.05556E-6 -2.96296E-6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5" y="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05556E-6 -2.96296E-6 L -0.00226 -0.17338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500"/>
                            </p:stCondLst>
                            <p:childTnLst>
                              <p:par>
                                <p:cTn id="58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26 -0.17338 L -0.00226 -0.33981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87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9" grpId="0" animBg="1"/>
      <p:bldP spid="30" grpId="0" animBg="1"/>
      <p:bldP spid="31" grpId="0" animBg="1"/>
      <p:bldP spid="31" grpId="1" animBg="1"/>
      <p:bldP spid="32" grpId="0" animBg="1"/>
      <p:bldP spid="37" grpId="0" animBg="1"/>
      <p:bldP spid="38" grpId="0" animBg="1"/>
      <p:bldP spid="22" grpId="0" animBg="1"/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923928" y="53916"/>
            <a:ext cx="1008112" cy="369332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pPr algn="ctr"/>
            <a:r>
              <a:rPr lang="en-US" dirty="0"/>
              <a:t>Stash</a:t>
            </a:r>
            <a:endParaRPr lang="ru-RU" dirty="0"/>
          </a:p>
        </p:txBody>
      </p:sp>
      <p:sp>
        <p:nvSpPr>
          <p:cNvPr id="9" name="TextBox 8"/>
          <p:cNvSpPr txBox="1"/>
          <p:nvPr/>
        </p:nvSpPr>
        <p:spPr>
          <a:xfrm>
            <a:off x="60966" y="548680"/>
            <a:ext cx="8975530" cy="1477328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Работаем в каком либо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внесли изменения в файлы, но не сделали </a:t>
            </a:r>
            <a:r>
              <a:rPr lang="en-US" dirty="0">
                <a:solidFill>
                  <a:srgbClr val="0070C0"/>
                </a:solidFill>
              </a:rPr>
              <a:t>commit</a:t>
            </a:r>
            <a:r>
              <a:rPr lang="ru-RU" dirty="0"/>
              <a:t>. </a:t>
            </a:r>
            <a:endParaRPr lang="en-US" dirty="0"/>
          </a:p>
          <a:p>
            <a:r>
              <a:rPr lang="ru-RU" dirty="0"/>
              <a:t>И нам по какой то причине надо переключится на </a:t>
            </a:r>
            <a:r>
              <a:rPr lang="en-US" dirty="0">
                <a:solidFill>
                  <a:srgbClr val="0070C0"/>
                </a:solidFill>
              </a:rPr>
              <a:t>master</a:t>
            </a:r>
            <a:r>
              <a:rPr lang="ru-RU" dirty="0">
                <a:solidFill>
                  <a:srgbClr val="0070C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ru-RU" dirty="0"/>
              <a:t>, но</a:t>
            </a:r>
          </a:p>
          <a:p>
            <a:r>
              <a:rPr lang="ru-RU" dirty="0"/>
              <a:t>В то же время мы еще не хотим </a:t>
            </a:r>
            <a:r>
              <a:rPr lang="ru-RU" dirty="0" err="1"/>
              <a:t>коммитить</a:t>
            </a:r>
            <a:r>
              <a:rPr lang="ru-RU" dirty="0"/>
              <a:t> сделанные изменения в текущем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ru-RU" dirty="0"/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6" y="2276872"/>
            <a:ext cx="8975530" cy="1754326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ru-RU" dirty="0"/>
              <a:t>Если в таком состоянии переключится в другой </a:t>
            </a:r>
            <a:r>
              <a:rPr lang="en-US" dirty="0">
                <a:solidFill>
                  <a:srgbClr val="0070C0"/>
                </a:solidFill>
              </a:rPr>
              <a:t>branch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то все изменения перенесутся в него.</a:t>
            </a:r>
          </a:p>
          <a:p>
            <a:endParaRPr lang="ru-RU" dirty="0"/>
          </a:p>
          <a:p>
            <a:r>
              <a:rPr lang="ru-RU" dirty="0"/>
              <a:t>Но мы можем временно спрятать эти изменения в копилку </a:t>
            </a:r>
            <a:r>
              <a:rPr lang="en-US" dirty="0"/>
              <a:t>(</a:t>
            </a:r>
            <a:r>
              <a:rPr lang="en-US" dirty="0">
                <a:solidFill>
                  <a:srgbClr val="0070C0"/>
                </a:solidFill>
              </a:rPr>
              <a:t>stash</a:t>
            </a:r>
            <a:r>
              <a:rPr lang="ru-RU" dirty="0"/>
              <a:t>) переключится в другой , там поработать, затем переключится обратно и достать изменения из копилки.</a:t>
            </a:r>
          </a:p>
        </p:txBody>
      </p:sp>
    </p:spTree>
    <p:extLst>
      <p:ext uri="{BB962C8B-B14F-4D97-AF65-F5344CB8AC3E}">
        <p14:creationId xmlns:p14="http://schemas.microsoft.com/office/powerpoint/2010/main" val="20634430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84235" y="188640"/>
            <a:ext cx="8975530" cy="4524315"/>
          </a:xfrm>
          <a:prstGeom prst="rect">
            <a:avLst/>
          </a:prstGeom>
          <a:solidFill>
            <a:schemeClr val="accent1">
              <a:lumMod val="20000"/>
              <a:lumOff val="80000"/>
              <a:alpha val="8000"/>
            </a:schemeClr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ru-RU"/>
            </a:defPPr>
            <a:lvl1pPr>
              <a:defRPr b="1"/>
            </a:lvl1pPr>
          </a:lstStyle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</a:t>
            </a:r>
          </a:p>
          <a:p>
            <a:endParaRPr lang="en-US" dirty="0">
              <a:solidFill>
                <a:schemeClr val="accent2"/>
              </a:solidFill>
            </a:endParaRPr>
          </a:p>
          <a:p>
            <a:endParaRPr lang="en-US" dirty="0">
              <a:solidFill>
                <a:schemeClr val="accent2"/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 list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//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посмотреть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что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в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копилке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 pop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//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достать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содержимое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копилки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и очистить ее</a:t>
            </a: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 pop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stash@{</a:t>
            </a:r>
            <a:r>
              <a:rPr lang="ru-RU" dirty="0" err="1">
                <a:solidFill>
                  <a:srgbClr val="0070C0"/>
                </a:solidFill>
              </a:rPr>
              <a:t>номер_записи</a:t>
            </a:r>
            <a:r>
              <a:rPr lang="en-US" dirty="0">
                <a:solidFill>
                  <a:schemeClr val="accent2"/>
                </a:solidFill>
              </a:rPr>
              <a:t>}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 apply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 //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достать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uk-UA" dirty="0" err="1">
                <a:solidFill>
                  <a:schemeClr val="bg1">
                    <a:lumMod val="50000"/>
                  </a:schemeClr>
                </a:solidFill>
              </a:rPr>
              <a:t>содержимое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копилки</a:t>
            </a:r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stash apply</a:t>
            </a:r>
            <a:r>
              <a:rPr lang="ru-RU" dirty="0">
                <a:solidFill>
                  <a:schemeClr val="accent2"/>
                </a:solidFill>
              </a:rPr>
              <a:t> </a:t>
            </a:r>
            <a:r>
              <a:rPr lang="en-US" dirty="0">
                <a:solidFill>
                  <a:schemeClr val="accent2"/>
                </a:solidFill>
              </a:rPr>
              <a:t>stash@{</a:t>
            </a:r>
            <a:r>
              <a:rPr lang="ru-RU" dirty="0" err="1">
                <a:solidFill>
                  <a:srgbClr val="0070C0"/>
                </a:solidFill>
              </a:rPr>
              <a:t>номер_записи</a:t>
            </a:r>
            <a:r>
              <a:rPr lang="en-US" dirty="0">
                <a:solidFill>
                  <a:schemeClr val="accent2"/>
                </a:solidFill>
              </a:rPr>
              <a:t>}  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drop 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//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ru-RU" dirty="0">
                <a:solidFill>
                  <a:schemeClr val="bg1">
                    <a:lumMod val="50000"/>
                  </a:schemeClr>
                </a:solidFill>
              </a:rPr>
              <a:t>очистить </a:t>
            </a:r>
            <a:r>
              <a:rPr lang="uk-UA" dirty="0">
                <a:solidFill>
                  <a:schemeClr val="bg1">
                    <a:lumMod val="50000"/>
                  </a:schemeClr>
                </a:solidFill>
              </a:rPr>
              <a:t>копилку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dirty="0">
                <a:solidFill>
                  <a:schemeClr val="accent2"/>
                </a:solidFill>
              </a:rPr>
              <a:t>$ </a:t>
            </a:r>
            <a:r>
              <a:rPr lang="en-US" dirty="0" err="1">
                <a:solidFill>
                  <a:schemeClr val="accent2"/>
                </a:solidFill>
              </a:rPr>
              <a:t>git</a:t>
            </a:r>
            <a:r>
              <a:rPr lang="en-US" dirty="0">
                <a:solidFill>
                  <a:schemeClr val="accent2"/>
                </a:solidFill>
              </a:rPr>
              <a:t> drop stash@{</a:t>
            </a:r>
            <a:r>
              <a:rPr lang="ru-RU" dirty="0" err="1">
                <a:solidFill>
                  <a:srgbClr val="0070C0"/>
                </a:solidFill>
              </a:rPr>
              <a:t>номер_записи</a:t>
            </a:r>
            <a:r>
              <a:rPr lang="en-US" dirty="0">
                <a:solidFill>
                  <a:schemeClr val="accent2"/>
                </a:solidFill>
              </a:rPr>
              <a:t>}</a:t>
            </a:r>
            <a:endParaRPr lang="ru-RU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6909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116632"/>
            <a:ext cx="8820472" cy="184730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2385675"/>
            <a:ext cx="8748464" cy="694322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16" y="3501734"/>
            <a:ext cx="5220072" cy="77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710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16632"/>
            <a:ext cx="8100392" cy="60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905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8768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" name="Прямая соединительная линия 23"/>
          <p:cNvCxnSpPr/>
          <p:nvPr/>
        </p:nvCxnSpPr>
        <p:spPr>
          <a:xfrm flipH="1">
            <a:off x="4824029" y="2348880"/>
            <a:ext cx="8010" cy="2139617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Овал 24"/>
          <p:cNvSpPr/>
          <p:nvPr/>
        </p:nvSpPr>
        <p:spPr>
          <a:xfrm>
            <a:off x="4644008" y="2780928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4652019" y="3933056"/>
            <a:ext cx="360040" cy="360040"/>
          </a:xfrm>
          <a:prstGeom prst="ellipse">
            <a:avLst/>
          </a:prstGeom>
          <a:solidFill>
            <a:schemeClr val="bg2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27" name="Группа 26"/>
          <p:cNvGrpSpPr/>
          <p:nvPr/>
        </p:nvGrpSpPr>
        <p:grpSpPr>
          <a:xfrm>
            <a:off x="3329505" y="2578653"/>
            <a:ext cx="1224136" cy="778339"/>
            <a:chOff x="4724735" y="5308082"/>
            <a:chExt cx="1224136" cy="778339"/>
          </a:xfrm>
        </p:grpSpPr>
        <p:sp>
          <p:nvSpPr>
            <p:cNvPr id="28" name="Стрелка влево 27"/>
            <p:cNvSpPr/>
            <p:nvPr/>
          </p:nvSpPr>
          <p:spPr>
            <a:xfrm rot="10800000">
              <a:off x="4724735" y="5308082"/>
              <a:ext cx="1224136" cy="778339"/>
            </a:xfrm>
            <a:prstGeom prst="leftArrow">
              <a:avLst/>
            </a:prstGeom>
            <a:solidFill>
              <a:schemeClr val="accent2">
                <a:alpha val="6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4855928" y="5517232"/>
              <a:ext cx="8002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HEAD</a:t>
              </a:r>
              <a:endParaRPr lang="ru-RU" sz="20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30" name="Прямая соединительная линия 29"/>
          <p:cNvCxnSpPr/>
          <p:nvPr/>
        </p:nvCxnSpPr>
        <p:spPr>
          <a:xfrm flipH="1">
            <a:off x="4832039" y="3356992"/>
            <a:ext cx="1288133" cy="432048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6120172" y="2348880"/>
            <a:ext cx="9381" cy="1011392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Овал 31"/>
          <p:cNvSpPr/>
          <p:nvPr/>
        </p:nvSpPr>
        <p:spPr>
          <a:xfrm>
            <a:off x="5940152" y="2708920"/>
            <a:ext cx="360040" cy="3600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solidFill>
              <a:srgbClr val="00407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3" name="TextBox 32"/>
          <p:cNvSpPr txBox="1"/>
          <p:nvPr/>
        </p:nvSpPr>
        <p:spPr>
          <a:xfrm>
            <a:off x="4352273" y="1916832"/>
            <a:ext cx="10118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master</a:t>
            </a:r>
            <a:endParaRPr lang="ru-RU" b="1" dirty="0"/>
          </a:p>
        </p:txBody>
      </p:sp>
      <p:sp>
        <p:nvSpPr>
          <p:cNvPr id="34" name="TextBox 33"/>
          <p:cNvSpPr txBox="1"/>
          <p:nvPr/>
        </p:nvSpPr>
        <p:spPr>
          <a:xfrm>
            <a:off x="5648417" y="1916832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cat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357191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0.1757 -0.1733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785" y="-8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7 -0.17338 L -2.77778E-6 1.11111E-6 " pathEditMode="relative" rAng="0" ptsTypes="AA">
                                      <p:cBhvr>
                                        <p:cTn id="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785" y="86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4000"/>
                            </p:stCondLst>
                            <p:childTnLst>
                              <p:par>
                                <p:cTn id="1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1.11111E-6 L -0.00468 -0.3412 " pathEditMode="relative" rAng="0" ptsTypes="AA">
                                      <p:cBhvr>
                                        <p:cTn id="12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170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Метро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Cour">
      <a:majorFont>
        <a:latin typeface="Courier New"/>
        <a:ea typeface=""/>
        <a:cs typeface=""/>
      </a:majorFont>
      <a:minorFont>
        <a:latin typeface="Courier New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4507</TotalTime>
  <Words>560</Words>
  <Application>Microsoft Office PowerPoint</Application>
  <PresentationFormat>Экран (4:3)</PresentationFormat>
  <Paragraphs>112</Paragraphs>
  <Slides>15</Slides>
  <Notes>15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*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roman</dc:creator>
  <cp:lastModifiedBy>Роман Никифоров</cp:lastModifiedBy>
  <cp:revision>691</cp:revision>
  <dcterms:created xsi:type="dcterms:W3CDTF">2012-03-08T07:38:11Z</dcterms:created>
  <dcterms:modified xsi:type="dcterms:W3CDTF">2021-03-02T16:10:55Z</dcterms:modified>
</cp:coreProperties>
</file>