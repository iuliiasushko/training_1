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2"/>
  </p:notesMasterIdLst>
  <p:sldIdLst>
    <p:sldId id="256" r:id="rId2"/>
    <p:sldId id="270" r:id="rId3"/>
    <p:sldId id="271" r:id="rId4"/>
    <p:sldId id="284" r:id="rId5"/>
    <p:sldId id="272" r:id="rId6"/>
    <p:sldId id="275" r:id="rId7"/>
    <p:sldId id="276" r:id="rId8"/>
    <p:sldId id="282" r:id="rId9"/>
    <p:sldId id="291" r:id="rId10"/>
    <p:sldId id="285" r:id="rId11"/>
    <p:sldId id="286" r:id="rId12"/>
    <p:sldId id="287" r:id="rId13"/>
    <p:sldId id="277" r:id="rId14"/>
    <p:sldId id="278" r:id="rId15"/>
    <p:sldId id="279" r:id="rId16"/>
    <p:sldId id="280" r:id="rId17"/>
    <p:sldId id="281" r:id="rId18"/>
    <p:sldId id="290" r:id="rId19"/>
    <p:sldId id="288" r:id="rId20"/>
    <p:sldId id="289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6F2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0" autoAdjust="0"/>
    <p:restoredTop sz="94514" autoAdjust="0"/>
  </p:normalViewPr>
  <p:slideViewPr>
    <p:cSldViewPr>
      <p:cViewPr>
        <p:scale>
          <a:sx n="90" d="100"/>
          <a:sy n="90" d="100"/>
        </p:scale>
        <p:origin x="-552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2" d="100"/>
        <a:sy n="5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892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4C71EC6-210F-42DE-9C53-41977AD35B3D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29.07.2013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ru-RU" sz="5400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Двоичный код</a:t>
            </a:r>
            <a:endParaRPr lang="ru-RU" sz="138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4956" y="244804"/>
            <a:ext cx="550182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b="1" dirty="0" smtClean="0"/>
              <a:t>Хранение </a:t>
            </a:r>
            <a:r>
              <a:rPr lang="en-US" b="1" dirty="0" smtClean="0"/>
              <a:t> </a:t>
            </a:r>
            <a:r>
              <a:rPr lang="ru-RU" b="1" dirty="0" smtClean="0"/>
              <a:t>информации в памяти компьютера</a:t>
            </a:r>
            <a:endParaRPr lang="ru-RU" b="1" dirty="0"/>
          </a:p>
        </p:txBody>
      </p:sp>
      <p:grpSp>
        <p:nvGrpSpPr>
          <p:cNvPr id="24" name="Группа 23"/>
          <p:cNvGrpSpPr/>
          <p:nvPr/>
        </p:nvGrpSpPr>
        <p:grpSpPr>
          <a:xfrm>
            <a:off x="300416" y="2767082"/>
            <a:ext cx="7007888" cy="1454006"/>
            <a:chOff x="84392" y="1134036"/>
            <a:chExt cx="7007888" cy="1454006"/>
          </a:xfrm>
        </p:grpSpPr>
        <p:grpSp>
          <p:nvGrpSpPr>
            <p:cNvPr id="20" name="Группа 19"/>
            <p:cNvGrpSpPr/>
            <p:nvPr/>
          </p:nvGrpSpPr>
          <p:grpSpPr>
            <a:xfrm>
              <a:off x="158258" y="1134036"/>
              <a:ext cx="6768752" cy="504056"/>
              <a:chOff x="251520" y="836712"/>
              <a:chExt cx="6768752" cy="504056"/>
            </a:xfrm>
          </p:grpSpPr>
          <p:sp>
            <p:nvSpPr>
              <p:cNvPr id="3" name="Прямоугольник 2"/>
              <p:cNvSpPr/>
              <p:nvPr/>
            </p:nvSpPr>
            <p:spPr>
              <a:xfrm>
                <a:off x="251520" y="836712"/>
                <a:ext cx="6768752" cy="504056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" name="Прямая соединительная линия 4"/>
              <p:cNvCxnSpPr/>
              <p:nvPr/>
            </p:nvCxnSpPr>
            <p:spPr>
              <a:xfrm>
                <a:off x="971600" y="836712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Прямая соединительная линия 5"/>
              <p:cNvCxnSpPr/>
              <p:nvPr/>
            </p:nvCxnSpPr>
            <p:spPr>
              <a:xfrm>
                <a:off x="1691680" y="836712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Прямая соединительная линия 6"/>
              <p:cNvCxnSpPr/>
              <p:nvPr/>
            </p:nvCxnSpPr>
            <p:spPr>
              <a:xfrm>
                <a:off x="2411760" y="836712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/>
              <p:cNvCxnSpPr/>
              <p:nvPr/>
            </p:nvCxnSpPr>
            <p:spPr>
              <a:xfrm>
                <a:off x="3131840" y="836712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/>
              <p:cNvCxnSpPr/>
              <p:nvPr/>
            </p:nvCxnSpPr>
            <p:spPr>
              <a:xfrm>
                <a:off x="3851920" y="836712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/>
              <p:cNvCxnSpPr/>
              <p:nvPr/>
            </p:nvCxnSpPr>
            <p:spPr>
              <a:xfrm>
                <a:off x="4572000" y="836712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/>
              <p:cNvCxnSpPr/>
              <p:nvPr/>
            </p:nvCxnSpPr>
            <p:spPr>
              <a:xfrm>
                <a:off x="5292080" y="836712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425036" y="908720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1</a:t>
                </a:r>
                <a:endParaRPr lang="ru-RU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145116" y="908720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1</a:t>
                </a:r>
                <a:endParaRPr lang="ru-RU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865196" y="908720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0</a:t>
                </a:r>
                <a:endParaRPr lang="ru-RU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585276" y="908720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1</a:t>
                </a:r>
                <a:endParaRPr lang="ru-RU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305356" y="908720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  <a:endParaRPr lang="ru-RU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4025436" y="908720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  <a:endParaRPr lang="ru-RU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745516" y="908720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1</a:t>
                </a:r>
                <a:endParaRPr lang="ru-RU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465596" y="908720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  <a:endParaRPr lang="ru-RU" dirty="0"/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3076199" y="2218710"/>
              <a:ext cx="1072730" cy="369332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ru-RU" dirty="0" smtClean="0"/>
                <a:t>Память </a:t>
              </a:r>
              <a:endParaRPr lang="ru-RU" dirty="0"/>
            </a:p>
          </p:txBody>
        </p:sp>
        <p:sp>
          <p:nvSpPr>
            <p:cNvPr id="22" name="Левая фигурная скобка 21"/>
            <p:cNvSpPr/>
            <p:nvPr/>
          </p:nvSpPr>
          <p:spPr>
            <a:xfrm rot="16200000">
              <a:off x="3364123" y="-1577235"/>
              <a:ext cx="448426" cy="7007888"/>
            </a:xfrm>
            <a:prstGeom prst="leftBrac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79512" y="766445"/>
            <a:ext cx="7848872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Компьютер работает только с двоичным кодом </a:t>
            </a:r>
          </a:p>
          <a:p>
            <a:r>
              <a:rPr lang="ru-RU" dirty="0" smtClean="0"/>
              <a:t>(то есть вся информация представлена в виде нулей и единиц)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223762" y="1556792"/>
            <a:ext cx="464451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 smtClean="0"/>
              <a:t>Каждая ячейка  </a:t>
            </a:r>
            <a:r>
              <a:rPr lang="ru-RU" b="1" dirty="0" smtClean="0">
                <a:solidFill>
                  <a:schemeClr val="accent2"/>
                </a:solidFill>
              </a:rPr>
              <a:t>(разряд)</a:t>
            </a:r>
            <a:r>
              <a:rPr lang="ru-RU" b="1" dirty="0" smtClean="0"/>
              <a:t> – это 0 или 1 </a:t>
            </a:r>
            <a:endParaRPr lang="ru-RU" b="1" dirty="0"/>
          </a:p>
        </p:txBody>
      </p:sp>
      <p:grpSp>
        <p:nvGrpSpPr>
          <p:cNvPr id="29" name="Группа 28"/>
          <p:cNvGrpSpPr/>
          <p:nvPr/>
        </p:nvGrpSpPr>
        <p:grpSpPr>
          <a:xfrm>
            <a:off x="4860032" y="1484784"/>
            <a:ext cx="1656184" cy="523220"/>
            <a:chOff x="4860032" y="1484784"/>
            <a:chExt cx="1656184" cy="523220"/>
          </a:xfrm>
        </p:grpSpPr>
        <p:sp>
          <p:nvSpPr>
            <p:cNvPr id="27" name="Прямоугольник 26"/>
            <p:cNvSpPr/>
            <p:nvPr/>
          </p:nvSpPr>
          <p:spPr>
            <a:xfrm>
              <a:off x="5501600" y="1556792"/>
              <a:ext cx="1014616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ru-RU" b="1" dirty="0" smtClean="0"/>
                <a:t> 1  бит</a:t>
              </a:r>
              <a:endParaRPr lang="ru-RU" b="1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860032" y="1484784"/>
              <a:ext cx="6976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800" b="1" dirty="0" smtClean="0"/>
                <a:t> = </a:t>
              </a:r>
              <a:endParaRPr lang="ru-RU" b="1" dirty="0"/>
            </a:p>
          </p:txBody>
        </p:sp>
      </p:grpSp>
      <p:sp>
        <p:nvSpPr>
          <p:cNvPr id="30" name="Прямоугольник 29"/>
          <p:cNvSpPr/>
          <p:nvPr/>
        </p:nvSpPr>
        <p:spPr>
          <a:xfrm>
            <a:off x="374282" y="4437112"/>
            <a:ext cx="2160240" cy="3600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 smtClean="0"/>
              <a:t>8 бит = </a:t>
            </a:r>
            <a:r>
              <a:rPr lang="ru-RU" b="1" dirty="0" smtClean="0">
                <a:solidFill>
                  <a:schemeClr val="accent2"/>
                </a:solidFill>
              </a:rPr>
              <a:t>1 байт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395535" y="5013176"/>
            <a:ext cx="3752663" cy="3600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 smtClean="0"/>
              <a:t>1024 байт = </a:t>
            </a:r>
            <a:r>
              <a:rPr lang="ru-RU" b="1" dirty="0" smtClean="0">
                <a:solidFill>
                  <a:schemeClr val="accent2"/>
                </a:solidFill>
              </a:rPr>
              <a:t>1  </a:t>
            </a:r>
            <a:r>
              <a:rPr lang="ru-RU" b="1" dirty="0" err="1" smtClean="0">
                <a:solidFill>
                  <a:schemeClr val="accent2"/>
                </a:solidFill>
              </a:rPr>
              <a:t>килоБайт</a:t>
            </a:r>
            <a:r>
              <a:rPr lang="ru-RU" b="1" dirty="0" smtClean="0">
                <a:solidFill>
                  <a:schemeClr val="accent2"/>
                </a:solidFill>
              </a:rPr>
              <a:t>  (КБ)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416788" y="5589240"/>
            <a:ext cx="3731410" cy="3600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 smtClean="0"/>
              <a:t>1024 </a:t>
            </a:r>
            <a:r>
              <a:rPr lang="ru-RU" b="1" dirty="0" err="1" smtClean="0"/>
              <a:t>кБ</a:t>
            </a:r>
            <a:r>
              <a:rPr lang="ru-RU" b="1" dirty="0" smtClean="0"/>
              <a:t> = </a:t>
            </a:r>
            <a:r>
              <a:rPr lang="ru-RU" b="1" dirty="0" smtClean="0">
                <a:solidFill>
                  <a:schemeClr val="accent2"/>
                </a:solidFill>
              </a:rPr>
              <a:t>1  </a:t>
            </a:r>
            <a:r>
              <a:rPr lang="ru-RU" b="1" dirty="0" err="1" smtClean="0">
                <a:solidFill>
                  <a:schemeClr val="accent2"/>
                </a:solidFill>
              </a:rPr>
              <a:t>мегаБайт</a:t>
            </a:r>
            <a:r>
              <a:rPr lang="ru-RU" b="1" dirty="0" smtClean="0">
                <a:solidFill>
                  <a:schemeClr val="accent2"/>
                </a:solidFill>
              </a:rPr>
              <a:t>  (МБ)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438041" y="6165304"/>
            <a:ext cx="3731410" cy="3600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 smtClean="0"/>
              <a:t>1024 </a:t>
            </a:r>
            <a:r>
              <a:rPr lang="en-US" b="1" dirty="0"/>
              <a:t>m</a:t>
            </a:r>
            <a:r>
              <a:rPr lang="ru-RU" b="1" dirty="0" smtClean="0"/>
              <a:t>Б = </a:t>
            </a:r>
            <a:r>
              <a:rPr lang="ru-RU" b="1" dirty="0" smtClean="0">
                <a:solidFill>
                  <a:schemeClr val="accent2"/>
                </a:solidFill>
              </a:rPr>
              <a:t>1  </a:t>
            </a:r>
            <a:r>
              <a:rPr lang="ru-RU" b="1" dirty="0" err="1" smtClean="0">
                <a:solidFill>
                  <a:schemeClr val="accent2"/>
                </a:solidFill>
              </a:rPr>
              <a:t>гигаБайт</a:t>
            </a:r>
            <a:r>
              <a:rPr lang="ru-RU" b="1" dirty="0" smtClean="0">
                <a:solidFill>
                  <a:schemeClr val="accent2"/>
                </a:solidFill>
              </a:rPr>
              <a:t>  (ГБ)</a:t>
            </a:r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18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16632"/>
            <a:ext cx="191590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b="1" dirty="0" smtClean="0"/>
              <a:t>Двоичный  код</a:t>
            </a:r>
            <a:endParaRPr lang="ru-RU" b="1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113350" y="645958"/>
            <a:ext cx="8923146" cy="1846938"/>
            <a:chOff x="383749" y="890541"/>
            <a:chExt cx="8923146" cy="1755663"/>
          </a:xfrm>
        </p:grpSpPr>
        <p:sp>
          <p:nvSpPr>
            <p:cNvPr id="31" name="TextBox 30"/>
            <p:cNvSpPr txBox="1"/>
            <p:nvPr/>
          </p:nvSpPr>
          <p:spPr>
            <a:xfrm>
              <a:off x="6983760" y="890541"/>
              <a:ext cx="2160240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b="1" dirty="0" smtClean="0">
                  <a:solidFill>
                    <a:srgbClr val="FF0000"/>
                  </a:solidFill>
                </a:rPr>
                <a:t>Номера ячеек</a:t>
              </a:r>
              <a:endParaRPr lang="ru-RU" b="1" dirty="0">
                <a:solidFill>
                  <a:srgbClr val="FF0000"/>
                </a:solidFill>
              </a:endParaRPr>
            </a:p>
          </p:txBody>
        </p:sp>
        <p:grpSp>
          <p:nvGrpSpPr>
            <p:cNvPr id="20" name="Группа 19"/>
            <p:cNvGrpSpPr/>
            <p:nvPr/>
          </p:nvGrpSpPr>
          <p:grpSpPr>
            <a:xfrm>
              <a:off x="383749" y="962549"/>
              <a:ext cx="8923146" cy="1683655"/>
              <a:chOff x="448806" y="962549"/>
              <a:chExt cx="8923146" cy="1683655"/>
            </a:xfrm>
          </p:grpSpPr>
          <p:grpSp>
            <p:nvGrpSpPr>
              <p:cNvPr id="30" name="Группа 29"/>
              <p:cNvGrpSpPr/>
              <p:nvPr/>
            </p:nvGrpSpPr>
            <p:grpSpPr>
              <a:xfrm>
                <a:off x="448806" y="962549"/>
                <a:ext cx="5188166" cy="801380"/>
                <a:chOff x="823994" y="899428"/>
                <a:chExt cx="5188166" cy="801380"/>
              </a:xfrm>
            </p:grpSpPr>
            <p:sp>
              <p:nvSpPr>
                <p:cNvPr id="8" name="Прямоугольник 7"/>
                <p:cNvSpPr/>
                <p:nvPr/>
              </p:nvSpPr>
              <p:spPr>
                <a:xfrm>
                  <a:off x="823994" y="1196752"/>
                  <a:ext cx="5188166" cy="504056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" name="Прямая соединительная линия 8"/>
                <p:cNvCxnSpPr/>
                <p:nvPr/>
              </p:nvCxnSpPr>
              <p:spPr>
                <a:xfrm>
                  <a:off x="2415350" y="1196752"/>
                  <a:ext cx="0" cy="5040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Прямая соединительная линия 9"/>
                <p:cNvCxnSpPr/>
                <p:nvPr/>
              </p:nvCxnSpPr>
              <p:spPr>
                <a:xfrm>
                  <a:off x="3135430" y="1196752"/>
                  <a:ext cx="0" cy="5040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Прямая соединительная линия 10"/>
                <p:cNvCxnSpPr/>
                <p:nvPr/>
              </p:nvCxnSpPr>
              <p:spPr>
                <a:xfrm>
                  <a:off x="3855510" y="1196752"/>
                  <a:ext cx="0" cy="5040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Прямая соединительная линия 11"/>
                <p:cNvCxnSpPr/>
                <p:nvPr/>
              </p:nvCxnSpPr>
              <p:spPr>
                <a:xfrm>
                  <a:off x="4575590" y="1196752"/>
                  <a:ext cx="0" cy="5040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5462006" y="908720"/>
                  <a:ext cx="330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dirty="0" smtClean="0"/>
                    <a:t>1</a:t>
                  </a:r>
                  <a:endParaRPr lang="ru-RU" dirty="0"/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5469186" y="1268760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ru-RU" dirty="0"/>
                </a:p>
              </p:txBody>
            </p:sp>
            <p:cxnSp>
              <p:nvCxnSpPr>
                <p:cNvPr id="24" name="Прямая соединительная линия 23"/>
                <p:cNvCxnSpPr/>
                <p:nvPr/>
              </p:nvCxnSpPr>
              <p:spPr>
                <a:xfrm>
                  <a:off x="5292080" y="1196752"/>
                  <a:ext cx="0" cy="50405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/>
                <p:cNvSpPr txBox="1"/>
                <p:nvPr/>
              </p:nvSpPr>
              <p:spPr>
                <a:xfrm>
                  <a:off x="2627784" y="899428"/>
                  <a:ext cx="330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dirty="0"/>
                    <a:t>5</a:t>
                  </a: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3305356" y="899428"/>
                  <a:ext cx="330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dirty="0" smtClean="0"/>
                    <a:t>4</a:t>
                  </a:r>
                  <a:endParaRPr lang="ru-RU" dirty="0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4025436" y="899428"/>
                  <a:ext cx="330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dirty="0" smtClean="0"/>
                    <a:t>3</a:t>
                  </a:r>
                  <a:endParaRPr lang="ru-RU" dirty="0"/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4745516" y="899428"/>
                  <a:ext cx="330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dirty="0" smtClean="0"/>
                    <a:t>2</a:t>
                  </a:r>
                  <a:endParaRPr lang="ru-RU" dirty="0"/>
                </a:p>
              </p:txBody>
            </p:sp>
          </p:grpSp>
          <p:cxnSp>
            <p:nvCxnSpPr>
              <p:cNvPr id="33" name="Прямая со стрелкой 32"/>
              <p:cNvCxnSpPr/>
              <p:nvPr/>
            </p:nvCxnSpPr>
            <p:spPr>
              <a:xfrm flipH="1">
                <a:off x="5498438" y="1075207"/>
                <a:ext cx="1497250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6006449" y="1630541"/>
                <a:ext cx="3365503" cy="83381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ru-RU" sz="1700" b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Значение</a:t>
                </a:r>
                <a:r>
                  <a:rPr lang="en-US" sz="1700" b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ru-RU" sz="1700" b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ячейки  если</a:t>
                </a:r>
              </a:p>
              <a:p>
                <a:r>
                  <a:rPr lang="ru-RU" sz="1700" b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в ней будет  стоять  1</a:t>
                </a:r>
                <a:r>
                  <a:rPr lang="en-US" sz="1700" b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</a:p>
              <a:p>
                <a:r>
                  <a:rPr lang="ru-RU" sz="1700" b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И</a:t>
                </a:r>
                <a:r>
                  <a:rPr lang="en-US" sz="1700" b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ru-RU" sz="1700" b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эти значения суммируются</a:t>
                </a:r>
                <a:endParaRPr lang="ru-RU" sz="17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5" name="Прямая со стрелкой 34"/>
              <p:cNvCxnSpPr/>
              <p:nvPr/>
            </p:nvCxnSpPr>
            <p:spPr>
              <a:xfrm flipH="1">
                <a:off x="5411512" y="1953706"/>
                <a:ext cx="594937" cy="0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grpSp>
            <p:nvGrpSpPr>
              <p:cNvPr id="13" name="Группа 12"/>
              <p:cNvGrpSpPr/>
              <p:nvPr/>
            </p:nvGrpSpPr>
            <p:grpSpPr>
              <a:xfrm>
                <a:off x="5037138" y="1772816"/>
                <a:ext cx="398958" cy="873388"/>
                <a:chOff x="2841570" y="2591616"/>
                <a:chExt cx="398958" cy="873388"/>
              </a:xfrm>
            </p:grpSpPr>
            <p:cxnSp>
              <p:nvCxnSpPr>
                <p:cNvPr id="37" name="Прямая со стрелкой 36"/>
                <p:cNvCxnSpPr/>
                <p:nvPr/>
              </p:nvCxnSpPr>
              <p:spPr>
                <a:xfrm>
                  <a:off x="3045758" y="2591616"/>
                  <a:ext cx="0" cy="46805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3"/>
                </a:lnRef>
                <a:fillRef idx="0">
                  <a:schemeClr val="accent3"/>
                </a:fillRef>
                <a:effectRef idx="1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41"/>
                <p:cNvSpPr txBox="1"/>
                <p:nvPr/>
              </p:nvSpPr>
              <p:spPr>
                <a:xfrm>
                  <a:off x="2841570" y="3095672"/>
                  <a:ext cx="398958" cy="369332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ru-RU" b="1" dirty="0" smtClean="0">
                      <a:solidFill>
                        <a:schemeClr val="accent1">
                          <a:lumMod val="50000"/>
                        </a:schemeClr>
                      </a:solidFill>
                    </a:rPr>
                    <a:t>1</a:t>
                  </a:r>
                  <a:endParaRPr lang="ru-RU" b="1" dirty="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" name="Группа 14"/>
              <p:cNvGrpSpPr/>
              <p:nvPr/>
            </p:nvGrpSpPr>
            <p:grpSpPr>
              <a:xfrm>
                <a:off x="4355976" y="1772816"/>
                <a:ext cx="398958" cy="873388"/>
                <a:chOff x="3600568" y="2627620"/>
                <a:chExt cx="398958" cy="873388"/>
              </a:xfrm>
            </p:grpSpPr>
            <p:cxnSp>
              <p:nvCxnSpPr>
                <p:cNvPr id="38" name="Прямая со стрелкой 37"/>
                <p:cNvCxnSpPr/>
                <p:nvPr/>
              </p:nvCxnSpPr>
              <p:spPr>
                <a:xfrm>
                  <a:off x="3783502" y="2627620"/>
                  <a:ext cx="0" cy="46805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3"/>
                </a:lnRef>
                <a:fillRef idx="0">
                  <a:schemeClr val="accent3"/>
                </a:fillRef>
                <a:effectRef idx="1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43" name="TextBox 42"/>
                <p:cNvSpPr txBox="1"/>
                <p:nvPr/>
              </p:nvSpPr>
              <p:spPr>
                <a:xfrm>
                  <a:off x="3600568" y="3131676"/>
                  <a:ext cx="398958" cy="369332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ru-RU" b="1" dirty="0" smtClean="0">
                      <a:solidFill>
                        <a:schemeClr val="accent1">
                          <a:lumMod val="50000"/>
                        </a:schemeClr>
                      </a:solidFill>
                    </a:rPr>
                    <a:t>2</a:t>
                  </a:r>
                  <a:endParaRPr lang="ru-RU" b="1" dirty="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7" name="Группа 16"/>
              <p:cNvGrpSpPr/>
              <p:nvPr/>
            </p:nvGrpSpPr>
            <p:grpSpPr>
              <a:xfrm>
                <a:off x="3635896" y="1772816"/>
                <a:ext cx="398958" cy="873388"/>
                <a:chOff x="4320648" y="2627620"/>
                <a:chExt cx="398958" cy="873388"/>
              </a:xfrm>
            </p:grpSpPr>
            <p:cxnSp>
              <p:nvCxnSpPr>
                <p:cNvPr id="39" name="Прямая со стрелкой 38"/>
                <p:cNvCxnSpPr/>
                <p:nvPr/>
              </p:nvCxnSpPr>
              <p:spPr>
                <a:xfrm>
                  <a:off x="4521246" y="2627620"/>
                  <a:ext cx="0" cy="46805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3"/>
                </a:lnRef>
                <a:fillRef idx="0">
                  <a:schemeClr val="accent3"/>
                </a:fillRef>
                <a:effectRef idx="1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44" name="TextBox 43"/>
                <p:cNvSpPr txBox="1"/>
                <p:nvPr/>
              </p:nvSpPr>
              <p:spPr>
                <a:xfrm>
                  <a:off x="4320648" y="3131676"/>
                  <a:ext cx="398958" cy="369332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ru-RU" b="1" dirty="0" smtClean="0">
                      <a:solidFill>
                        <a:schemeClr val="accent1">
                          <a:lumMod val="50000"/>
                        </a:schemeClr>
                      </a:solidFill>
                    </a:rPr>
                    <a:t>4</a:t>
                  </a:r>
                  <a:endParaRPr lang="ru-RU" b="1" dirty="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8" name="Группа 17"/>
              <p:cNvGrpSpPr/>
              <p:nvPr/>
            </p:nvGrpSpPr>
            <p:grpSpPr>
              <a:xfrm>
                <a:off x="2876898" y="1772816"/>
                <a:ext cx="398958" cy="873388"/>
                <a:chOff x="5073818" y="2591616"/>
                <a:chExt cx="398958" cy="873388"/>
              </a:xfrm>
            </p:grpSpPr>
            <p:cxnSp>
              <p:nvCxnSpPr>
                <p:cNvPr id="40" name="Прямая со стрелкой 39"/>
                <p:cNvCxnSpPr/>
                <p:nvPr/>
              </p:nvCxnSpPr>
              <p:spPr>
                <a:xfrm>
                  <a:off x="5258990" y="2591616"/>
                  <a:ext cx="0" cy="46805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3"/>
                </a:lnRef>
                <a:fillRef idx="0">
                  <a:schemeClr val="accent3"/>
                </a:fillRef>
                <a:effectRef idx="1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Box 44"/>
                <p:cNvSpPr txBox="1"/>
                <p:nvPr/>
              </p:nvSpPr>
              <p:spPr>
                <a:xfrm>
                  <a:off x="5073818" y="3095672"/>
                  <a:ext cx="398958" cy="369332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ru-RU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</p:grpSp>
          <p:grpSp>
            <p:nvGrpSpPr>
              <p:cNvPr id="19" name="Группа 18"/>
              <p:cNvGrpSpPr/>
              <p:nvPr/>
            </p:nvGrpSpPr>
            <p:grpSpPr>
              <a:xfrm>
                <a:off x="2123728" y="1772816"/>
                <a:ext cx="542974" cy="873388"/>
                <a:chOff x="5727718" y="2627620"/>
                <a:chExt cx="542974" cy="873388"/>
              </a:xfrm>
            </p:grpSpPr>
            <p:cxnSp>
              <p:nvCxnSpPr>
                <p:cNvPr id="41" name="Прямая со стрелкой 40"/>
                <p:cNvCxnSpPr/>
                <p:nvPr/>
              </p:nvCxnSpPr>
              <p:spPr>
                <a:xfrm>
                  <a:off x="6015750" y="2627620"/>
                  <a:ext cx="0" cy="46805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3"/>
                </a:lnRef>
                <a:fillRef idx="0">
                  <a:schemeClr val="accent3"/>
                </a:fillRef>
                <a:effectRef idx="1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5727718" y="3131676"/>
                  <a:ext cx="542974" cy="369332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ru-RU" b="1" dirty="0" smtClean="0">
                      <a:solidFill>
                        <a:schemeClr val="accent1">
                          <a:lumMod val="50000"/>
                        </a:schemeClr>
                      </a:solidFill>
                    </a:rPr>
                    <a:t>16</a:t>
                  </a:r>
                  <a:endParaRPr lang="ru-RU" b="1" dirty="0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7" name="TextBox 6"/>
              <p:cNvSpPr txBox="1"/>
              <p:nvPr/>
            </p:nvSpPr>
            <p:spPr>
              <a:xfrm>
                <a:off x="859909" y="1268760"/>
                <a:ext cx="5437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 smtClean="0"/>
                  <a:t>…</a:t>
                </a:r>
                <a:endParaRPr lang="ru-RU" b="1" dirty="0"/>
              </a:p>
            </p:txBody>
          </p:sp>
        </p:grpSp>
      </p:grpSp>
      <p:sp>
        <p:nvSpPr>
          <p:cNvPr id="32" name="TextBox 31"/>
          <p:cNvSpPr txBox="1"/>
          <p:nvPr/>
        </p:nvSpPr>
        <p:spPr>
          <a:xfrm>
            <a:off x="113350" y="2708920"/>
            <a:ext cx="8923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Например </a:t>
            </a:r>
            <a:endParaRPr lang="ru-RU" dirty="0"/>
          </a:p>
        </p:txBody>
      </p:sp>
      <p:graphicFrame>
        <p:nvGraphicFramePr>
          <p:cNvPr id="70" name="Таблица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732978"/>
              </p:ext>
            </p:extLst>
          </p:nvPr>
        </p:nvGraphicFramePr>
        <p:xfrm>
          <a:off x="96866" y="3078252"/>
          <a:ext cx="3923656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914"/>
                <a:gridCol w="980914"/>
                <a:gridCol w="980914"/>
                <a:gridCol w="980914"/>
              </a:tblGrid>
              <a:tr h="598021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45979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6" name="Группа 75"/>
          <p:cNvGrpSpPr/>
          <p:nvPr/>
        </p:nvGrpSpPr>
        <p:grpSpPr>
          <a:xfrm>
            <a:off x="870340" y="3625860"/>
            <a:ext cx="4361550" cy="523220"/>
            <a:chOff x="870340" y="3625860"/>
            <a:chExt cx="4361550" cy="523220"/>
          </a:xfrm>
        </p:grpSpPr>
        <p:sp>
          <p:nvSpPr>
            <p:cNvPr id="72" name="TextBox 71"/>
            <p:cNvSpPr txBox="1"/>
            <p:nvPr/>
          </p:nvSpPr>
          <p:spPr>
            <a:xfrm>
              <a:off x="870340" y="3625860"/>
              <a:ext cx="461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b="1" dirty="0" smtClean="0"/>
                <a:t>+</a:t>
              </a:r>
              <a:endParaRPr lang="ru-RU" sz="2800" b="1" dirty="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806444" y="3625860"/>
              <a:ext cx="461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b="1" dirty="0" smtClean="0"/>
                <a:t>+</a:t>
              </a:r>
              <a:endParaRPr lang="ru-RU" sz="2800" b="1"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771800" y="3625860"/>
              <a:ext cx="461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b="1" dirty="0" smtClean="0"/>
                <a:t>+</a:t>
              </a:r>
              <a:endParaRPr lang="ru-RU" sz="2800" b="1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995936" y="3687415"/>
              <a:ext cx="1235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smtClean="0">
                  <a:solidFill>
                    <a:srgbClr val="FF0000"/>
                  </a:solidFill>
                </a:rPr>
                <a:t>= 15  </a:t>
              </a:r>
              <a:endParaRPr lang="ru-RU" sz="2400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77" name="Таблица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03914"/>
              </p:ext>
            </p:extLst>
          </p:nvPr>
        </p:nvGraphicFramePr>
        <p:xfrm>
          <a:off x="107504" y="4581128"/>
          <a:ext cx="3923656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914"/>
                <a:gridCol w="980914"/>
                <a:gridCol w="980914"/>
                <a:gridCol w="980914"/>
              </a:tblGrid>
              <a:tr h="598021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45979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8" name="Группа 77"/>
          <p:cNvGrpSpPr/>
          <p:nvPr/>
        </p:nvGrpSpPr>
        <p:grpSpPr>
          <a:xfrm>
            <a:off x="858522" y="5138028"/>
            <a:ext cx="4361550" cy="523220"/>
            <a:chOff x="870340" y="3625860"/>
            <a:chExt cx="4361550" cy="523220"/>
          </a:xfrm>
        </p:grpSpPr>
        <p:sp>
          <p:nvSpPr>
            <p:cNvPr id="79" name="TextBox 78"/>
            <p:cNvSpPr txBox="1"/>
            <p:nvPr/>
          </p:nvSpPr>
          <p:spPr>
            <a:xfrm>
              <a:off x="870340" y="3625860"/>
              <a:ext cx="461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b="1" dirty="0" smtClean="0"/>
                <a:t>+</a:t>
              </a:r>
              <a:endParaRPr lang="ru-RU" sz="2800" b="1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806444" y="3625860"/>
              <a:ext cx="461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b="1" dirty="0" smtClean="0"/>
                <a:t>+</a:t>
              </a:r>
              <a:endParaRPr lang="ru-RU" sz="2800" b="1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771800" y="3625860"/>
              <a:ext cx="461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b="1" dirty="0" smtClean="0"/>
                <a:t>+</a:t>
              </a:r>
              <a:endParaRPr lang="ru-RU" sz="2800" b="1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995936" y="3687415"/>
              <a:ext cx="12359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 smtClean="0">
                  <a:solidFill>
                    <a:srgbClr val="FF0000"/>
                  </a:solidFill>
                </a:rPr>
                <a:t>= 7  </a:t>
              </a:r>
              <a:endParaRPr lang="ru-RU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559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032440"/>
              </p:ext>
            </p:extLst>
          </p:nvPr>
        </p:nvGraphicFramePr>
        <p:xfrm>
          <a:off x="107504" y="404664"/>
          <a:ext cx="3923656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914"/>
                <a:gridCol w="980914"/>
                <a:gridCol w="980914"/>
                <a:gridCol w="980914"/>
              </a:tblGrid>
              <a:tr h="598021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45979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128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64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32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404585"/>
              </p:ext>
            </p:extLst>
          </p:nvPr>
        </p:nvGraphicFramePr>
        <p:xfrm>
          <a:off x="4032720" y="404664"/>
          <a:ext cx="3923656" cy="10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914"/>
                <a:gridCol w="980914"/>
                <a:gridCol w="980914"/>
                <a:gridCol w="980914"/>
              </a:tblGrid>
              <a:tr h="598021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45979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0" name="Группа 49"/>
          <p:cNvGrpSpPr/>
          <p:nvPr/>
        </p:nvGrpSpPr>
        <p:grpSpPr>
          <a:xfrm>
            <a:off x="841088" y="908720"/>
            <a:ext cx="2362760" cy="523220"/>
            <a:chOff x="870340" y="3625860"/>
            <a:chExt cx="2362760" cy="523220"/>
          </a:xfrm>
        </p:grpSpPr>
        <p:sp>
          <p:nvSpPr>
            <p:cNvPr id="51" name="TextBox 50"/>
            <p:cNvSpPr txBox="1"/>
            <p:nvPr/>
          </p:nvSpPr>
          <p:spPr>
            <a:xfrm>
              <a:off x="870340" y="3625860"/>
              <a:ext cx="461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b="1" dirty="0" smtClean="0"/>
                <a:t>+</a:t>
              </a:r>
              <a:endParaRPr lang="ru-RU" sz="2800" b="1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806444" y="3625860"/>
              <a:ext cx="461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b="1" dirty="0" smtClean="0"/>
                <a:t>+</a:t>
              </a:r>
              <a:endParaRPr lang="ru-RU" sz="2800" b="1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771800" y="3625860"/>
              <a:ext cx="461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b="1" dirty="0" smtClean="0"/>
                <a:t>+</a:t>
              </a:r>
              <a:endParaRPr lang="ru-RU" sz="2800" b="1" dirty="0"/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3851920" y="1010926"/>
            <a:ext cx="360040" cy="4253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5" name="Группа 54"/>
          <p:cNvGrpSpPr/>
          <p:nvPr/>
        </p:nvGrpSpPr>
        <p:grpSpPr>
          <a:xfrm>
            <a:off x="3851920" y="908720"/>
            <a:ext cx="2362760" cy="523220"/>
            <a:chOff x="870340" y="3625860"/>
            <a:chExt cx="2362760" cy="523220"/>
          </a:xfrm>
        </p:grpSpPr>
        <p:sp>
          <p:nvSpPr>
            <p:cNvPr id="56" name="TextBox 55"/>
            <p:cNvSpPr txBox="1"/>
            <p:nvPr/>
          </p:nvSpPr>
          <p:spPr>
            <a:xfrm>
              <a:off x="870340" y="3625860"/>
              <a:ext cx="461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b="1" dirty="0" smtClean="0"/>
                <a:t>+</a:t>
              </a:r>
              <a:endParaRPr lang="ru-RU" sz="2800" b="1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806444" y="3625860"/>
              <a:ext cx="461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b="1" dirty="0" smtClean="0"/>
                <a:t>+</a:t>
              </a:r>
              <a:endParaRPr lang="ru-RU" sz="2800" b="1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771800" y="3625860"/>
              <a:ext cx="4613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b="1" dirty="0" smtClean="0"/>
                <a:t>+</a:t>
              </a:r>
              <a:endParaRPr lang="ru-RU" sz="2800" b="1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6862752" y="908720"/>
            <a:ext cx="461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+</a:t>
            </a:r>
            <a:endParaRPr lang="ru-RU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992888" y="980728"/>
            <a:ext cx="1043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rgbClr val="FF0000"/>
                </a:solidFill>
              </a:rPr>
              <a:t>= 255</a:t>
            </a:r>
            <a:endParaRPr lang="ru-RU" sz="20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9512" y="3501008"/>
            <a:ext cx="87849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Но указывать адресацию в двоичных числах неудобно, поэтому решили применять  16-тиричное  исчисление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7504" y="1772816"/>
            <a:ext cx="8856984" cy="646331"/>
          </a:xfrm>
          <a:prstGeom prst="rect">
            <a:avLst/>
          </a:prstGeom>
          <a:solidFill>
            <a:schemeClr val="accent3">
              <a:lumMod val="20000"/>
              <a:lumOff val="80000"/>
              <a:alpha val="2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Это 8-битное число (1 байт) – и если все разряды установлены в 1 то </a:t>
            </a:r>
          </a:p>
          <a:p>
            <a:r>
              <a:rPr lang="ru-RU" dirty="0" smtClean="0"/>
              <a:t>его значение будет равно 255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773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70300" y="44624"/>
            <a:ext cx="3102131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sz="1600" b="1" dirty="0" smtClean="0"/>
              <a:t>16 - </a:t>
            </a:r>
            <a:r>
              <a:rPr lang="ru-RU" sz="1600" b="1" dirty="0" err="1" smtClean="0"/>
              <a:t>ричное</a:t>
            </a:r>
            <a:r>
              <a:rPr lang="ru-RU" sz="1600" b="1" dirty="0" smtClean="0"/>
              <a:t>  представление</a:t>
            </a:r>
            <a:endParaRPr lang="ru-RU" sz="1600" b="1" dirty="0"/>
          </a:p>
        </p:txBody>
      </p:sp>
      <p:graphicFrame>
        <p:nvGraphicFramePr>
          <p:cNvPr id="41" name="Таблица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064873"/>
              </p:ext>
            </p:extLst>
          </p:nvPr>
        </p:nvGraphicFramePr>
        <p:xfrm>
          <a:off x="4541484" y="1620728"/>
          <a:ext cx="161469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483"/>
                <a:gridCol w="589209"/>
              </a:tblGrid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1001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1010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1011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1101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500" b="1" dirty="0" smtClean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4" name="Группа 43"/>
          <p:cNvGrpSpPr/>
          <p:nvPr/>
        </p:nvGrpSpPr>
        <p:grpSpPr>
          <a:xfrm>
            <a:off x="94322" y="620689"/>
            <a:ext cx="8654142" cy="827098"/>
            <a:chOff x="107504" y="2852936"/>
            <a:chExt cx="8654142" cy="1051245"/>
          </a:xfrm>
        </p:grpSpPr>
        <p:grpSp>
          <p:nvGrpSpPr>
            <p:cNvPr id="45" name="Группа 44"/>
            <p:cNvGrpSpPr/>
            <p:nvPr/>
          </p:nvGrpSpPr>
          <p:grpSpPr>
            <a:xfrm>
              <a:off x="107504" y="2852936"/>
              <a:ext cx="8654142" cy="533673"/>
              <a:chOff x="238338" y="692696"/>
              <a:chExt cx="8654142" cy="533673"/>
            </a:xfrm>
          </p:grpSpPr>
          <p:sp>
            <p:nvSpPr>
              <p:cNvPr id="56" name="Прямоугольник 55"/>
              <p:cNvSpPr/>
              <p:nvPr/>
            </p:nvSpPr>
            <p:spPr>
              <a:xfrm>
                <a:off x="238338" y="692696"/>
                <a:ext cx="8654142" cy="504056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7" name="Прямая соединительная линия 56"/>
              <p:cNvCxnSpPr/>
              <p:nvPr/>
            </p:nvCxnSpPr>
            <p:spPr>
              <a:xfrm>
                <a:off x="958418" y="692696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Прямая соединительная линия 57"/>
              <p:cNvCxnSpPr/>
              <p:nvPr/>
            </p:nvCxnSpPr>
            <p:spPr>
              <a:xfrm>
                <a:off x="1678498" y="692696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Прямая соединительная линия 58"/>
              <p:cNvCxnSpPr/>
              <p:nvPr/>
            </p:nvCxnSpPr>
            <p:spPr>
              <a:xfrm>
                <a:off x="2398578" y="692696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Прямая соединительная линия 59"/>
              <p:cNvCxnSpPr/>
              <p:nvPr/>
            </p:nvCxnSpPr>
            <p:spPr>
              <a:xfrm>
                <a:off x="3118658" y="692696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Прямая соединительная линия 60"/>
              <p:cNvCxnSpPr/>
              <p:nvPr/>
            </p:nvCxnSpPr>
            <p:spPr>
              <a:xfrm>
                <a:off x="3838738" y="692696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Прямая соединительная линия 61"/>
              <p:cNvCxnSpPr/>
              <p:nvPr/>
            </p:nvCxnSpPr>
            <p:spPr>
              <a:xfrm>
                <a:off x="4558818" y="692696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Прямая соединительная линия 62"/>
              <p:cNvCxnSpPr/>
              <p:nvPr/>
            </p:nvCxnSpPr>
            <p:spPr>
              <a:xfrm>
                <a:off x="5278898" y="692696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Box 63"/>
              <p:cNvSpPr txBox="1"/>
              <p:nvPr/>
            </p:nvSpPr>
            <p:spPr>
              <a:xfrm>
                <a:off x="411854" y="764704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…</a:t>
                </a:r>
                <a:endParaRPr lang="ru-RU" sz="2400" b="1" dirty="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1131934" y="7647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1</a:t>
                </a:r>
                <a:endParaRPr lang="ru-RU" dirty="0"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852014" y="7647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0</a:t>
                </a:r>
                <a:endParaRPr lang="ru-RU" dirty="0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2572094" y="7647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1</a:t>
                </a:r>
                <a:endParaRPr lang="ru-RU" dirty="0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3292174" y="7647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  <a:endParaRPr lang="ru-RU" dirty="0"/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4012254" y="7647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  <a:endParaRPr lang="ru-RU" dirty="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4732334" y="7647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1</a:t>
                </a:r>
                <a:endParaRPr lang="ru-RU" dirty="0"/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5452414" y="7647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0</a:t>
                </a:r>
                <a:endParaRPr lang="ru-RU" dirty="0"/>
              </a:p>
            </p:txBody>
          </p:sp>
          <p:cxnSp>
            <p:nvCxnSpPr>
              <p:cNvPr id="72" name="Прямая соединительная линия 71"/>
              <p:cNvCxnSpPr/>
              <p:nvPr/>
            </p:nvCxnSpPr>
            <p:spPr>
              <a:xfrm>
                <a:off x="6012160" y="692696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Прямая соединительная линия 72"/>
              <p:cNvCxnSpPr/>
              <p:nvPr/>
            </p:nvCxnSpPr>
            <p:spPr>
              <a:xfrm>
                <a:off x="6732240" y="692696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Прямая соединительная линия 73"/>
              <p:cNvCxnSpPr/>
              <p:nvPr/>
            </p:nvCxnSpPr>
            <p:spPr>
              <a:xfrm>
                <a:off x="7452320" y="692696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Прямая соединительная линия 74"/>
              <p:cNvCxnSpPr/>
              <p:nvPr/>
            </p:nvCxnSpPr>
            <p:spPr>
              <a:xfrm>
                <a:off x="8172400" y="692696"/>
                <a:ext cx="0" cy="50405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75"/>
              <p:cNvSpPr txBox="1"/>
              <p:nvPr/>
            </p:nvSpPr>
            <p:spPr>
              <a:xfrm>
                <a:off x="6185676" y="7647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0</a:t>
                </a:r>
                <a:endParaRPr lang="ru-RU" dirty="0"/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6918938" y="7647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0</a:t>
                </a:r>
                <a:endParaRPr lang="ru-RU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7652200" y="7647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0</a:t>
                </a:r>
                <a:endParaRPr lang="ru-RU" dirty="0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8385462" y="755412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0</a:t>
                </a:r>
                <a:endParaRPr lang="ru-RU" dirty="0"/>
              </a:p>
            </p:txBody>
          </p:sp>
        </p:grpSp>
        <p:grpSp>
          <p:nvGrpSpPr>
            <p:cNvPr id="46" name="Группа 45"/>
            <p:cNvGrpSpPr/>
            <p:nvPr/>
          </p:nvGrpSpPr>
          <p:grpSpPr>
            <a:xfrm>
              <a:off x="107504" y="3356992"/>
              <a:ext cx="8654142" cy="547189"/>
              <a:chOff x="107504" y="4610003"/>
              <a:chExt cx="8654142" cy="547189"/>
            </a:xfrm>
          </p:grpSpPr>
          <p:cxnSp>
            <p:nvCxnSpPr>
              <p:cNvPr id="47" name="Прямая соединительная линия 46"/>
              <p:cNvCxnSpPr/>
              <p:nvPr/>
            </p:nvCxnSpPr>
            <p:spPr>
              <a:xfrm>
                <a:off x="5868144" y="4610003"/>
                <a:ext cx="0" cy="504056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8" name="Прямая соединительная линия 47"/>
              <p:cNvCxnSpPr/>
              <p:nvPr/>
            </p:nvCxnSpPr>
            <p:spPr>
              <a:xfrm>
                <a:off x="3001006" y="4610003"/>
                <a:ext cx="0" cy="504056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9" name="Прямая соединительная линия 48"/>
              <p:cNvCxnSpPr/>
              <p:nvPr/>
            </p:nvCxnSpPr>
            <p:spPr>
              <a:xfrm>
                <a:off x="8761646" y="4610003"/>
                <a:ext cx="0" cy="504056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0" name="Прямая со стрелкой 49"/>
              <p:cNvCxnSpPr/>
              <p:nvPr/>
            </p:nvCxnSpPr>
            <p:spPr>
              <a:xfrm>
                <a:off x="2987824" y="4970043"/>
                <a:ext cx="2880320" cy="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51" name="Прямая со стрелкой 50"/>
              <p:cNvCxnSpPr/>
              <p:nvPr/>
            </p:nvCxnSpPr>
            <p:spPr>
              <a:xfrm>
                <a:off x="5881326" y="4970043"/>
                <a:ext cx="2880320" cy="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52" name="TextBox 51"/>
              <p:cNvSpPr txBox="1"/>
              <p:nvPr/>
            </p:nvSpPr>
            <p:spPr>
              <a:xfrm>
                <a:off x="3763681" y="4787860"/>
                <a:ext cx="1325557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4 </a:t>
                </a:r>
                <a:r>
                  <a:rPr lang="ru-RU" dirty="0" smtClean="0"/>
                  <a:t>разряда</a:t>
                </a:r>
                <a:endParaRPr lang="ru-RU" dirty="0"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6716009" y="4787860"/>
                <a:ext cx="1325557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ru-RU"/>
                </a:defPPr>
              </a:lstStyle>
              <a:p>
                <a:r>
                  <a:rPr lang="en-US" dirty="0"/>
                  <a:t>4 </a:t>
                </a:r>
                <a:r>
                  <a:rPr lang="ru-RU" dirty="0"/>
                  <a:t>разряда</a:t>
                </a:r>
              </a:p>
            </p:txBody>
          </p:sp>
          <p:cxnSp>
            <p:nvCxnSpPr>
              <p:cNvPr id="54" name="Прямая со стрелкой 53"/>
              <p:cNvCxnSpPr/>
              <p:nvPr/>
            </p:nvCxnSpPr>
            <p:spPr>
              <a:xfrm>
                <a:off x="107504" y="4970043"/>
                <a:ext cx="2880320" cy="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55" name="TextBox 54"/>
              <p:cNvSpPr txBox="1"/>
              <p:nvPr/>
            </p:nvSpPr>
            <p:spPr>
              <a:xfrm>
                <a:off x="1115616" y="4782894"/>
                <a:ext cx="1325557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4 </a:t>
                </a:r>
                <a:r>
                  <a:rPr lang="ru-RU" dirty="0" smtClean="0"/>
                  <a:t>разряда</a:t>
                </a:r>
                <a:endParaRPr lang="ru-RU" dirty="0"/>
              </a:p>
            </p:txBody>
          </p:sp>
        </p:grpSp>
      </p:grpSp>
      <p:sp>
        <p:nvSpPr>
          <p:cNvPr id="3" name="Прямоугольник 2"/>
          <p:cNvSpPr/>
          <p:nvPr/>
        </p:nvSpPr>
        <p:spPr>
          <a:xfrm>
            <a:off x="35496" y="35332"/>
            <a:ext cx="568863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 Д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воичное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число мысленно разбивают по 4 разряда </a:t>
            </a:r>
          </a:p>
        </p:txBody>
      </p:sp>
      <p:sp>
        <p:nvSpPr>
          <p:cNvPr id="81" name="Прямоугольник 80"/>
          <p:cNvSpPr/>
          <p:nvPr/>
        </p:nvSpPr>
        <p:spPr>
          <a:xfrm>
            <a:off x="35496" y="1700808"/>
            <a:ext cx="3845924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Каждое число состоящее из 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4-х разрядов  записывается  как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57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302734"/>
              </p:ext>
            </p:extLst>
          </p:nvPr>
        </p:nvGraphicFramePr>
        <p:xfrm>
          <a:off x="7308304" y="476672"/>
          <a:ext cx="1614692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483"/>
                <a:gridCol w="589209"/>
              </a:tblGrid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1001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1010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1011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1101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034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RU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6632"/>
            <a:ext cx="5948911" cy="4196763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2769898" y="3990310"/>
            <a:ext cx="890037" cy="5760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35696" y="4581128"/>
            <a:ext cx="208823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 f 4 9 4 9</a:t>
            </a:r>
            <a:endParaRPr lang="ru-RU" sz="2800" b="1" dirty="0"/>
          </a:p>
        </p:txBody>
      </p:sp>
      <p:grpSp>
        <p:nvGrpSpPr>
          <p:cNvPr id="15" name="Группа 14"/>
          <p:cNvGrpSpPr/>
          <p:nvPr/>
        </p:nvGrpSpPr>
        <p:grpSpPr>
          <a:xfrm>
            <a:off x="107504" y="5733256"/>
            <a:ext cx="4728599" cy="369332"/>
            <a:chOff x="107504" y="5733256"/>
            <a:chExt cx="4728599" cy="369332"/>
          </a:xfrm>
        </p:grpSpPr>
        <p:sp>
          <p:nvSpPr>
            <p:cNvPr id="9" name="TextBox 8"/>
            <p:cNvSpPr txBox="1"/>
            <p:nvPr/>
          </p:nvSpPr>
          <p:spPr>
            <a:xfrm>
              <a:off x="107504" y="5733256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1110</a:t>
              </a:r>
              <a:endParaRPr lang="ru-RU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9592" y="5733256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1111</a:t>
              </a:r>
              <a:endParaRPr lang="ru-RU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91680" y="5733256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0100</a:t>
              </a:r>
              <a:endParaRPr lang="ru-RU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483768" y="5733256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1001</a:t>
              </a:r>
              <a:endParaRPr lang="ru-RU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75856" y="5733256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0100</a:t>
              </a:r>
              <a:endParaRPr lang="ru-RU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67944" y="5733256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1001</a:t>
              </a:r>
              <a:endParaRPr lang="ru-RU" dirty="0"/>
            </a:p>
          </p:txBody>
        </p:sp>
      </p:grpSp>
      <p:cxnSp>
        <p:nvCxnSpPr>
          <p:cNvPr id="25" name="Прямая со стрелкой 24"/>
          <p:cNvCxnSpPr/>
          <p:nvPr/>
        </p:nvCxnSpPr>
        <p:spPr>
          <a:xfrm flipH="1">
            <a:off x="491584" y="4941168"/>
            <a:ext cx="1488128" cy="7920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flipH="1">
            <a:off x="1403648" y="4941168"/>
            <a:ext cx="864096" cy="72008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flipH="1">
            <a:off x="2075759" y="4941168"/>
            <a:ext cx="552025" cy="72008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12" idx="0"/>
          </p:cNvCxnSpPr>
          <p:nvPr/>
        </p:nvCxnSpPr>
        <p:spPr>
          <a:xfrm flipH="1">
            <a:off x="2867848" y="4941168"/>
            <a:ext cx="11964" cy="7920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3251927" y="4941168"/>
            <a:ext cx="311961" cy="72008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endCxn id="14" idx="0"/>
          </p:cNvCxnSpPr>
          <p:nvPr/>
        </p:nvCxnSpPr>
        <p:spPr>
          <a:xfrm>
            <a:off x="3659935" y="4941168"/>
            <a:ext cx="792089" cy="7920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69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07904" y="35332"/>
            <a:ext cx="1656184" cy="369332"/>
          </a:xfrm>
          <a:prstGeom prst="rect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Кодировка 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476672"/>
            <a:ext cx="8856984" cy="2031325"/>
          </a:xfrm>
          <a:prstGeom prst="rect">
            <a:avLst/>
          </a:prstGeom>
          <a:solidFill>
            <a:srgbClr val="92D050">
              <a:alpha val="2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C</a:t>
            </a:r>
            <a:r>
              <a:rPr lang="ru-RU" b="1" dirty="0" err="1" smtClean="0">
                <a:latin typeface="Courier New" pitchFamily="49" charset="0"/>
                <a:cs typeface="Courier New" pitchFamily="49" charset="0"/>
              </a:rPr>
              <a:t>ode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ru-RU" b="1" dirty="0" err="1" smtClean="0">
                <a:latin typeface="Courier New" pitchFamily="49" charset="0"/>
                <a:cs typeface="Courier New" pitchFamily="49" charset="0"/>
              </a:rPr>
              <a:t>age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кодовая страница)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— таблица, сопоставляющая каждому значению байта некоторый символ (или его отсутствие).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Если максимальный код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символа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кодовой страницы имеет размер</a:t>
            </a:r>
          </a:p>
          <a:p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8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бит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то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кодовая страница может содержать максимум 256 символов, из чего вытекает резкая недостаточность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этой 8-битной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кодовой страницы для представления многоязычных текстов. </a:t>
            </a:r>
          </a:p>
        </p:txBody>
      </p:sp>
    </p:spTree>
    <p:extLst>
      <p:ext uri="{BB962C8B-B14F-4D97-AF65-F5344CB8AC3E}">
        <p14:creationId xmlns:p14="http://schemas.microsoft.com/office/powerpoint/2010/main" val="107068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2008" y="44624"/>
            <a:ext cx="903649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ASCII 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b="1" dirty="0" err="1" smtClean="0">
                <a:latin typeface="Courier New" pitchFamily="49" charset="0"/>
                <a:cs typeface="Courier New" pitchFamily="49" charset="0"/>
              </a:rPr>
              <a:t>American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Standard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Code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Information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Interchange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американская стандартная кодировочная таблица для печатных символов и некоторых специальных кодов.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0728"/>
            <a:ext cx="9144000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8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752" y="116632"/>
            <a:ext cx="903649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На основе ASCII начали формировать различные таблицы кодов в которых фиксированы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коды 95 печатных символов и 33 управляющих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(95 + 33 = 128)</a:t>
            </a:r>
          </a:p>
          <a:p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а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остальные 128 кодовых позиций используются для различных символов, не входящих в ASCII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.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496" y="1807656"/>
            <a:ext cx="9036496" cy="3416320"/>
          </a:xfrm>
          <a:prstGeom prst="rect">
            <a:avLst/>
          </a:prstGeom>
          <a:solidFill>
            <a:srgbClr val="92D050">
              <a:alpha val="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Для кодирования текстов 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на кириллице 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наиболее широко применяются следующие кодовые страницы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endParaRPr lang="ru-RU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-  Windows-1251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она же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Microsoft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code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page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1251 (CP1251) — в </a:t>
            </a:r>
            <a:endParaRPr lang="ru-RU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   системах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Windows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ru-RU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- семейство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кодовых страниц KOI8;</a:t>
            </a:r>
          </a:p>
          <a:p>
            <a:endParaRPr lang="ru-RU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- альтернативная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кодировка, она же IBM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code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page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866 — в </a:t>
            </a:r>
            <a:endParaRPr lang="ru-RU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 системах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DOS, а также в текстовых окнах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Microsoft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Windows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- </a:t>
            </a:r>
          </a:p>
          <a:p>
            <a:endParaRPr lang="ru-RU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-  </a:t>
            </a:r>
            <a:r>
              <a:rPr lang="ru-RU" b="1" dirty="0" err="1" smtClean="0">
                <a:latin typeface="Courier New" pitchFamily="49" charset="0"/>
                <a:cs typeface="Courier New" pitchFamily="49" charset="0"/>
              </a:rPr>
              <a:t>MacCyrillic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— на компьютерах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Macintosh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855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20"/>
            <a:ext cx="9144000" cy="547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30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" y="332656"/>
            <a:ext cx="9144000" cy="525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18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656"/>
            <a:ext cx="9144000" cy="524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5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5776" y="107340"/>
            <a:ext cx="396044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Кодировка  </a:t>
            </a:r>
            <a:r>
              <a:rPr lang="en-US" dirty="0" smtClean="0"/>
              <a:t>Unicode</a:t>
            </a:r>
            <a:r>
              <a:rPr lang="ru-RU" dirty="0" smtClean="0"/>
              <a:t>   (</a:t>
            </a:r>
            <a:r>
              <a:rPr lang="en-US" dirty="0"/>
              <a:t>UTF 32</a:t>
            </a:r>
            <a:r>
              <a:rPr lang="ru-RU" dirty="0" smtClean="0"/>
              <a:t>) 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5496" y="692696"/>
            <a:ext cx="8928992" cy="2031325"/>
          </a:xfrm>
          <a:prstGeom prst="rect">
            <a:avLst/>
          </a:prstGeom>
          <a:solidFill>
            <a:srgbClr val="92D050">
              <a:alpha val="2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В</a:t>
            </a:r>
            <a:r>
              <a:rPr lang="en-US" dirty="0"/>
              <a:t> </a:t>
            </a:r>
            <a:r>
              <a:rPr lang="ru-RU" dirty="0"/>
              <a:t>кодировке  </a:t>
            </a:r>
            <a:r>
              <a:rPr lang="en-US" dirty="0"/>
              <a:t>Unicode</a:t>
            </a:r>
            <a:r>
              <a:rPr lang="ru-RU" dirty="0"/>
              <a:t>  для кодировки одного символа отвели </a:t>
            </a:r>
            <a:endParaRPr lang="ru-RU" dirty="0" smtClean="0"/>
          </a:p>
          <a:p>
            <a:r>
              <a:rPr lang="ru-RU" dirty="0" smtClean="0"/>
              <a:t>32 </a:t>
            </a:r>
            <a:r>
              <a:rPr lang="ru-RU" dirty="0"/>
              <a:t>бита </a:t>
            </a:r>
            <a:r>
              <a:rPr lang="ru-RU" dirty="0" smtClean="0"/>
              <a:t>(4 байта) – но соответственно возрос в 4 раза объем документа. </a:t>
            </a:r>
          </a:p>
          <a:p>
            <a:endParaRPr lang="ru-RU" dirty="0"/>
          </a:p>
          <a:p>
            <a:r>
              <a:rPr lang="ru-RU" dirty="0" smtClean="0"/>
              <a:t>Поэтому разрабатывается кодировка </a:t>
            </a:r>
            <a:r>
              <a:rPr lang="en-US" b="1" dirty="0" smtClean="0"/>
              <a:t>UTF </a:t>
            </a:r>
            <a:r>
              <a:rPr lang="ru-RU" b="1" dirty="0" smtClean="0"/>
              <a:t>16</a:t>
            </a:r>
            <a:r>
              <a:rPr lang="ru-RU" dirty="0" smtClean="0"/>
              <a:t> которая в настоящий момент используется в операционной системе </a:t>
            </a:r>
            <a:r>
              <a:rPr lang="en-US" dirty="0" smtClean="0"/>
              <a:t>Windows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991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8640"/>
            <a:ext cx="6048672" cy="5184576"/>
          </a:xfrm>
          <a:prstGeom prst="rect">
            <a:avLst/>
          </a:prstGeom>
        </p:spPr>
      </p:pic>
      <p:cxnSp>
        <p:nvCxnSpPr>
          <p:cNvPr id="4" name="Прямая со стрелкой 3"/>
          <p:cNvCxnSpPr/>
          <p:nvPr/>
        </p:nvCxnSpPr>
        <p:spPr>
          <a:xfrm flipH="1" flipV="1">
            <a:off x="1115616" y="4725144"/>
            <a:ext cx="720080" cy="100811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79712" y="5805264"/>
            <a:ext cx="1512168" cy="4616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U+00D8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237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856984" cy="6186309"/>
          </a:xfrm>
          <a:prstGeom prst="rect">
            <a:avLst/>
          </a:prstGeom>
          <a:solidFill>
            <a:srgbClr val="92D050">
              <a:alpha val="2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smtClean="0"/>
              <a:t>Но</a:t>
            </a:r>
            <a:r>
              <a:rPr lang="en-US" dirty="0" smtClean="0"/>
              <a:t> </a:t>
            </a:r>
            <a:r>
              <a:rPr lang="ru-RU" dirty="0" smtClean="0"/>
              <a:t>в </a:t>
            </a:r>
            <a:r>
              <a:rPr lang="ru-RU" b="1" dirty="0" smtClean="0"/>
              <a:t>UTF </a:t>
            </a:r>
            <a:r>
              <a:rPr lang="ru-RU" b="1" dirty="0"/>
              <a:t>16</a:t>
            </a:r>
            <a:r>
              <a:rPr lang="ru-RU" dirty="0"/>
              <a:t> вес документов увеличивался в два раза (один байт на один символ в ASCII и два байта на тот же самый символ в кодировке UTF 16). </a:t>
            </a:r>
            <a:r>
              <a:rPr lang="ru-RU" dirty="0" smtClean="0"/>
              <a:t>В </a:t>
            </a:r>
            <a:r>
              <a:rPr lang="ru-RU" dirty="0"/>
              <a:t>консорциуме Юникод было решено придумать кодировку текста переменной длины.</a:t>
            </a:r>
          </a:p>
          <a:p>
            <a:endParaRPr lang="ru-RU" dirty="0"/>
          </a:p>
          <a:p>
            <a:r>
              <a:rPr lang="ru-RU" dirty="0"/>
              <a:t>Такую кодировку в Юникод назвали</a:t>
            </a:r>
            <a:r>
              <a:rPr lang="ru-RU" b="1" dirty="0"/>
              <a:t> UTF 8</a:t>
            </a:r>
            <a:r>
              <a:rPr lang="ru-RU" dirty="0"/>
              <a:t>. Несмотря на восьмерку в названии </a:t>
            </a:r>
            <a:r>
              <a:rPr lang="ru-RU" b="1" dirty="0"/>
              <a:t>UTF 8</a:t>
            </a:r>
            <a:r>
              <a:rPr lang="ru-RU" dirty="0"/>
              <a:t> является полноценной кодировкой </a:t>
            </a:r>
            <a:r>
              <a:rPr lang="ru-RU" b="1" i="1" dirty="0"/>
              <a:t>переменной длины</a:t>
            </a:r>
            <a:r>
              <a:rPr lang="ru-RU" dirty="0"/>
              <a:t>, т.е. каждый символ текста может быть закодирован в последовательность длинной от </a:t>
            </a:r>
            <a:r>
              <a:rPr lang="ru-RU" dirty="0" smtClean="0"/>
              <a:t>1 </a:t>
            </a:r>
            <a:r>
              <a:rPr lang="ru-RU" dirty="0"/>
              <a:t>до 6</a:t>
            </a:r>
            <a:r>
              <a:rPr lang="ru-RU" dirty="0" smtClean="0"/>
              <a:t> </a:t>
            </a:r>
            <a:r>
              <a:rPr lang="ru-RU" dirty="0"/>
              <a:t>байт. </a:t>
            </a:r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На </a:t>
            </a:r>
            <a:r>
              <a:rPr lang="ru-RU" dirty="0"/>
              <a:t>практике </a:t>
            </a:r>
            <a:r>
              <a:rPr lang="ru-RU" dirty="0" smtClean="0"/>
              <a:t>в </a:t>
            </a:r>
            <a:r>
              <a:rPr lang="ru-RU" b="1" dirty="0"/>
              <a:t>UTF 8</a:t>
            </a:r>
            <a:r>
              <a:rPr lang="ru-RU" dirty="0"/>
              <a:t> используется только диапазон </a:t>
            </a:r>
            <a:endParaRPr lang="ru-RU" dirty="0" smtClean="0"/>
          </a:p>
          <a:p>
            <a:r>
              <a:rPr lang="ru-RU" dirty="0" smtClean="0"/>
              <a:t>от 1 </a:t>
            </a:r>
            <a:r>
              <a:rPr lang="ru-RU" dirty="0"/>
              <a:t>до </a:t>
            </a:r>
            <a:r>
              <a:rPr lang="ru-RU" dirty="0" smtClean="0"/>
              <a:t>4 </a:t>
            </a:r>
            <a:r>
              <a:rPr lang="ru-RU" dirty="0"/>
              <a:t>байт, потому что за четырьмя байтами кода ничего уже даже теоретически не возможно представить.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b="1" dirty="0"/>
              <a:t>UTF 8</a:t>
            </a:r>
            <a:r>
              <a:rPr lang="ru-RU" dirty="0"/>
              <a:t> все латинские символы кодируются в </a:t>
            </a:r>
            <a:r>
              <a:rPr lang="ru-RU" dirty="0" smtClean="0"/>
              <a:t>1 </a:t>
            </a:r>
            <a:r>
              <a:rPr lang="ru-RU" dirty="0"/>
              <a:t>байт, так же как и в старой кодировке ASCII. Что примечательно, в случае кодирования только латиницы, даже те программы, которые не понимают Юникод, все равно прочитают то, что закодировано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UTF 8. </a:t>
            </a:r>
            <a:r>
              <a:rPr lang="ru-RU" dirty="0" smtClean="0"/>
              <a:t>   </a:t>
            </a:r>
            <a:r>
              <a:rPr lang="ru-RU" b="1" i="1" dirty="0" smtClean="0"/>
              <a:t>Т.е</a:t>
            </a:r>
            <a:r>
              <a:rPr lang="ru-RU" b="1" i="1" dirty="0"/>
              <a:t>. базовая часть кодировки ASCII перешла в UTF 8.</a:t>
            </a:r>
            <a:r>
              <a:rPr lang="ru-RU" dirty="0"/>
              <a:t> </a:t>
            </a:r>
          </a:p>
          <a:p>
            <a:endParaRPr lang="ru-RU" dirty="0" smtClean="0"/>
          </a:p>
          <a:p>
            <a:r>
              <a:rPr lang="ru-RU" dirty="0"/>
              <a:t>Кириллические же символы в UTF 8 кодируются в 2 байта, </a:t>
            </a:r>
          </a:p>
          <a:p>
            <a:r>
              <a:rPr lang="ru-RU" dirty="0"/>
              <a:t>например грузинские — в </a:t>
            </a:r>
            <a:r>
              <a:rPr lang="ru-RU" dirty="0" smtClean="0"/>
              <a:t>3 </a:t>
            </a:r>
            <a:r>
              <a:rPr lang="ru-RU" dirty="0"/>
              <a:t>байта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178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181" y="1684706"/>
            <a:ext cx="4560339" cy="4865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504" y="692696"/>
            <a:ext cx="8928992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Настройка редактора  </a:t>
            </a:r>
          </a:p>
          <a:p>
            <a:r>
              <a:rPr lang="ru-RU" dirty="0" smtClean="0"/>
              <a:t> </a:t>
            </a:r>
            <a:r>
              <a:rPr lang="ru-RU" sz="2000" dirty="0" smtClean="0">
                <a:solidFill>
                  <a:srgbClr val="FF0000"/>
                </a:solidFill>
              </a:rPr>
              <a:t>Опции –</a:t>
            </a:r>
            <a:r>
              <a:rPr lang="en-US" sz="2000" dirty="0" smtClean="0">
                <a:solidFill>
                  <a:srgbClr val="FF0000"/>
                </a:solidFill>
              </a:rPr>
              <a:t>&gt;</a:t>
            </a:r>
            <a:r>
              <a:rPr lang="ru-RU" sz="2000" dirty="0" smtClean="0">
                <a:solidFill>
                  <a:srgbClr val="FF0000"/>
                </a:solidFill>
              </a:rPr>
              <a:t> Настройки -</a:t>
            </a:r>
            <a:r>
              <a:rPr lang="en-US" sz="2000" dirty="0" smtClean="0">
                <a:solidFill>
                  <a:srgbClr val="FF0000"/>
                </a:solidFill>
              </a:rPr>
              <a:t>&gt; 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вкладка</a:t>
            </a:r>
            <a:r>
              <a:rPr lang="ru-RU" sz="2000" dirty="0" smtClean="0">
                <a:solidFill>
                  <a:srgbClr val="FF0000"/>
                </a:solidFill>
              </a:rPr>
              <a:t> Новый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ru-RU" sz="2000" dirty="0" smtClean="0">
                <a:solidFill>
                  <a:srgbClr val="FF0000"/>
                </a:solidFill>
              </a:rPr>
              <a:t>документ       </a:t>
            </a:r>
            <a:r>
              <a:rPr lang="ru-RU" sz="2000" dirty="0" smtClean="0"/>
              <a:t>Установить</a:t>
            </a:r>
            <a:endParaRPr lang="ru-RU" sz="2000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5868144" y="1369804"/>
            <a:ext cx="1656184" cy="263526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970" y="1724627"/>
            <a:ext cx="4480030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Теперь вновь создаваемые файлы будут иметь кодировку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Utf-8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69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3808" y="124511"/>
            <a:ext cx="345638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Как перекодировать файлы 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620688"/>
            <a:ext cx="8784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Для перекодировки файла в кодировку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utf-8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в меню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Кодировки</a:t>
            </a:r>
          </a:p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выбрать пункт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Преобразовать в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UTF-8 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без метки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BOM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64014"/>
            <a:ext cx="6948483" cy="5373324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 flipH="1">
            <a:off x="5220072" y="1196752"/>
            <a:ext cx="1440160" cy="31683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8568952" cy="2215991"/>
          </a:xfrm>
          <a:prstGeom prst="rect">
            <a:avLst/>
          </a:prstGeom>
          <a:solidFill>
            <a:srgbClr val="92D050">
              <a:alpha val="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Для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HTML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документа  кодировка определяется 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 - для локального файла –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 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в теге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		&lt;meta charset=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utf-8"&gt;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для документа получен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н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ого с сервера -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&gt;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заголовком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Content-Type 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318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512" y="188640"/>
            <a:ext cx="8712968" cy="369332"/>
          </a:xfrm>
          <a:prstGeom prst="rect">
            <a:avLst/>
          </a:prstGeom>
          <a:solidFill>
            <a:srgbClr val="92D050">
              <a:alpha val="14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Использование кодов символов в </a:t>
            </a:r>
            <a:r>
              <a:rPr lang="en-US" dirty="0" smtClean="0"/>
              <a:t>HTML </a:t>
            </a:r>
            <a:r>
              <a:rPr lang="ru-RU" dirty="0" smtClean="0"/>
              <a:t>документе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833544"/>
              </p:ext>
            </p:extLst>
          </p:nvPr>
        </p:nvGraphicFramePr>
        <p:xfrm>
          <a:off x="179512" y="908720"/>
          <a:ext cx="871296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/>
                <a:gridCol w="3456384"/>
                <a:gridCol w="3816424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символ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Десятичное представление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HEX - </a:t>
                      </a:r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представление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0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@</a:t>
                      </a:r>
                      <a:endParaRPr lang="ru-RU" sz="32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&amp;#64;</a:t>
                      </a:r>
                      <a:endParaRPr lang="ru-RU" sz="24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&amp;#x40;</a:t>
                      </a:r>
                      <a:endParaRPr lang="ru-RU" sz="24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102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512" y="188640"/>
            <a:ext cx="8712968" cy="369332"/>
          </a:xfrm>
          <a:prstGeom prst="rect">
            <a:avLst/>
          </a:prstGeom>
          <a:solidFill>
            <a:srgbClr val="92D050">
              <a:alpha val="14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Byte Order Marker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5" y="1320277"/>
            <a:ext cx="6264696" cy="318884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07504" y="620688"/>
            <a:ext cx="8712968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itchFamily="49" charset="0"/>
                <a:cs typeface="Courier New" pitchFamily="49" charset="0"/>
              </a:rPr>
              <a:t>Когда символ закодирован в UTF-16, его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можно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упорядочить двумя разными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способами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'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little-endian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' или '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big-endian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').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5" y="4725144"/>
            <a:ext cx="8856983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В кодировке </a:t>
            </a:r>
            <a:r>
              <a:rPr lang="ru-RU" b="1" dirty="0"/>
              <a:t>UTF-8</a:t>
            </a:r>
            <a:r>
              <a:rPr lang="ru-RU" dirty="0"/>
              <a:t>, наличие </a:t>
            </a:r>
            <a:r>
              <a:rPr lang="ru-RU" b="1" dirty="0"/>
              <a:t>BOM </a:t>
            </a:r>
            <a:r>
              <a:rPr lang="ru-RU" dirty="0"/>
              <a:t>не является существенным, поскольку, в отличие от UTF-16 кодирования, нет альтернативной последовательности </a:t>
            </a:r>
            <a:r>
              <a:rPr lang="ru-RU" dirty="0" smtClean="0"/>
              <a:t>байтов.</a:t>
            </a:r>
            <a:endParaRPr lang="en-US" dirty="0" smtClean="0"/>
          </a:p>
          <a:p>
            <a:r>
              <a:rPr lang="ru-RU" dirty="0" smtClean="0"/>
              <a:t>Однако </a:t>
            </a:r>
            <a:r>
              <a:rPr lang="ru-RU" b="1" dirty="0"/>
              <a:t>BOM </a:t>
            </a:r>
            <a:r>
              <a:rPr lang="ru-RU" dirty="0"/>
              <a:t>могут еще встречаться в тексте закодированном </a:t>
            </a:r>
            <a:r>
              <a:rPr lang="ru-RU" dirty="0" smtClean="0"/>
              <a:t>в</a:t>
            </a:r>
            <a:endParaRPr lang="en-US" dirty="0" smtClean="0"/>
          </a:p>
          <a:p>
            <a:r>
              <a:rPr lang="ru-RU" b="1" dirty="0" smtClean="0"/>
              <a:t>UTF-8</a:t>
            </a:r>
            <a:r>
              <a:rPr lang="ru-RU" dirty="0"/>
              <a:t>, </a:t>
            </a:r>
            <a:r>
              <a:rPr lang="ru-RU" dirty="0" smtClean="0"/>
              <a:t>например когда файл сохранялся в обычном блокноте </a:t>
            </a:r>
            <a:r>
              <a:rPr lang="en-US" dirty="0" smtClean="0"/>
              <a:t>Windows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6554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3171</TotalTime>
  <Words>882</Words>
  <Application>Microsoft Office PowerPoint</Application>
  <PresentationFormat>Экран (4:3)</PresentationFormat>
  <Paragraphs>242</Paragraphs>
  <Slides>20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Тема1</vt:lpstr>
      <vt:lpstr>Двоичный код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roman</cp:lastModifiedBy>
  <cp:revision>508</cp:revision>
  <dcterms:modified xsi:type="dcterms:W3CDTF">2013-07-29T06:47:41Z</dcterms:modified>
</cp:coreProperties>
</file>