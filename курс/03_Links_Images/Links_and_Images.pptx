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3"/>
  </p:notesMasterIdLst>
  <p:sldIdLst>
    <p:sldId id="256" r:id="rId2"/>
    <p:sldId id="300" r:id="rId3"/>
    <p:sldId id="301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296" r:id="rId2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56F2"/>
    <a:srgbClr val="456A1C"/>
    <a:srgbClr val="ABD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A107856-5554-42FB-B03E-39F5DBC370BA}" styleName="Средний стиль 4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1" autoAdjust="0"/>
    <p:restoredTop sz="94514" autoAdjust="0"/>
  </p:normalViewPr>
  <p:slideViewPr>
    <p:cSldViewPr>
      <p:cViewPr varScale="1">
        <p:scale>
          <a:sx n="108" d="100"/>
          <a:sy n="108" d="100"/>
        </p:scale>
        <p:origin x="171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C942D-D737-411D-A0E8-3545A9B627C6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46FDC-1031-4836-92F9-245DF2638E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6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6FDC-1031-4836-92F9-245DF2638E3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8167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6FDC-1031-4836-92F9-245DF2638E3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876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48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/>
          <a:lstStyle>
            <a:lvl1pPr algn="ctr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</a:bodyPr>
          <a:lstStyle>
            <a:lvl1pPr algn="r">
              <a:buNone/>
              <a:defRPr sz="4800" b="1" cap="none" spc="0" baseline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24.01.2022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980728"/>
            <a:ext cx="8784976" cy="3240360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72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Links</a:t>
            </a:r>
            <a:endParaRPr lang="ru-RU" sz="7200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13499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2"/>
          <p:cNvSpPr txBox="1">
            <a:spLocks/>
          </p:cNvSpPr>
          <p:nvPr/>
        </p:nvSpPr>
        <p:spPr>
          <a:xfrm>
            <a:off x="1691680" y="90250"/>
            <a:ext cx="5472608" cy="377435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spcBef>
                <a:spcPct val="0"/>
              </a:spcBef>
              <a:buNone/>
              <a:defRPr kumimoji="0" b="1">
                <a:solidFill>
                  <a:srgbClr val="00206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extLst/>
          </a:lstStyle>
          <a:p>
            <a:r>
              <a:rPr lang="en-US" dirty="0"/>
              <a:t>  </a:t>
            </a:r>
            <a:r>
              <a:rPr lang="ru-RU" dirty="0" err="1"/>
              <a:t>Гипер</a:t>
            </a:r>
            <a:r>
              <a:rPr lang="en-US" dirty="0"/>
              <a:t>c</a:t>
            </a:r>
            <a:r>
              <a:rPr lang="ru-RU" dirty="0" err="1"/>
              <a:t>сылки</a:t>
            </a:r>
            <a:r>
              <a:rPr lang="en-US" dirty="0"/>
              <a:t>  ( hyperlinks )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179512" y="692697"/>
            <a:ext cx="8784976" cy="4712457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323528" y="764704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&lt;!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doctype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html&gt;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3528" y="1124744"/>
            <a:ext cx="1296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&lt;html&gt;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5536" y="4941168"/>
            <a:ext cx="1296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&lt;/html&gt;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5576" y="1516722"/>
            <a:ext cx="1296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&lt;head&gt;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5576" y="2308810"/>
            <a:ext cx="1296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&lt;/head&gt;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5576" y="2596842"/>
            <a:ext cx="1296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&lt;body&gt;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5576" y="4509120"/>
            <a:ext cx="1296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&lt;/body&gt;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19672" y="1876762"/>
            <a:ext cx="3888432" cy="461665"/>
          </a:xfrm>
          <a:prstGeom prst="rect">
            <a:avLst/>
          </a:prstGeom>
          <a:solidFill>
            <a:srgbClr val="FFFF00">
              <a:alpha val="8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&lt;link  </a:t>
            </a:r>
            <a:r>
              <a:rPr lang="en-US" sz="24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2400" b="1" dirty="0">
                <a:solidFill>
                  <a:srgbClr val="FF0000"/>
                </a:solidFill>
                <a:latin typeface="Courier New"/>
                <a:cs typeface="Courier New"/>
              </a:rPr>
              <a:t>"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...</a:t>
            </a:r>
            <a:r>
              <a:rPr lang="en-US" sz="2400" b="1" dirty="0">
                <a:solidFill>
                  <a:srgbClr val="FF0000"/>
                </a:solidFill>
                <a:latin typeface="Courier New"/>
                <a:cs typeface="Courier New"/>
              </a:rPr>
              <a:t>"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  </a:t>
            </a:r>
            <a:endParaRPr lang="ru-RU" sz="24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03648" y="3501008"/>
            <a:ext cx="5544616" cy="461665"/>
          </a:xfrm>
          <a:prstGeom prst="rect">
            <a:avLst/>
          </a:prstGeom>
          <a:solidFill>
            <a:srgbClr val="92D050">
              <a:alpha val="1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&lt;a  </a:t>
            </a:r>
            <a:r>
              <a:rPr lang="en-US" sz="24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2400" b="1" dirty="0">
                <a:solidFill>
                  <a:srgbClr val="C00000"/>
                </a:solidFill>
                <a:latin typeface="Courier New"/>
                <a:cs typeface="Courier New"/>
              </a:rPr>
              <a:t>"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...</a:t>
            </a:r>
            <a:r>
              <a:rPr lang="en-US" sz="2400" b="1" dirty="0">
                <a:solidFill>
                  <a:srgbClr val="C00000"/>
                </a:solidFill>
                <a:latin typeface="Courier New"/>
                <a:cs typeface="Courier New"/>
              </a:rPr>
              <a:t> "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uk-UA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Текст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&lt;/a&gt;  </a:t>
            </a:r>
            <a:endParaRPr lang="ru-RU" sz="24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24" name="Группа 23"/>
          <p:cNvGrpSpPr/>
          <p:nvPr/>
        </p:nvGrpSpPr>
        <p:grpSpPr>
          <a:xfrm>
            <a:off x="3779912" y="940078"/>
            <a:ext cx="4176464" cy="936684"/>
            <a:chOff x="3779912" y="940078"/>
            <a:chExt cx="4176464" cy="936684"/>
          </a:xfrm>
        </p:grpSpPr>
        <p:cxnSp>
          <p:nvCxnSpPr>
            <p:cNvPr id="12" name="Прямая со стрелкой 11"/>
            <p:cNvCxnSpPr>
              <a:stCxn id="9" idx="2"/>
            </p:cNvCxnSpPr>
            <p:nvPr/>
          </p:nvCxnSpPr>
          <p:spPr>
            <a:xfrm flipH="1">
              <a:off x="3779912" y="1309410"/>
              <a:ext cx="3024336" cy="567352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5652120" y="940078"/>
              <a:ext cx="2304256" cy="36933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ru-RU" dirty="0"/>
                <a:t>служебные ссылки</a:t>
              </a:r>
            </a:p>
          </p:txBody>
        </p:sp>
      </p:grpSp>
      <p:grpSp>
        <p:nvGrpSpPr>
          <p:cNvPr id="26" name="Группа 25"/>
          <p:cNvGrpSpPr/>
          <p:nvPr/>
        </p:nvGrpSpPr>
        <p:grpSpPr>
          <a:xfrm>
            <a:off x="3347864" y="4149080"/>
            <a:ext cx="5400600" cy="992143"/>
            <a:chOff x="3203848" y="5398477"/>
            <a:chExt cx="5400600" cy="992143"/>
          </a:xfrm>
        </p:grpSpPr>
        <p:sp>
          <p:nvSpPr>
            <p:cNvPr id="10" name="TextBox 9"/>
            <p:cNvSpPr txBox="1"/>
            <p:nvPr/>
          </p:nvSpPr>
          <p:spPr>
            <a:xfrm>
              <a:off x="5364088" y="6021288"/>
              <a:ext cx="3240360" cy="36933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ru-RU" dirty="0"/>
                <a:t>пользовательские ссылки</a:t>
              </a:r>
            </a:p>
          </p:txBody>
        </p:sp>
        <p:cxnSp>
          <p:nvCxnSpPr>
            <p:cNvPr id="13" name="Прямая со стрелкой 12"/>
            <p:cNvCxnSpPr>
              <a:stCxn id="10" idx="0"/>
            </p:cNvCxnSpPr>
            <p:nvPr/>
          </p:nvCxnSpPr>
          <p:spPr>
            <a:xfrm flipH="1" flipV="1">
              <a:off x="3203848" y="5398477"/>
              <a:ext cx="3780420" cy="62281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38938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Группа 19"/>
          <p:cNvGrpSpPr/>
          <p:nvPr/>
        </p:nvGrpSpPr>
        <p:grpSpPr>
          <a:xfrm>
            <a:off x="179512" y="1340767"/>
            <a:ext cx="8928992" cy="4896545"/>
            <a:chOff x="179512" y="3479937"/>
            <a:chExt cx="8412439" cy="3397394"/>
          </a:xfrm>
        </p:grpSpPr>
        <p:sp>
          <p:nvSpPr>
            <p:cNvPr id="19" name="Прямоугольник 18"/>
            <p:cNvSpPr/>
            <p:nvPr/>
          </p:nvSpPr>
          <p:spPr>
            <a:xfrm>
              <a:off x="179512" y="3479937"/>
              <a:ext cx="8378039" cy="3397394"/>
            </a:xfrm>
            <a:prstGeom prst="rect">
              <a:avLst/>
            </a:prstGeom>
            <a:solidFill>
              <a:srgbClr val="FFC000">
                <a:alpha val="1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17" name="Группа 16"/>
            <p:cNvGrpSpPr/>
            <p:nvPr/>
          </p:nvGrpSpPr>
          <p:grpSpPr>
            <a:xfrm>
              <a:off x="247354" y="4963200"/>
              <a:ext cx="8344597" cy="646519"/>
              <a:chOff x="247354" y="4963200"/>
              <a:chExt cx="8344597" cy="646519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247354" y="5353463"/>
                <a:ext cx="7801859" cy="256256"/>
              </a:xfrm>
              <a:prstGeom prst="rect">
                <a:avLst/>
              </a:prstGeom>
              <a:solidFill>
                <a:srgbClr val="00B0F0">
                  <a:alpha val="13000"/>
                </a:srgbClr>
              </a:solidFill>
              <a:ln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&lt;</a:t>
                </a:r>
                <a:r>
                  <a:rPr lang="ru-RU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имя_тега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b="1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id = 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" </a:t>
                </a:r>
                <a:r>
                  <a:rPr lang="ru-RU" b="1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имя_метки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"&gt;</a:t>
                </a:r>
                <a:r>
                  <a:rPr lang="ru-RU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Глава 2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&lt;/</a:t>
                </a:r>
                <a:r>
                  <a:rPr lang="ru-RU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имя_тега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&gt;</a:t>
                </a:r>
                <a:endParaRPr lang="ru-RU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260703" y="4963200"/>
                <a:ext cx="8331248" cy="238704"/>
              </a:xfrm>
              <a:prstGeom prst="rect">
                <a:avLst/>
              </a:prstGeom>
              <a:solidFill>
                <a:srgbClr val="92D050">
                  <a:alpha val="30000"/>
                </a:srgb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ru-RU"/>
                </a:defPPr>
                <a:lvl1pPr algn="ctr">
                  <a:defRPr b="1">
                    <a:latin typeface="Courier New" pitchFamily="49" charset="0"/>
                    <a:cs typeface="Courier New" pitchFamily="49" charset="0"/>
                  </a:defRPr>
                </a:lvl1pPr>
              </a:lstStyle>
              <a:p>
                <a:r>
                  <a:rPr lang="ru-RU" dirty="0"/>
                  <a:t>Перед участком текста на который надо ссылаться</a:t>
                </a:r>
              </a:p>
            </p:txBody>
          </p:sp>
        </p:grpSp>
        <p:grpSp>
          <p:nvGrpSpPr>
            <p:cNvPr id="18" name="Группа 17"/>
            <p:cNvGrpSpPr/>
            <p:nvPr/>
          </p:nvGrpSpPr>
          <p:grpSpPr>
            <a:xfrm>
              <a:off x="179512" y="3487422"/>
              <a:ext cx="8378039" cy="544196"/>
              <a:chOff x="179512" y="3487422"/>
              <a:chExt cx="8378039" cy="544196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189806" y="3775363"/>
                <a:ext cx="6148600" cy="256255"/>
              </a:xfrm>
              <a:prstGeom prst="rect">
                <a:avLst/>
              </a:prstGeom>
              <a:solidFill>
                <a:srgbClr val="00B0F0">
                  <a:alpha val="12000"/>
                </a:srgb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&lt;a  </a:t>
                </a:r>
                <a:r>
                  <a:rPr lang="en-US" b="1" dirty="0" err="1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href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"</a:t>
                </a:r>
                <a:r>
                  <a:rPr 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#</a:t>
                </a:r>
                <a:r>
                  <a:rPr lang="ru-RU" b="1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имя_метки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"&gt;</a:t>
                </a:r>
                <a:r>
                  <a:rPr lang="ru-RU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Перейти </a:t>
                </a:r>
                <a:r>
                  <a:rPr lang="uk-UA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к</a:t>
                </a:r>
                <a:r>
                  <a:rPr lang="ru-RU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главе 2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&lt;/a&gt;</a:t>
                </a:r>
                <a:endParaRPr lang="ru-RU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79512" y="3487422"/>
                <a:ext cx="8378039" cy="252542"/>
              </a:xfrm>
              <a:prstGeom prst="rect">
                <a:avLst/>
              </a:prstGeom>
              <a:solidFill>
                <a:srgbClr val="92D050">
                  <a:alpha val="30000"/>
                </a:srgb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b="1" dirty="0">
                    <a:latin typeface="Courier New" pitchFamily="49" charset="0"/>
                    <a:cs typeface="Courier New" pitchFamily="49" charset="0"/>
                  </a:rPr>
                  <a:t>В оглавлении перечисляем ссылки на нужные части текста</a:t>
                </a: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251520" y="540578"/>
            <a:ext cx="864096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1.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Внутренние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ссылки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-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предназначены для навигации по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тексту 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одной страницы </a:t>
            </a:r>
          </a:p>
        </p:txBody>
      </p:sp>
      <p:cxnSp>
        <p:nvCxnSpPr>
          <p:cNvPr id="5" name="Прямая со стрелкой 4"/>
          <p:cNvCxnSpPr/>
          <p:nvPr/>
        </p:nvCxnSpPr>
        <p:spPr>
          <a:xfrm flipH="1" flipV="1">
            <a:off x="2267744" y="2142149"/>
            <a:ext cx="648072" cy="2006931"/>
          </a:xfrm>
          <a:prstGeom prst="straightConnector1">
            <a:avLst/>
          </a:prstGeom>
          <a:ln w="285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6352428" y="41849"/>
            <a:ext cx="2528256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link_anchors.html</a:t>
            </a:r>
          </a:p>
        </p:txBody>
      </p:sp>
    </p:spTree>
    <p:extLst>
      <p:ext uri="{BB962C8B-B14F-4D97-AF65-F5344CB8AC3E}">
        <p14:creationId xmlns:p14="http://schemas.microsoft.com/office/powerpoint/2010/main" val="2994398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2199" y="1844824"/>
            <a:ext cx="8640960" cy="369332"/>
          </a:xfrm>
          <a:prstGeom prst="rect">
            <a:avLst/>
          </a:prstGeom>
          <a:solidFill>
            <a:srgbClr val="FFC000">
              <a:alpha val="19000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&lt;a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catalog.html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"&gt;</a:t>
            </a:r>
            <a:r>
              <a:rPr lang="ru-RU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Перейти в каталог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&lt;/a&gt;</a:t>
            </a:r>
            <a:endParaRPr lang="ru-RU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8012" y="548680"/>
            <a:ext cx="90725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b="1" dirty="0"/>
              <a:t>2.</a:t>
            </a:r>
            <a:r>
              <a:rPr lang="ru-RU" b="1" dirty="0">
                <a:solidFill>
                  <a:srgbClr val="C00000"/>
                </a:solidFill>
              </a:rPr>
              <a:t>Внешние ссылки</a:t>
            </a:r>
            <a:r>
              <a:rPr lang="ru-RU" b="1" dirty="0"/>
              <a:t> - предназначены для навигации между страницами сайта</a:t>
            </a:r>
            <a:r>
              <a:rPr lang="en-US" b="1" dirty="0"/>
              <a:t> </a:t>
            </a:r>
            <a:r>
              <a:rPr lang="ru-RU" b="1" dirty="0"/>
              <a:t>и для перехода на другие  </a:t>
            </a:r>
            <a:r>
              <a:rPr lang="en-US" b="1" dirty="0"/>
              <a:t>web-</a:t>
            </a:r>
            <a:r>
              <a:rPr lang="ru-RU" b="1" dirty="0"/>
              <a:t>сайты</a:t>
            </a:r>
          </a:p>
        </p:txBody>
      </p:sp>
      <p:grpSp>
        <p:nvGrpSpPr>
          <p:cNvPr id="7" name="Группа 6"/>
          <p:cNvGrpSpPr/>
          <p:nvPr/>
        </p:nvGrpSpPr>
        <p:grpSpPr>
          <a:xfrm>
            <a:off x="378689" y="3646374"/>
            <a:ext cx="5613808" cy="2190248"/>
            <a:chOff x="539552" y="2835032"/>
            <a:chExt cx="5613808" cy="2190248"/>
          </a:xfrm>
        </p:grpSpPr>
        <p:pic>
          <p:nvPicPr>
            <p:cNvPr id="6" name="Рисунок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552" y="3284984"/>
              <a:ext cx="5474947" cy="1740296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2408944" y="2835032"/>
              <a:ext cx="3744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rgbClr val="FF0000"/>
                  </a:solidFill>
                </a:rPr>
                <a:t>Вид ссылки в браузере</a:t>
              </a:r>
            </a:p>
          </p:txBody>
        </p:sp>
      </p:grpSp>
      <p:cxnSp>
        <p:nvCxnSpPr>
          <p:cNvPr id="12" name="Прямая со стрелкой 11"/>
          <p:cNvCxnSpPr/>
          <p:nvPr/>
        </p:nvCxnSpPr>
        <p:spPr>
          <a:xfrm flipH="1">
            <a:off x="3779912" y="2163616"/>
            <a:ext cx="2879232" cy="280285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6352428" y="41849"/>
            <a:ext cx="2528256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link_anchors.html</a:t>
            </a:r>
          </a:p>
        </p:txBody>
      </p:sp>
    </p:spTree>
    <p:extLst>
      <p:ext uri="{BB962C8B-B14F-4D97-AF65-F5344CB8AC3E}">
        <p14:creationId xmlns:p14="http://schemas.microsoft.com/office/powerpoint/2010/main" val="2191132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95736" y="136087"/>
            <a:ext cx="4392488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b="1">
                <a:solidFill>
                  <a:srgbClr val="00206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/>
              <a:t>   Лабораторная    работа  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908720"/>
            <a:ext cx="8784976" cy="1200329"/>
          </a:xfrm>
          <a:prstGeom prst="rect">
            <a:avLst/>
          </a:prstGeom>
          <a:solidFill>
            <a:srgbClr val="92D050">
              <a:alpha val="15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В каталоге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Lab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находится файл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index.html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Текст файла разбит на разделы. 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Задача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: 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сделать с помощью   ссылок-якорей  навигацию по параграфам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23728" y="2539062"/>
            <a:ext cx="4464496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b="1">
                <a:solidFill>
                  <a:srgbClr val="00206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/>
              <a:t>   Лабораторная    работа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120" y="3212976"/>
            <a:ext cx="8928992" cy="1200329"/>
          </a:xfrm>
          <a:prstGeom prst="rect">
            <a:avLst/>
          </a:prstGeom>
          <a:solidFill>
            <a:srgbClr val="92D050">
              <a:alpha val="15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В каталоге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Lab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_2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находится 4 файла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index.html,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one.html, two.html, three.html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Задача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: 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сделать с помощью гиперссылок  между собой все страницы</a:t>
            </a:r>
          </a:p>
        </p:txBody>
      </p:sp>
    </p:spTree>
    <p:extLst>
      <p:ext uri="{BB962C8B-B14F-4D97-AF65-F5344CB8AC3E}">
        <p14:creationId xmlns:p14="http://schemas.microsoft.com/office/powerpoint/2010/main" val="627264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7504" y="116632"/>
            <a:ext cx="8784976" cy="2339102"/>
          </a:xfrm>
          <a:prstGeom prst="rect">
            <a:avLst/>
          </a:prstGeom>
          <a:solidFill>
            <a:srgbClr val="FFFF00">
              <a:alpha val="5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По умолчанию при клике на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гипер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-ссылке  новая  страница открывается   в этом же окне. </a:t>
            </a: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Для того чтобы   новую  страницу открывать   в  новом окне надо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указать</a:t>
            </a: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атрибут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r>
              <a:rPr lang="ru-RU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_blank</a:t>
            </a:r>
            <a:r>
              <a:rPr lang="ru-RU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по умолчанию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_self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&lt;a 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u-RU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one.html</a:t>
            </a:r>
            <a:r>
              <a:rPr lang="ru-RU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r>
              <a:rPr lang="ru-RU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_blank</a:t>
            </a:r>
            <a:r>
              <a:rPr lang="ru-RU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Главная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&lt;/a&gt;</a:t>
            </a:r>
            <a:endParaRPr lang="ru-RU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157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3508" y="3284984"/>
            <a:ext cx="8820980" cy="1800200"/>
          </a:xfrm>
          <a:prstGeom prst="rect">
            <a:avLst/>
          </a:prstGeom>
          <a:solidFill>
            <a:srgbClr val="00B0F0">
              <a:alpha val="7000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sz="1600" b="1" dirty="0">
                <a:latin typeface="Courier New" pitchFamily="49" charset="0"/>
                <a:cs typeface="Courier New" pitchFamily="49" charset="0"/>
              </a:rPr>
              <a:t>Абсолютный адрес 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– это адрес с указанием протокола, узла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 пути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к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файлу 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algn="ctr"/>
            <a:r>
              <a:rPr lang="ru-RU" sz="1600" dirty="0">
                <a:latin typeface="Courier New" pitchFamily="49" charset="0"/>
                <a:cs typeface="Courier New" pitchFamily="49" charset="0"/>
              </a:rPr>
              <a:t>Они нужны для того чтобы ссылаться на документы которые находятся вне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сайта</a:t>
            </a:r>
          </a:p>
          <a:p>
            <a:pPr algn="ctr"/>
            <a:endParaRPr lang="ru-RU" sz="1600" dirty="0">
              <a:latin typeface="Courier New" pitchFamily="49" charset="0"/>
              <a:cs typeface="Courier New" pitchFamily="49" charset="0"/>
            </a:endParaRPr>
          </a:p>
          <a:p>
            <a:pPr algn="ctr"/>
            <a:r>
              <a:rPr lang="en-US" sz="2800" b="1" dirty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http://www.mysite.ru/path/file.html</a:t>
            </a:r>
            <a:endParaRPr lang="ru-RU" sz="2800" b="1" dirty="0">
              <a:solidFill>
                <a:schemeClr val="accent3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43508" y="620688"/>
            <a:ext cx="8748972" cy="2304256"/>
          </a:xfrm>
          <a:prstGeom prst="rect">
            <a:avLst/>
          </a:prstGeom>
          <a:solidFill>
            <a:srgbClr val="92D050">
              <a:alpha val="11000"/>
            </a:srgbClr>
          </a:solidFill>
          <a:ln w="127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sz="1600" b="1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Относительные адреса URL </a:t>
            </a:r>
            <a:r>
              <a:rPr lang="en-US" sz="1600" b="1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- </a:t>
            </a:r>
            <a:r>
              <a:rPr lang="ru-RU" sz="1600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не содержат 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протокола, имя сервера и для</a:t>
            </a:r>
            <a:r>
              <a:rPr lang="ru-RU" sz="1600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 них браузер использует 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протокол, имя  сервера </a:t>
            </a:r>
            <a:r>
              <a:rPr lang="ru-RU" sz="1600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текущей страницы. </a:t>
            </a:r>
          </a:p>
          <a:p>
            <a:r>
              <a:rPr lang="ru-RU" sz="1600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                                </a:t>
            </a:r>
          </a:p>
          <a:p>
            <a:r>
              <a:rPr lang="en-US" sz="1600" b="1" dirty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200" b="1" dirty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../path/file.html</a:t>
            </a:r>
          </a:p>
          <a:p>
            <a:endParaRPr lang="ru-RU" sz="1600" dirty="0">
              <a:solidFill>
                <a:schemeClr val="dk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1600" dirty="0">
                <a:latin typeface="Courier New" pitchFamily="49" charset="0"/>
                <a:cs typeface="Courier New" pitchFamily="49" charset="0"/>
              </a:rPr>
              <a:t>П</a:t>
            </a:r>
            <a:r>
              <a:rPr lang="ru-RU" sz="1600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очему такие адреса называются относительными — потому что они  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600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указывают на расположение  документа сайта относительно текущей страницы.</a:t>
            </a:r>
          </a:p>
          <a:p>
            <a:endParaRPr lang="ru-RU" sz="1600" dirty="0">
              <a:latin typeface="Courier New" pitchFamily="49" charset="0"/>
              <a:cs typeface="Courier New" pitchFamily="49" charset="0"/>
            </a:endParaRPr>
          </a:p>
          <a:p>
            <a:endParaRPr lang="ru-RU" sz="1600" dirty="0">
              <a:latin typeface="Courier New" pitchFamily="49" charset="0"/>
              <a:cs typeface="Courier New" pitchFamily="49" charset="0"/>
            </a:endParaRPr>
          </a:p>
          <a:p>
            <a:endParaRPr lang="ru-RU" sz="1600" dirty="0">
              <a:solidFill>
                <a:schemeClr val="dk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03648" y="71336"/>
            <a:ext cx="70567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/>
              <a:t>Адресация документов(файлов)  на  </a:t>
            </a:r>
            <a:r>
              <a:rPr lang="en-US" dirty="0"/>
              <a:t>html</a:t>
            </a:r>
            <a:r>
              <a:rPr lang="ru-RU" dirty="0"/>
              <a:t> </a:t>
            </a:r>
            <a:r>
              <a:rPr lang="en-US" dirty="0"/>
              <a:t> </a:t>
            </a:r>
            <a:r>
              <a:rPr lang="ru-RU" dirty="0"/>
              <a:t>странице</a:t>
            </a:r>
          </a:p>
        </p:txBody>
      </p:sp>
    </p:spTree>
    <p:extLst>
      <p:ext uri="{BB962C8B-B14F-4D97-AF65-F5344CB8AC3E}">
        <p14:creationId xmlns:p14="http://schemas.microsoft.com/office/powerpoint/2010/main" val="2396316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563888" y="620688"/>
            <a:ext cx="5472608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Courier New" pitchFamily="49" charset="0"/>
                <a:cs typeface="Courier New" pitchFamily="49" charset="0"/>
              </a:rPr>
              <a:t>Текущим является файл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index.html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dirty="0">
                <a:latin typeface="Courier New" pitchFamily="49" charset="0"/>
                <a:cs typeface="Courier New" pitchFamily="49" charset="0"/>
              </a:rPr>
              <a:t>Чтобы сделать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гипер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-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с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c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ылку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на страницу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catalog.html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относительной  адресацией</a:t>
            </a:r>
          </a:p>
          <a:p>
            <a:r>
              <a:rPr lang="ru-RU" dirty="0">
                <a:latin typeface="Courier New" pitchFamily="49" charset="0"/>
                <a:cs typeface="Courier New" pitchFamily="49" charset="0"/>
              </a:rPr>
              <a:t>можно записать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59486" y="2284129"/>
            <a:ext cx="547700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&lt;a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"catalog.html"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&gt;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Перейти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&lt;/a&gt;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4005064"/>
            <a:ext cx="8352928" cy="1200329"/>
          </a:xfrm>
          <a:prstGeom prst="rect">
            <a:avLst/>
          </a:prstGeom>
          <a:solidFill>
            <a:srgbClr val="92D050">
              <a:alpha val="13000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При абсолютной адресации </a:t>
            </a:r>
            <a:endParaRPr lang="en-US" dirty="0">
              <a:solidFill>
                <a:srgbClr val="FF0000"/>
              </a:solidFill>
            </a:endParaRPr>
          </a:p>
          <a:p>
            <a:endParaRPr lang="ru-RU" dirty="0"/>
          </a:p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&lt;a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"http://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имя_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web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_узла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/catalog.html"&gt;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Перейти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&lt;/a&gt;</a:t>
            </a:r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323528" y="44624"/>
            <a:ext cx="87129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>
                <a:solidFill>
                  <a:schemeClr val="accent2"/>
                </a:solidFill>
              </a:rPr>
              <a:t>Вариант 1 </a:t>
            </a:r>
            <a:r>
              <a:rPr lang="ru-RU" dirty="0"/>
              <a:t>– оба документа находятся в одном и том же каталоге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47863"/>
            <a:ext cx="716363" cy="716363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79512" y="620688"/>
            <a:ext cx="3228796" cy="288032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3" name="Группа 12"/>
          <p:cNvGrpSpPr/>
          <p:nvPr/>
        </p:nvGrpSpPr>
        <p:grpSpPr>
          <a:xfrm>
            <a:off x="323528" y="611396"/>
            <a:ext cx="2370482" cy="1737523"/>
            <a:chOff x="683568" y="-85083"/>
            <a:chExt cx="2370482" cy="1737523"/>
          </a:xfrm>
        </p:grpSpPr>
        <p:pic>
          <p:nvPicPr>
            <p:cNvPr id="10" name="Рисунок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3688" y="764704"/>
              <a:ext cx="710189" cy="887736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817814" y="397369"/>
              <a:ext cx="1236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index.html</a:t>
              </a:r>
              <a:endParaRPr lang="ru-RU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83568" y="-85083"/>
              <a:ext cx="11320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site.com</a:t>
              </a:r>
              <a:endParaRPr lang="ru-RU" dirty="0"/>
            </a:p>
          </p:txBody>
        </p:sp>
      </p:grpSp>
      <p:grpSp>
        <p:nvGrpSpPr>
          <p:cNvPr id="14" name="Группа 13"/>
          <p:cNvGrpSpPr/>
          <p:nvPr/>
        </p:nvGrpSpPr>
        <p:grpSpPr>
          <a:xfrm>
            <a:off x="1343204" y="2284629"/>
            <a:ext cx="1428596" cy="1155522"/>
            <a:chOff x="1703244" y="1588150"/>
            <a:chExt cx="1428596" cy="1155522"/>
          </a:xfrm>
        </p:grpSpPr>
        <p:pic>
          <p:nvPicPr>
            <p:cNvPr id="11" name="Рисунок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3688" y="1855936"/>
              <a:ext cx="710189" cy="887736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703244" y="1588150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catalog.html</a:t>
              </a:r>
              <a:endParaRPr lang="ru-RU" dirty="0"/>
            </a:p>
          </p:txBody>
        </p:sp>
      </p:grpSp>
      <p:cxnSp>
        <p:nvCxnSpPr>
          <p:cNvPr id="16" name="Прямая соединительная линия 15"/>
          <p:cNvCxnSpPr/>
          <p:nvPr/>
        </p:nvCxnSpPr>
        <p:spPr>
          <a:xfrm flipV="1">
            <a:off x="923592" y="1220206"/>
            <a:ext cx="27834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1203035" y="1220206"/>
            <a:ext cx="0" cy="177607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 flipV="1">
            <a:off x="1194353" y="2996283"/>
            <a:ext cx="27834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 flipV="1">
            <a:off x="1187624" y="1855975"/>
            <a:ext cx="27834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Выгнутая вправо стрелка 32"/>
          <p:cNvSpPr/>
          <p:nvPr/>
        </p:nvSpPr>
        <p:spPr>
          <a:xfrm>
            <a:off x="2075892" y="1783967"/>
            <a:ext cx="839924" cy="1429009"/>
          </a:xfrm>
          <a:prstGeom prst="curvedLeftArrow">
            <a:avLst/>
          </a:prstGeom>
          <a:solidFill>
            <a:srgbClr val="0070C0">
              <a:alpha val="68000"/>
            </a:srgb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29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Прямая соединительная линия 23"/>
          <p:cNvCxnSpPr/>
          <p:nvPr/>
        </p:nvCxnSpPr>
        <p:spPr>
          <a:xfrm flipV="1">
            <a:off x="2113837" y="3150257"/>
            <a:ext cx="278342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36014" y="861986"/>
            <a:ext cx="4248472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Courier New" pitchFamily="49" charset="0"/>
                <a:cs typeface="Courier New" pitchFamily="49" charset="0"/>
              </a:rPr>
              <a:t>Текущим является файл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index.html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dirty="0">
                <a:latin typeface="Courier New" pitchFamily="49" charset="0"/>
                <a:cs typeface="Courier New" pitchFamily="49" charset="0"/>
              </a:rPr>
              <a:t>Чтобы сделать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гипер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-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с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c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ылку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на страницу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gallery.html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dirty="0">
                <a:latin typeface="Courier New" pitchFamily="49" charset="0"/>
                <a:cs typeface="Courier New" pitchFamily="49" charset="0"/>
              </a:rPr>
              <a:t>который находится в каталоге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photos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относительной  адресацией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можно записать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0932" y="4452085"/>
            <a:ext cx="750942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&lt;a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"photos/gallety.html"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&gt;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Перейти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в галерею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&lt;/a&gt;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1932" y="5013176"/>
            <a:ext cx="8752556" cy="1200329"/>
          </a:xfrm>
          <a:prstGeom prst="rect">
            <a:avLst/>
          </a:prstGeom>
          <a:solidFill>
            <a:srgbClr val="92D050">
              <a:alpha val="13000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При абсолютной адресации </a:t>
            </a:r>
            <a:endParaRPr lang="en-US" dirty="0">
              <a:solidFill>
                <a:srgbClr val="FF0000"/>
              </a:solidFill>
            </a:endParaRPr>
          </a:p>
          <a:p>
            <a:endParaRPr lang="ru-RU" dirty="0"/>
          </a:p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&lt;a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en-US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http://</a:t>
            </a:r>
            <a:r>
              <a:rPr lang="ru-RU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имя_</a:t>
            </a:r>
            <a:r>
              <a:rPr lang="en-US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web</a:t>
            </a:r>
            <a:r>
              <a:rPr lang="ru-RU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_узла</a:t>
            </a:r>
            <a:r>
              <a:rPr lang="en-US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/photos/gallery.html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"&gt;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Перейти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&lt;/a&gt;</a:t>
            </a:r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94238" y="53068"/>
            <a:ext cx="895552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Вариант </a:t>
            </a:r>
            <a:r>
              <a:rPr lang="en-US" dirty="0"/>
              <a:t>2</a:t>
            </a:r>
            <a:r>
              <a:rPr lang="ru-RU" dirty="0"/>
              <a:t> </a:t>
            </a:r>
            <a:r>
              <a:rPr lang="ru-RU" dirty="0">
                <a:solidFill>
                  <a:schemeClr val="tx1"/>
                </a:solidFill>
              </a:rPr>
              <a:t>– документ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который  нужно открыть находится в дочернем  каталоге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073179"/>
            <a:ext cx="716363" cy="716363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79512" y="851685"/>
            <a:ext cx="4392488" cy="3456384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3" name="Группа 12"/>
          <p:cNvGrpSpPr/>
          <p:nvPr/>
        </p:nvGrpSpPr>
        <p:grpSpPr>
          <a:xfrm>
            <a:off x="323528" y="836712"/>
            <a:ext cx="2370482" cy="1737523"/>
            <a:chOff x="683568" y="-85083"/>
            <a:chExt cx="2370482" cy="1737523"/>
          </a:xfrm>
        </p:grpSpPr>
        <p:pic>
          <p:nvPicPr>
            <p:cNvPr id="10" name="Рисунок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3688" y="764704"/>
              <a:ext cx="710189" cy="887736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817814" y="397369"/>
              <a:ext cx="1236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index.html</a:t>
              </a:r>
              <a:endParaRPr lang="ru-RU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83568" y="-85083"/>
              <a:ext cx="11320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site.com</a:t>
              </a:r>
              <a:endParaRPr lang="ru-RU" dirty="0"/>
            </a:p>
          </p:txBody>
        </p:sp>
      </p:grpSp>
      <p:grpSp>
        <p:nvGrpSpPr>
          <p:cNvPr id="14" name="Группа 13"/>
          <p:cNvGrpSpPr/>
          <p:nvPr/>
        </p:nvGrpSpPr>
        <p:grpSpPr>
          <a:xfrm>
            <a:off x="2339752" y="3074858"/>
            <a:ext cx="1347357" cy="1155522"/>
            <a:chOff x="1559228" y="1588150"/>
            <a:chExt cx="1347357" cy="1155522"/>
          </a:xfrm>
        </p:grpSpPr>
        <p:pic>
          <p:nvPicPr>
            <p:cNvPr id="11" name="Рисунок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3688" y="1855936"/>
              <a:ext cx="710189" cy="887736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559228" y="1588150"/>
              <a:ext cx="13473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gallery.html</a:t>
              </a:r>
              <a:endParaRPr lang="ru-RU" dirty="0"/>
            </a:p>
          </p:txBody>
        </p:sp>
      </p:grpSp>
      <p:cxnSp>
        <p:nvCxnSpPr>
          <p:cNvPr id="16" name="Прямая соединительная линия 15"/>
          <p:cNvCxnSpPr/>
          <p:nvPr/>
        </p:nvCxnSpPr>
        <p:spPr>
          <a:xfrm flipV="1">
            <a:off x="923592" y="1445522"/>
            <a:ext cx="27834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1203035" y="1445522"/>
            <a:ext cx="0" cy="17047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 flipV="1">
            <a:off x="1203035" y="3150259"/>
            <a:ext cx="27834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 flipV="1">
            <a:off x="1187624" y="2081291"/>
            <a:ext cx="27834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Выгнутая вправо стрелка 32"/>
          <p:cNvSpPr/>
          <p:nvPr/>
        </p:nvSpPr>
        <p:spPr>
          <a:xfrm rot="19813719">
            <a:off x="2552921" y="1392598"/>
            <a:ext cx="1772719" cy="2489982"/>
          </a:xfrm>
          <a:prstGeom prst="curvedLeftArrow">
            <a:avLst>
              <a:gd name="adj1" fmla="val 7878"/>
              <a:gd name="adj2" fmla="val 25781"/>
              <a:gd name="adj3" fmla="val 31738"/>
            </a:avLst>
          </a:prstGeom>
          <a:solidFill>
            <a:srgbClr val="0070C0">
              <a:alpha val="68000"/>
            </a:srgb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695" y="2766502"/>
            <a:ext cx="716363" cy="71636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81377" y="253819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photos</a:t>
            </a:r>
            <a:endParaRPr lang="ru-RU" dirty="0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>
            <a:off x="2393280" y="3150257"/>
            <a:ext cx="0" cy="6362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>
            <a:off x="2388676" y="3792294"/>
            <a:ext cx="20633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2397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5494" y="6021288"/>
            <a:ext cx="900100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&lt;a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"phones/android/price1.html"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Посмотреть цены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&lt;/a&gt;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3000" y="136780"/>
            <a:ext cx="874948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Вариант </a:t>
            </a:r>
            <a:r>
              <a:rPr lang="en-US" dirty="0"/>
              <a:t>2</a:t>
            </a:r>
            <a:r>
              <a:rPr lang="ru-RU" dirty="0"/>
              <a:t> </a:t>
            </a:r>
            <a:r>
              <a:rPr lang="ru-RU" dirty="0">
                <a:solidFill>
                  <a:schemeClr val="tx1"/>
                </a:solidFill>
              </a:rPr>
              <a:t>– документ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который  нужно открыть находится в дочернем  каталоге</a:t>
            </a:r>
          </a:p>
        </p:txBody>
      </p:sp>
      <p:grpSp>
        <p:nvGrpSpPr>
          <p:cNvPr id="2" name="Группа 1"/>
          <p:cNvGrpSpPr/>
          <p:nvPr/>
        </p:nvGrpSpPr>
        <p:grpSpPr>
          <a:xfrm>
            <a:off x="179512" y="980728"/>
            <a:ext cx="5688632" cy="4761820"/>
            <a:chOff x="179512" y="611396"/>
            <a:chExt cx="5688632" cy="4761820"/>
          </a:xfrm>
        </p:grpSpPr>
        <p:cxnSp>
          <p:nvCxnSpPr>
            <p:cNvPr id="24" name="Прямая соединительная линия 23"/>
            <p:cNvCxnSpPr/>
            <p:nvPr/>
          </p:nvCxnSpPr>
          <p:spPr>
            <a:xfrm flipV="1">
              <a:off x="2123728" y="2924941"/>
              <a:ext cx="278342" cy="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Рисунок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1520" y="847863"/>
              <a:ext cx="716363" cy="716363"/>
            </a:xfrm>
            <a:prstGeom prst="rect">
              <a:avLst/>
            </a:prstGeom>
          </p:spPr>
        </p:pic>
        <p:sp>
          <p:nvSpPr>
            <p:cNvPr id="3" name="Прямоугольник 2"/>
            <p:cNvSpPr/>
            <p:nvPr/>
          </p:nvSpPr>
          <p:spPr>
            <a:xfrm>
              <a:off x="179512" y="620688"/>
              <a:ext cx="5688632" cy="4752528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3" name="Группа 12"/>
            <p:cNvGrpSpPr/>
            <p:nvPr/>
          </p:nvGrpSpPr>
          <p:grpSpPr>
            <a:xfrm>
              <a:off x="323528" y="611396"/>
              <a:ext cx="2370482" cy="1737523"/>
              <a:chOff x="683568" y="-85083"/>
              <a:chExt cx="2370482" cy="1737523"/>
            </a:xfrm>
          </p:grpSpPr>
          <p:pic>
            <p:nvPicPr>
              <p:cNvPr id="10" name="Рисунок 9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63688" y="764704"/>
                <a:ext cx="710189" cy="887736"/>
              </a:xfrm>
              <a:prstGeom prst="rect">
                <a:avLst/>
              </a:prstGeom>
            </p:spPr>
          </p:pic>
          <p:sp>
            <p:nvSpPr>
              <p:cNvPr id="5" name="TextBox 4"/>
              <p:cNvSpPr txBox="1"/>
              <p:nvPr/>
            </p:nvSpPr>
            <p:spPr>
              <a:xfrm>
                <a:off x="1817814" y="397369"/>
                <a:ext cx="12362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index.html</a:t>
                </a:r>
                <a:endParaRPr lang="ru-RU" dirty="0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683568" y="-85083"/>
                <a:ext cx="11320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site.com</a:t>
                </a:r>
                <a:endParaRPr lang="ru-RU" dirty="0"/>
              </a:p>
            </p:txBody>
          </p:sp>
        </p:grpSp>
        <p:grpSp>
          <p:nvGrpSpPr>
            <p:cNvPr id="14" name="Группа 13"/>
            <p:cNvGrpSpPr/>
            <p:nvPr/>
          </p:nvGrpSpPr>
          <p:grpSpPr>
            <a:xfrm>
              <a:off x="4338940" y="2852936"/>
              <a:ext cx="1313180" cy="1155522"/>
              <a:chOff x="1758216" y="1588150"/>
              <a:chExt cx="1313180" cy="1155522"/>
            </a:xfrm>
          </p:grpSpPr>
          <p:pic>
            <p:nvPicPr>
              <p:cNvPr id="11" name="Рисунок 10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63688" y="1855936"/>
                <a:ext cx="710189" cy="887736"/>
              </a:xfrm>
              <a:prstGeom prst="rect">
                <a:avLst/>
              </a:prstGeom>
            </p:spPr>
          </p:pic>
          <p:sp>
            <p:nvSpPr>
              <p:cNvPr id="12" name="TextBox 11"/>
              <p:cNvSpPr txBox="1"/>
              <p:nvPr/>
            </p:nvSpPr>
            <p:spPr>
              <a:xfrm>
                <a:off x="1758216" y="1588150"/>
                <a:ext cx="13131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price1.html</a:t>
                </a:r>
                <a:endParaRPr lang="ru-RU" dirty="0"/>
              </a:p>
            </p:txBody>
          </p:sp>
        </p:grpSp>
        <p:cxnSp>
          <p:nvCxnSpPr>
            <p:cNvPr id="16" name="Прямая соединительная линия 15"/>
            <p:cNvCxnSpPr/>
            <p:nvPr/>
          </p:nvCxnSpPr>
          <p:spPr>
            <a:xfrm flipV="1">
              <a:off x="923592" y="1220206"/>
              <a:ext cx="278342" cy="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/>
            <p:cNvCxnSpPr/>
            <p:nvPr/>
          </p:nvCxnSpPr>
          <p:spPr>
            <a:xfrm>
              <a:off x="1203035" y="1220206"/>
              <a:ext cx="0" cy="1704738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единительная линия 27"/>
            <p:cNvCxnSpPr/>
            <p:nvPr/>
          </p:nvCxnSpPr>
          <p:spPr>
            <a:xfrm flipV="1">
              <a:off x="1203035" y="2924943"/>
              <a:ext cx="278342" cy="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/>
            <p:nvPr/>
          </p:nvCxnSpPr>
          <p:spPr>
            <a:xfrm flipV="1">
              <a:off x="1187624" y="1855975"/>
              <a:ext cx="278342" cy="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" name="Рисунок 1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2695" y="2541186"/>
              <a:ext cx="716363" cy="716363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1481377" y="2312876"/>
              <a:ext cx="9412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phones</a:t>
              </a:r>
              <a:endParaRPr lang="ru-RU" dirty="0"/>
            </a:p>
          </p:txBody>
        </p:sp>
        <p:cxnSp>
          <p:nvCxnSpPr>
            <p:cNvPr id="25" name="Прямая соединительная линия 24"/>
            <p:cNvCxnSpPr/>
            <p:nvPr/>
          </p:nvCxnSpPr>
          <p:spPr>
            <a:xfrm>
              <a:off x="2393280" y="2924941"/>
              <a:ext cx="0" cy="209009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/>
            <p:nvPr/>
          </p:nvCxnSpPr>
          <p:spPr>
            <a:xfrm>
              <a:off x="2388676" y="3566978"/>
              <a:ext cx="206334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Рисунок 2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5776" y="3216693"/>
              <a:ext cx="716363" cy="716363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2550597" y="3059668"/>
              <a:ext cx="954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android</a:t>
              </a:r>
              <a:endParaRPr lang="ru-RU" dirty="0"/>
            </a:p>
          </p:txBody>
        </p:sp>
        <p:pic>
          <p:nvPicPr>
            <p:cNvPr id="31" name="Рисунок 3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0955" y="3936773"/>
              <a:ext cx="716363" cy="716363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2555776" y="3779748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iPod</a:t>
              </a:r>
              <a:endParaRPr lang="ru-RU" dirty="0"/>
            </a:p>
          </p:txBody>
        </p:sp>
        <p:pic>
          <p:nvPicPr>
            <p:cNvPr id="35" name="Рисунок 3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0955" y="4656853"/>
              <a:ext cx="716363" cy="716363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2555776" y="4499828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iphone</a:t>
              </a:r>
              <a:endParaRPr lang="ru-RU" dirty="0"/>
            </a:p>
          </p:txBody>
        </p:sp>
        <p:cxnSp>
          <p:nvCxnSpPr>
            <p:cNvPr id="38" name="Прямая соединительная линия 37"/>
            <p:cNvCxnSpPr/>
            <p:nvPr/>
          </p:nvCxnSpPr>
          <p:spPr>
            <a:xfrm>
              <a:off x="2397067" y="4365104"/>
              <a:ext cx="206334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единительная линия 38"/>
            <p:cNvCxnSpPr/>
            <p:nvPr/>
          </p:nvCxnSpPr>
          <p:spPr>
            <a:xfrm>
              <a:off x="2406592" y="5013176"/>
              <a:ext cx="206334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/>
            <p:nvPr/>
          </p:nvCxnSpPr>
          <p:spPr>
            <a:xfrm>
              <a:off x="3213538" y="3573016"/>
              <a:ext cx="1142438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Стрелка вправо 16"/>
            <p:cNvSpPr/>
            <p:nvPr/>
          </p:nvSpPr>
          <p:spPr>
            <a:xfrm rot="1928275">
              <a:off x="1900033" y="2379876"/>
              <a:ext cx="2626184" cy="456901"/>
            </a:xfrm>
            <a:prstGeom prst="rightArrow">
              <a:avLst/>
            </a:prstGeom>
            <a:solidFill>
              <a:srgbClr val="00B0F0">
                <a:alpha val="41000"/>
              </a:srgb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11800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Прямая соединительная линия 23"/>
          <p:cNvCxnSpPr/>
          <p:nvPr/>
        </p:nvCxnSpPr>
        <p:spPr>
          <a:xfrm flipV="1">
            <a:off x="2113837" y="3164772"/>
            <a:ext cx="278342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16016" y="843587"/>
            <a:ext cx="4248472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Courier New" pitchFamily="49" charset="0"/>
                <a:cs typeface="Courier New" pitchFamily="49" charset="0"/>
              </a:rPr>
              <a:t>Текущим является файл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price.html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который находится в каталоге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catalog</a:t>
            </a:r>
            <a:endParaRPr lang="en-US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dirty="0">
                <a:latin typeface="Courier New" pitchFamily="49" charset="0"/>
                <a:cs typeface="Courier New" pitchFamily="49" charset="0"/>
              </a:rPr>
              <a:t>Чтобы сделать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гипер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-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с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c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ылку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на страницу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index.html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относительной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адресацией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можно записать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2744" y="4604935"/>
            <a:ext cx="750942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&lt;a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"../index.html"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Перейти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на главную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&lt;/a&gt;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3712" y="5180999"/>
            <a:ext cx="8912783" cy="1200329"/>
          </a:xfrm>
          <a:prstGeom prst="rect">
            <a:avLst/>
          </a:prstGeom>
          <a:solidFill>
            <a:srgbClr val="92D050">
              <a:alpha val="13000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При абсолютной адресации </a:t>
            </a:r>
            <a:endParaRPr lang="en-US" dirty="0">
              <a:solidFill>
                <a:srgbClr val="FF0000"/>
              </a:solidFill>
            </a:endParaRPr>
          </a:p>
          <a:p>
            <a:endParaRPr lang="ru-RU" dirty="0"/>
          </a:p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&lt;a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en-US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http://</a:t>
            </a:r>
            <a:r>
              <a:rPr lang="ru-RU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имя_</a:t>
            </a:r>
            <a:r>
              <a:rPr lang="en-US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web</a:t>
            </a:r>
            <a:r>
              <a:rPr lang="ru-RU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_узла</a:t>
            </a:r>
            <a:r>
              <a:rPr lang="en-US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/index.html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"&gt;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Перейти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на главную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&lt;/a&gt;</a:t>
            </a:r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15606" y="63026"/>
            <a:ext cx="892899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Вариант 3 –</a:t>
            </a:r>
            <a:r>
              <a:rPr lang="en-US" dirty="0"/>
              <a:t> </a:t>
            </a:r>
            <a:r>
              <a:rPr lang="ru-RU" dirty="0">
                <a:solidFill>
                  <a:schemeClr val="tx1"/>
                </a:solidFill>
              </a:rPr>
              <a:t>документ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который  нужно открыть находится в родительском каталоге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087694"/>
            <a:ext cx="716363" cy="716363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79512" y="860519"/>
            <a:ext cx="4392488" cy="3456384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3" name="Группа 12"/>
          <p:cNvGrpSpPr/>
          <p:nvPr/>
        </p:nvGrpSpPr>
        <p:grpSpPr>
          <a:xfrm>
            <a:off x="323528" y="851227"/>
            <a:ext cx="2370482" cy="1737523"/>
            <a:chOff x="683568" y="-85083"/>
            <a:chExt cx="2370482" cy="1737523"/>
          </a:xfrm>
        </p:grpSpPr>
        <p:pic>
          <p:nvPicPr>
            <p:cNvPr id="10" name="Рисунок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3688" y="764704"/>
              <a:ext cx="710189" cy="887736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817814" y="397369"/>
              <a:ext cx="1236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index.html</a:t>
              </a:r>
              <a:endParaRPr lang="ru-RU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83568" y="-85083"/>
              <a:ext cx="11320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site.com</a:t>
              </a:r>
              <a:endParaRPr lang="ru-RU" dirty="0"/>
            </a:p>
          </p:txBody>
        </p:sp>
      </p:grpSp>
      <p:grpSp>
        <p:nvGrpSpPr>
          <p:cNvPr id="14" name="Группа 13"/>
          <p:cNvGrpSpPr/>
          <p:nvPr/>
        </p:nvGrpSpPr>
        <p:grpSpPr>
          <a:xfrm>
            <a:off x="2339752" y="3089373"/>
            <a:ext cx="1184940" cy="1155522"/>
            <a:chOff x="1559228" y="1588150"/>
            <a:chExt cx="1184940" cy="1155522"/>
          </a:xfrm>
        </p:grpSpPr>
        <p:pic>
          <p:nvPicPr>
            <p:cNvPr id="11" name="Рисунок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3688" y="1855936"/>
              <a:ext cx="710189" cy="887736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559228" y="1588150"/>
              <a:ext cx="1184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price.html</a:t>
              </a:r>
              <a:endParaRPr lang="ru-RU" dirty="0"/>
            </a:p>
          </p:txBody>
        </p:sp>
      </p:grpSp>
      <p:cxnSp>
        <p:nvCxnSpPr>
          <p:cNvPr id="16" name="Прямая соединительная линия 15"/>
          <p:cNvCxnSpPr/>
          <p:nvPr/>
        </p:nvCxnSpPr>
        <p:spPr>
          <a:xfrm flipV="1">
            <a:off x="923592" y="1460037"/>
            <a:ext cx="27834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1203035" y="1460037"/>
            <a:ext cx="0" cy="17047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 flipV="1">
            <a:off x="1203035" y="3164774"/>
            <a:ext cx="27834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 flipV="1">
            <a:off x="1187624" y="2095806"/>
            <a:ext cx="27834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Рисунок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695" y="2781017"/>
            <a:ext cx="716363" cy="71636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81377" y="2552707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catalog</a:t>
            </a:r>
            <a:endParaRPr lang="ru-RU" dirty="0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>
            <a:off x="2393280" y="3164772"/>
            <a:ext cx="0" cy="6362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>
            <a:off x="2388676" y="3806809"/>
            <a:ext cx="20633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Выгнутая влево стрелка 16"/>
          <p:cNvSpPr/>
          <p:nvPr/>
        </p:nvSpPr>
        <p:spPr>
          <a:xfrm rot="8428810">
            <a:off x="2533875" y="1398825"/>
            <a:ext cx="1111001" cy="2407739"/>
          </a:xfrm>
          <a:prstGeom prst="curvedRightArrow">
            <a:avLst>
              <a:gd name="adj1" fmla="val 25000"/>
              <a:gd name="adj2" fmla="val 52573"/>
              <a:gd name="adj3" fmla="val 46337"/>
            </a:avLst>
          </a:prstGeom>
          <a:solidFill>
            <a:srgbClr val="00B0F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591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Прямая соединительная линия 23"/>
          <p:cNvCxnSpPr/>
          <p:nvPr/>
        </p:nvCxnSpPr>
        <p:spPr>
          <a:xfrm flipV="1">
            <a:off x="2113837" y="2286161"/>
            <a:ext cx="278342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8077" y="4828510"/>
            <a:ext cx="750942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&lt;a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"../../index.html"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Перейти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на главную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&lt;/a&gt;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3713" y="5325015"/>
            <a:ext cx="8912783" cy="1200329"/>
          </a:xfrm>
          <a:prstGeom prst="rect">
            <a:avLst/>
          </a:prstGeom>
          <a:solidFill>
            <a:srgbClr val="92D050">
              <a:alpha val="13000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При абсолютной адресации </a:t>
            </a:r>
            <a:endParaRPr lang="en-US" dirty="0">
              <a:solidFill>
                <a:srgbClr val="FF0000"/>
              </a:solidFill>
            </a:endParaRPr>
          </a:p>
          <a:p>
            <a:endParaRPr lang="ru-RU" dirty="0"/>
          </a:p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&lt;a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en-US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http://</a:t>
            </a:r>
            <a:r>
              <a:rPr lang="ru-RU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имя_</a:t>
            </a:r>
            <a:r>
              <a:rPr lang="en-US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web</a:t>
            </a:r>
            <a:r>
              <a:rPr lang="ru-RU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_узла</a:t>
            </a:r>
            <a:r>
              <a:rPr lang="en-US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/index.html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"&gt;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Перейти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на главную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&lt;/a&gt;</a:t>
            </a:r>
          </a:p>
          <a:p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09083"/>
            <a:ext cx="716363" cy="716363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79511" y="44624"/>
            <a:ext cx="6480719" cy="468052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3" name="Группа 12"/>
          <p:cNvGrpSpPr/>
          <p:nvPr/>
        </p:nvGrpSpPr>
        <p:grpSpPr>
          <a:xfrm>
            <a:off x="323528" y="-27384"/>
            <a:ext cx="2370482" cy="1737523"/>
            <a:chOff x="683568" y="-85083"/>
            <a:chExt cx="2370482" cy="1737523"/>
          </a:xfrm>
        </p:grpSpPr>
        <p:pic>
          <p:nvPicPr>
            <p:cNvPr id="10" name="Рисунок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3688" y="764704"/>
              <a:ext cx="710189" cy="887736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817814" y="397369"/>
              <a:ext cx="1236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index.html</a:t>
              </a:r>
              <a:endParaRPr lang="ru-RU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83568" y="-85083"/>
              <a:ext cx="11320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site.com</a:t>
              </a:r>
              <a:endParaRPr lang="ru-RU" dirty="0"/>
            </a:p>
          </p:txBody>
        </p:sp>
      </p:grpSp>
      <p:grpSp>
        <p:nvGrpSpPr>
          <p:cNvPr id="14" name="Группа 13"/>
          <p:cNvGrpSpPr/>
          <p:nvPr/>
        </p:nvGrpSpPr>
        <p:grpSpPr>
          <a:xfrm>
            <a:off x="3484020" y="2930981"/>
            <a:ext cx="1184940" cy="1155522"/>
            <a:chOff x="1559228" y="1588150"/>
            <a:chExt cx="1184940" cy="1155522"/>
          </a:xfrm>
        </p:grpSpPr>
        <p:pic>
          <p:nvPicPr>
            <p:cNvPr id="11" name="Рисунок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3688" y="1855936"/>
              <a:ext cx="710189" cy="887736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559228" y="1588150"/>
              <a:ext cx="1184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price.html</a:t>
              </a:r>
              <a:endParaRPr lang="ru-RU" dirty="0"/>
            </a:p>
          </p:txBody>
        </p:sp>
      </p:grpSp>
      <p:cxnSp>
        <p:nvCxnSpPr>
          <p:cNvPr id="16" name="Прямая соединительная линия 15"/>
          <p:cNvCxnSpPr/>
          <p:nvPr/>
        </p:nvCxnSpPr>
        <p:spPr>
          <a:xfrm flipV="1">
            <a:off x="923592" y="581426"/>
            <a:ext cx="27834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1203035" y="581426"/>
            <a:ext cx="0" cy="17047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 flipV="1">
            <a:off x="1203035" y="2286163"/>
            <a:ext cx="27834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 flipV="1">
            <a:off x="1187624" y="1217195"/>
            <a:ext cx="27834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Рисунок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695" y="1902406"/>
            <a:ext cx="716363" cy="71636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81377" y="1674096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catalog</a:t>
            </a:r>
            <a:endParaRPr lang="ru-RU" dirty="0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>
            <a:off x="2393280" y="2286161"/>
            <a:ext cx="0" cy="6362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>
            <a:off x="2388676" y="2928198"/>
            <a:ext cx="20633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Выгнутая влево стрелка 16"/>
          <p:cNvSpPr/>
          <p:nvPr/>
        </p:nvSpPr>
        <p:spPr>
          <a:xfrm rot="7911693">
            <a:off x="3004863" y="92645"/>
            <a:ext cx="1277321" cy="3804073"/>
          </a:xfrm>
          <a:prstGeom prst="curvedRightArrow">
            <a:avLst>
              <a:gd name="adj1" fmla="val 25000"/>
              <a:gd name="adj2" fmla="val 52573"/>
              <a:gd name="adj3" fmla="val 62920"/>
            </a:avLst>
          </a:prstGeom>
          <a:solidFill>
            <a:srgbClr val="00B0F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B0F0"/>
              </a:solidFill>
            </a:endParaRPr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2540521"/>
            <a:ext cx="716363" cy="71636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635429" y="2339588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prices</a:t>
            </a:r>
            <a:endParaRPr lang="ru-RU" dirty="0"/>
          </a:p>
        </p:txBody>
      </p:sp>
      <p:cxnSp>
        <p:nvCxnSpPr>
          <p:cNvPr id="31" name="Прямая соединительная линия 30"/>
          <p:cNvCxnSpPr/>
          <p:nvPr/>
        </p:nvCxnSpPr>
        <p:spPr>
          <a:xfrm flipV="1">
            <a:off x="3237756" y="2930979"/>
            <a:ext cx="278342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>
            <a:off x="3517199" y="2930979"/>
            <a:ext cx="0" cy="6362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>
            <a:off x="3512595" y="3573016"/>
            <a:ext cx="20633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6598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91680" y="18311"/>
            <a:ext cx="568863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/>
              <a:t>Форматы изображений, используемых в </a:t>
            </a:r>
            <a:r>
              <a:rPr lang="en-US" dirty="0"/>
              <a:t>HTML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79512" y="836712"/>
            <a:ext cx="8712968" cy="4062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 eaLnBrk="0" hangingPunct="0"/>
            <a:r>
              <a:rPr lang="ru-RU" sz="2400" b="1" dirty="0">
                <a:solidFill>
                  <a:schemeClr val="tx2"/>
                </a:solidFill>
                <a:latin typeface="Courier New" pitchFamily="49" charset="0"/>
              </a:rPr>
              <a:t>GIF (</a:t>
            </a:r>
            <a:r>
              <a:rPr lang="en-US" sz="2400" b="1" dirty="0">
                <a:solidFill>
                  <a:schemeClr val="tx2"/>
                </a:solidFill>
                <a:latin typeface="Courier New" pitchFamily="49" charset="0"/>
              </a:rPr>
              <a:t>Graphics Interchange Format</a:t>
            </a:r>
            <a:r>
              <a:rPr lang="ru-RU" sz="2400" b="1" dirty="0">
                <a:solidFill>
                  <a:schemeClr val="tx2"/>
                </a:solidFill>
                <a:latin typeface="Courier New" pitchFamily="49" charset="0"/>
              </a:rPr>
              <a:t>)</a:t>
            </a:r>
            <a:endParaRPr lang="en-US" sz="2400" b="1" dirty="0">
              <a:solidFill>
                <a:schemeClr val="tx2"/>
              </a:solidFill>
              <a:latin typeface="Courier New" pitchFamily="49" charset="0"/>
            </a:endParaRPr>
          </a:p>
          <a:p>
            <a:pPr marL="457200" indent="-457200" eaLnBrk="0" hangingPunct="0"/>
            <a:r>
              <a:rPr lang="ru-RU" b="1" dirty="0">
                <a:latin typeface="Courier New" pitchFamily="49" charset="0"/>
              </a:rPr>
              <a:t>Формат имеет возможности: </a:t>
            </a:r>
            <a:endParaRPr lang="en-US" b="1" dirty="0">
              <a:latin typeface="Courier New" pitchFamily="49" charset="0"/>
            </a:endParaRPr>
          </a:p>
          <a:p>
            <a:pPr marL="457200" indent="-457200" eaLnBrk="0" hangingPunct="0">
              <a:buFontTx/>
              <a:buChar char="•"/>
            </a:pPr>
            <a:r>
              <a:rPr lang="ru-RU" b="1" dirty="0">
                <a:latin typeface="Courier New" pitchFamily="49" charset="0"/>
              </a:rPr>
              <a:t>Мультипликация </a:t>
            </a:r>
            <a:endParaRPr lang="en-US" b="1" dirty="0">
              <a:latin typeface="Courier New" pitchFamily="49" charset="0"/>
            </a:endParaRPr>
          </a:p>
          <a:p>
            <a:pPr marL="457200" indent="-457200" eaLnBrk="0" hangingPunct="0">
              <a:buFontTx/>
              <a:buChar char="•"/>
            </a:pPr>
            <a:r>
              <a:rPr lang="ru-RU" b="1" dirty="0">
                <a:latin typeface="Courier New" pitchFamily="49" charset="0"/>
              </a:rPr>
              <a:t>Прозрачная графика(указывается пикселю  - или он прозрачный </a:t>
            </a:r>
          </a:p>
          <a:p>
            <a:pPr eaLnBrk="0" hangingPunct="0"/>
            <a:r>
              <a:rPr lang="ru-RU" b="1" dirty="0">
                <a:latin typeface="Courier New" pitchFamily="49" charset="0"/>
              </a:rPr>
              <a:t>   </a:t>
            </a:r>
            <a:r>
              <a:rPr lang="en-US" b="1" dirty="0">
                <a:latin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</a:rPr>
              <a:t>или непрозрачный, а поэтому плавные края получить очень  </a:t>
            </a:r>
          </a:p>
          <a:p>
            <a:pPr eaLnBrk="0" hangingPunct="0"/>
            <a:r>
              <a:rPr lang="ru-RU" b="1" dirty="0">
                <a:latin typeface="Courier New" pitchFamily="49" charset="0"/>
              </a:rPr>
              <a:t>  </a:t>
            </a:r>
            <a:r>
              <a:rPr lang="en-US" b="1" dirty="0">
                <a:latin typeface="Courier New" pitchFamily="49" charset="0"/>
              </a:rPr>
              <a:t>  </a:t>
            </a:r>
            <a:r>
              <a:rPr lang="ru-RU" b="1" dirty="0">
                <a:latin typeface="Courier New" pitchFamily="49" charset="0"/>
              </a:rPr>
              <a:t>трудно, и надо всегда при сохранении изображения указывать  </a:t>
            </a:r>
            <a:r>
              <a:rPr lang="en-US" b="1" dirty="0">
                <a:latin typeface="Courier New" pitchFamily="49" charset="0"/>
              </a:rPr>
              <a:t>  </a:t>
            </a:r>
          </a:p>
          <a:p>
            <a:pPr eaLnBrk="0" hangingPunct="0"/>
            <a:r>
              <a:rPr lang="en-US" b="1" dirty="0">
                <a:latin typeface="Courier New" pitchFamily="49" charset="0"/>
              </a:rPr>
              <a:t>    </a:t>
            </a:r>
            <a:r>
              <a:rPr lang="ru-RU" b="1" dirty="0">
                <a:latin typeface="Courier New" pitchFamily="49" charset="0"/>
              </a:rPr>
              <a:t>цвет </a:t>
            </a:r>
            <a:r>
              <a:rPr lang="en-US" b="1" dirty="0">
                <a:latin typeface="Courier New" pitchFamily="49" charset="0"/>
              </a:rPr>
              <a:t>matte</a:t>
            </a:r>
            <a:r>
              <a:rPr lang="ru-RU" b="1" dirty="0">
                <a:latin typeface="Courier New" pitchFamily="49" charset="0"/>
              </a:rPr>
              <a:t>) </a:t>
            </a:r>
            <a:endParaRPr lang="en-US" b="1" dirty="0">
              <a:latin typeface="Courier New" pitchFamily="49" charset="0"/>
            </a:endParaRPr>
          </a:p>
          <a:p>
            <a:pPr eaLnBrk="0" hangingPunct="0"/>
            <a:endParaRPr lang="en-US" b="1" dirty="0">
              <a:latin typeface="Courier New" pitchFamily="49" charset="0"/>
            </a:endParaRPr>
          </a:p>
          <a:p>
            <a:pPr marL="457200" indent="-457200" eaLnBrk="0" hangingPunct="0">
              <a:buFontTx/>
              <a:buChar char="•"/>
            </a:pPr>
            <a:r>
              <a:rPr lang="ru-RU" b="1" dirty="0">
                <a:latin typeface="Courier New" pitchFamily="49" charset="0"/>
              </a:rPr>
              <a:t>Чересстрочная развертка </a:t>
            </a:r>
            <a:endParaRPr lang="en-US" b="1" dirty="0">
              <a:latin typeface="Courier New" pitchFamily="49" charset="0"/>
            </a:endParaRPr>
          </a:p>
          <a:p>
            <a:pPr marL="457200" indent="-457200" eaLnBrk="0" hangingPunct="0">
              <a:buFontTx/>
              <a:buChar char="•"/>
            </a:pPr>
            <a:endParaRPr lang="en-US" b="1" dirty="0">
              <a:latin typeface="Courier New" pitchFamily="49" charset="0"/>
            </a:endParaRPr>
          </a:p>
          <a:p>
            <a:pPr marL="457200" indent="-457200" eaLnBrk="0" hangingPunct="0">
              <a:buFontTx/>
              <a:buChar char="•"/>
            </a:pPr>
            <a:r>
              <a:rPr lang="ru-RU" b="1" dirty="0">
                <a:latin typeface="Courier New" pitchFamily="49" charset="0"/>
              </a:rPr>
              <a:t>Имеет </a:t>
            </a:r>
            <a:r>
              <a:rPr lang="ru-RU" b="1" dirty="0">
                <a:solidFill>
                  <a:schemeClr val="tx2"/>
                </a:solidFill>
                <a:latin typeface="Courier New" pitchFamily="49" charset="0"/>
              </a:rPr>
              <a:t>индексированную палитру</a:t>
            </a:r>
            <a:r>
              <a:rPr lang="ru-RU" b="1" dirty="0">
                <a:latin typeface="Courier New" pitchFamily="49" charset="0"/>
              </a:rPr>
              <a:t> цветов – 256 цветов, а следовательно не подходит для полноцветных изображений.   </a:t>
            </a:r>
            <a:endParaRPr lang="en-US" b="1" dirty="0">
              <a:latin typeface="Courier New" pitchFamily="49" charset="0"/>
            </a:endParaRPr>
          </a:p>
          <a:p>
            <a:pPr marL="457200" indent="-457200" eaLnBrk="0" hangingPunct="0">
              <a:buFontTx/>
              <a:buChar char="•"/>
            </a:pPr>
            <a:endParaRPr lang="en-US" b="1" dirty="0">
              <a:latin typeface="Courier New" pitchFamily="49" charset="0"/>
            </a:endParaRPr>
          </a:p>
          <a:p>
            <a:pPr marL="457200" indent="-457200" eaLnBrk="0" hangingPunct="0">
              <a:buFontTx/>
              <a:buChar char="•"/>
            </a:pPr>
            <a:r>
              <a:rPr lang="ru-RU" b="1" dirty="0">
                <a:latin typeface="Courier New" pitchFamily="49" charset="0"/>
              </a:rPr>
              <a:t>Алгоритм сжатия лучше работает с градиентом по вертикали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0441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260648"/>
            <a:ext cx="8712968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 eaLnBrk="0" hangingPunct="0"/>
            <a:r>
              <a:rPr lang="en-US" sz="2400" b="1" dirty="0">
                <a:solidFill>
                  <a:schemeClr val="tx2"/>
                </a:solidFill>
                <a:latin typeface="Courier New" pitchFamily="49" charset="0"/>
              </a:rPr>
              <a:t>JPEG (Joint Photographic Experts Group)</a:t>
            </a:r>
          </a:p>
          <a:p>
            <a:pPr marL="457200" indent="-457200" eaLnBrk="0" hangingPunct="0"/>
            <a:r>
              <a:rPr lang="ru-RU" sz="2000" b="1" dirty="0">
                <a:solidFill>
                  <a:srgbClr val="0070C0"/>
                </a:solidFill>
                <a:latin typeface="Courier New" pitchFamily="49" charset="0"/>
              </a:rPr>
              <a:t>Имеет расширения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.jpg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.jpeg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</a:rPr>
              <a:t>jfif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, .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JPG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</a:rPr>
              <a:t>, </a:t>
            </a:r>
            <a:r>
              <a:rPr lang="ru-RU" sz="2000" b="1" dirty="0">
                <a:solidFill>
                  <a:srgbClr val="0070C0"/>
                </a:solidFill>
                <a:latin typeface="Courier New" pitchFamily="49" charset="0"/>
              </a:rPr>
              <a:t>или .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JPE</a:t>
            </a:r>
          </a:p>
          <a:p>
            <a:pPr marL="457200" indent="-457200" eaLnBrk="0" hangingPunct="0"/>
            <a:r>
              <a:rPr lang="en-US" sz="2400" b="1" dirty="0">
                <a:solidFill>
                  <a:schemeClr val="tx2"/>
                </a:solidFill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- </a:t>
            </a:r>
            <a:r>
              <a:rPr lang="ru-RU" b="1" dirty="0">
                <a:latin typeface="Courier New" pitchFamily="49" charset="0"/>
              </a:rPr>
              <a:t>используется для многоцветных изображений с ярко выраженными градиентными переходами</a:t>
            </a:r>
          </a:p>
          <a:p>
            <a:pPr marL="457200" indent="-457200" eaLnBrk="0" hangingPunct="0"/>
            <a:r>
              <a:rPr lang="ru-RU" b="1" dirty="0">
                <a:latin typeface="Courier New" pitchFamily="49" charset="0"/>
              </a:rPr>
              <a:t> - изображение разбивается на 8-пиксельные кусочки</a:t>
            </a:r>
          </a:p>
          <a:p>
            <a:pPr marL="457200" indent="-457200" eaLnBrk="0" hangingPunct="0"/>
            <a:r>
              <a:rPr lang="ru-RU" b="1" dirty="0">
                <a:latin typeface="Courier New" pitchFamily="49" charset="0"/>
              </a:rPr>
              <a:t>   ( матрицы </a:t>
            </a:r>
            <a:r>
              <a:rPr lang="en-US" b="1" dirty="0">
                <a:latin typeface="Courier New" pitchFamily="49" charset="0"/>
              </a:rPr>
              <a:t> 8 x 8</a:t>
            </a:r>
            <a:r>
              <a:rPr lang="ru-RU" b="1" dirty="0">
                <a:latin typeface="Courier New" pitchFamily="49" charset="0"/>
              </a:rPr>
              <a:t>), которые потом начинают сжиматься алгоритмом обработки. При этом изображение всегда искажается и теряется качество.</a:t>
            </a:r>
          </a:p>
          <a:p>
            <a:pPr marL="457200" indent="-457200" eaLnBrk="0" hangingPunct="0"/>
            <a:r>
              <a:rPr lang="ru-RU" b="1" dirty="0">
                <a:latin typeface="Courier New" pitchFamily="49" charset="0"/>
              </a:rPr>
              <a:t>   Причем сжатие изображение происходит даже если она до </a:t>
            </a:r>
            <a:r>
              <a:rPr lang="en-US" b="1" dirty="0">
                <a:latin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</a:rPr>
              <a:t>этого уже была сжата в формат </a:t>
            </a:r>
            <a:r>
              <a:rPr lang="en-US" b="1" dirty="0">
                <a:latin typeface="Courier New" pitchFamily="49" charset="0"/>
              </a:rPr>
              <a:t>jpg. </a:t>
            </a:r>
          </a:p>
          <a:p>
            <a:pPr marL="457200" indent="-457200" eaLnBrk="0" hangingPunct="0"/>
            <a:r>
              <a:rPr lang="en-US" b="1" dirty="0">
                <a:latin typeface="Courier New" pitchFamily="49" charset="0"/>
              </a:rPr>
              <a:t> - </a:t>
            </a:r>
            <a:r>
              <a:rPr lang="ru-RU" b="1" dirty="0">
                <a:latin typeface="Courier New" pitchFamily="49" charset="0"/>
              </a:rPr>
              <a:t>позволяет включить много цветов, но палитру </a:t>
            </a:r>
            <a:r>
              <a:rPr lang="en-US" b="1" dirty="0">
                <a:latin typeface="Courier New" pitchFamily="49" charset="0"/>
              </a:rPr>
              <a:t>RGB </a:t>
            </a:r>
            <a:r>
              <a:rPr lang="ru-RU" b="1" dirty="0">
                <a:latin typeface="Courier New" pitchFamily="49" charset="0"/>
              </a:rPr>
              <a:t>все равно не охватывает</a:t>
            </a:r>
          </a:p>
          <a:p>
            <a:pPr marL="457200" indent="-457200" eaLnBrk="0" hangingPunct="0"/>
            <a:r>
              <a:rPr lang="ru-RU" b="1" dirty="0">
                <a:latin typeface="Courier New" pitchFamily="49" charset="0"/>
              </a:rPr>
              <a:t> - не имеет прозрачности</a:t>
            </a:r>
            <a:r>
              <a:rPr lang="en-US" b="1" dirty="0">
                <a:latin typeface="Courier New" pitchFamily="49" charset="0"/>
              </a:rPr>
              <a:t> </a:t>
            </a:r>
          </a:p>
          <a:p>
            <a:pPr marL="457200" indent="-457200" eaLnBrk="0" hangingPunct="0"/>
            <a:endParaRPr lang="ru-RU" b="1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935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2008" y="116632"/>
            <a:ext cx="8964488" cy="6001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 eaLnBrk="0" hangingPunct="0"/>
            <a:r>
              <a:rPr lang="en-US" sz="2400" b="1" dirty="0">
                <a:solidFill>
                  <a:schemeClr val="tx2"/>
                </a:solidFill>
                <a:latin typeface="Courier New" pitchFamily="49" charset="0"/>
              </a:rPr>
              <a:t>PNG (Portable Network Graphics)</a:t>
            </a:r>
          </a:p>
          <a:p>
            <a:endParaRPr lang="en-US" b="1" dirty="0">
              <a:latin typeface="Courier New" pitchFamily="49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PNG-8:</a:t>
            </a:r>
            <a:endParaRPr lang="uk-UA" b="1" dirty="0">
              <a:solidFill>
                <a:srgbClr val="0070C0"/>
              </a:solidFill>
              <a:latin typeface="Courier New" pitchFamily="49" charset="0"/>
            </a:endParaRPr>
          </a:p>
          <a:p>
            <a:r>
              <a:rPr lang="en-US" b="1" dirty="0">
                <a:latin typeface="Courier New" pitchFamily="49" charset="0"/>
              </a:rPr>
              <a:t> - </a:t>
            </a:r>
            <a:r>
              <a:rPr lang="uk-UA" b="1" dirty="0" err="1">
                <a:latin typeface="Courier New" pitchFamily="49" charset="0"/>
              </a:rPr>
              <a:t>индексированная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uk-UA" b="1" dirty="0" err="1">
                <a:latin typeface="Courier New" pitchFamily="49" charset="0"/>
              </a:rPr>
              <a:t>цветовая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uk-UA" b="1" dirty="0" err="1">
                <a:latin typeface="Courier New" pitchFamily="49" charset="0"/>
              </a:rPr>
              <a:t>палитра</a:t>
            </a:r>
            <a:r>
              <a:rPr lang="uk-UA" b="1" dirty="0">
                <a:latin typeface="Courier New" pitchFamily="49" charset="0"/>
              </a:rPr>
              <a:t> (8 </a:t>
            </a:r>
            <a:r>
              <a:rPr lang="uk-UA" b="1" dirty="0" err="1">
                <a:latin typeface="Courier New" pitchFamily="49" charset="0"/>
              </a:rPr>
              <a:t>бит</a:t>
            </a:r>
            <a:r>
              <a:rPr lang="uk-UA" b="1" dirty="0">
                <a:latin typeface="Courier New" pitchFamily="49" charset="0"/>
              </a:rPr>
              <a:t> – 256 </a:t>
            </a:r>
            <a:r>
              <a:rPr lang="ru-RU" b="1" dirty="0">
                <a:latin typeface="Courier New" pitchFamily="49" charset="0"/>
              </a:rPr>
              <a:t>цветов</a:t>
            </a:r>
            <a:r>
              <a:rPr lang="uk-UA" b="1" dirty="0">
                <a:latin typeface="Courier New" pitchFamily="49" charset="0"/>
              </a:rPr>
              <a:t>);</a:t>
            </a:r>
          </a:p>
          <a:p>
            <a:r>
              <a:rPr lang="en-US" b="1" dirty="0">
                <a:latin typeface="Courier New" pitchFamily="49" charset="0"/>
              </a:rPr>
              <a:t> - </a:t>
            </a:r>
            <a:r>
              <a:rPr lang="uk-UA" b="1" dirty="0" err="1">
                <a:latin typeface="Courier New" pitchFamily="49" charset="0"/>
              </a:rPr>
              <a:t>поддержка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uk-UA" b="1" dirty="0" err="1">
                <a:latin typeface="Courier New" pitchFamily="49" charset="0"/>
              </a:rPr>
              <a:t>прозрачности</a:t>
            </a:r>
            <a:r>
              <a:rPr lang="uk-UA" b="1" dirty="0">
                <a:latin typeface="Courier New" pitchFamily="49" charset="0"/>
              </a:rPr>
              <a:t>;</a:t>
            </a:r>
            <a:endParaRPr lang="en-US" b="1" dirty="0">
              <a:latin typeface="Courier New" pitchFamily="49" charset="0"/>
            </a:endParaRPr>
          </a:p>
          <a:p>
            <a:r>
              <a:rPr lang="en-US" b="1" dirty="0">
                <a:latin typeface="Courier New" pitchFamily="49" charset="0"/>
              </a:rPr>
              <a:t> - </a:t>
            </a:r>
            <a:r>
              <a:rPr lang="ru-RU" b="1" dirty="0">
                <a:latin typeface="Courier New" pitchFamily="49" charset="0"/>
              </a:rPr>
              <a:t>размер сохраняемого файла меньше чем в формате </a:t>
            </a:r>
            <a:r>
              <a:rPr lang="en-US" b="1" dirty="0">
                <a:latin typeface="Courier New" pitchFamily="49" charset="0"/>
              </a:rPr>
              <a:t>gif</a:t>
            </a:r>
            <a:r>
              <a:rPr lang="ru-RU" b="1" dirty="0">
                <a:latin typeface="Courier New" pitchFamily="49" charset="0"/>
              </a:rPr>
              <a:t> </a:t>
            </a:r>
            <a:endParaRPr lang="uk-UA" b="1" dirty="0">
              <a:latin typeface="Courier New" pitchFamily="49" charset="0"/>
            </a:endParaRPr>
          </a:p>
          <a:p>
            <a:endParaRPr lang="uk-UA" b="1" dirty="0">
              <a:latin typeface="Courier New" pitchFamily="49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PNG-24</a:t>
            </a:r>
            <a:r>
              <a:rPr lang="uk-UA" b="1" dirty="0">
                <a:solidFill>
                  <a:srgbClr val="0070C0"/>
                </a:solidFill>
                <a:latin typeface="Courier New" pitchFamily="49" charset="0"/>
              </a:rPr>
              <a:t>: </a:t>
            </a:r>
          </a:p>
          <a:p>
            <a:r>
              <a:rPr lang="en-US" b="1" dirty="0">
                <a:latin typeface="Courier New" pitchFamily="49" charset="0"/>
              </a:rPr>
              <a:t> - </a:t>
            </a:r>
            <a:r>
              <a:rPr lang="uk-UA" b="1" dirty="0" err="1">
                <a:latin typeface="Courier New" pitchFamily="49" charset="0"/>
              </a:rPr>
              <a:t>полноцветный</a:t>
            </a:r>
            <a:endParaRPr lang="uk-UA" b="1" dirty="0">
              <a:latin typeface="Courier New" pitchFamily="49" charset="0"/>
            </a:endParaRPr>
          </a:p>
          <a:p>
            <a:r>
              <a:rPr lang="uk-UA" b="1" dirty="0">
                <a:latin typeface="Courier New" pitchFamily="49" charset="0"/>
              </a:rPr>
              <a:t>   (на </a:t>
            </a:r>
            <a:r>
              <a:rPr lang="uk-UA" b="1" dirty="0" err="1">
                <a:latin typeface="Courier New" pitchFamily="49" charset="0"/>
              </a:rPr>
              <a:t>каждый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uk-UA" b="1" dirty="0" err="1">
                <a:latin typeface="Courier New" pitchFamily="49" charset="0"/>
              </a:rPr>
              <a:t>пиксель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uk-UA" b="1" dirty="0" err="1">
                <a:latin typeface="Courier New" pitchFamily="49" charset="0"/>
              </a:rPr>
              <a:t>используется</a:t>
            </a:r>
            <a:r>
              <a:rPr lang="uk-UA" b="1" dirty="0">
                <a:latin typeface="Courier New" pitchFamily="49" charset="0"/>
              </a:rPr>
              <a:t> 3 </a:t>
            </a:r>
            <a:r>
              <a:rPr lang="uk-UA" b="1" dirty="0" err="1">
                <a:latin typeface="Courier New" pitchFamily="49" charset="0"/>
              </a:rPr>
              <a:t>цветовых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uk-UA" b="1" dirty="0" err="1">
                <a:latin typeface="Courier New" pitchFamily="49" charset="0"/>
              </a:rPr>
              <a:t>канала</a:t>
            </a:r>
            <a:r>
              <a:rPr lang="uk-UA" b="1" dirty="0">
                <a:latin typeface="Courier New" pitchFamily="49" charset="0"/>
              </a:rPr>
              <a:t> - то </a:t>
            </a:r>
            <a:r>
              <a:rPr lang="uk-UA" b="1" dirty="0" err="1">
                <a:latin typeface="Courier New" pitchFamily="49" charset="0"/>
              </a:rPr>
              <a:t>есть</a:t>
            </a:r>
            <a:r>
              <a:rPr lang="uk-UA" b="1" dirty="0">
                <a:latin typeface="Courier New" pitchFamily="49" charset="0"/>
              </a:rPr>
              <a:t> </a:t>
            </a:r>
          </a:p>
          <a:p>
            <a:r>
              <a:rPr lang="uk-UA" b="1" dirty="0">
                <a:latin typeface="Courier New" pitchFamily="49" charset="0"/>
              </a:rPr>
              <a:t>    все </a:t>
            </a:r>
            <a:r>
              <a:rPr lang="uk-UA" b="1" dirty="0" err="1">
                <a:latin typeface="Courier New" pitchFamily="49" charset="0"/>
              </a:rPr>
              <a:t>цвета</a:t>
            </a:r>
            <a:r>
              <a:rPr lang="uk-UA" b="1" dirty="0">
                <a:latin typeface="Courier New" pitchFamily="49" charset="0"/>
              </a:rPr>
              <a:t>  </a:t>
            </a:r>
            <a:r>
              <a:rPr lang="en-US" b="1" dirty="0">
                <a:latin typeface="Courier New" pitchFamily="49" charset="0"/>
              </a:rPr>
              <a:t>RGB </a:t>
            </a:r>
            <a:r>
              <a:rPr lang="ru-RU" b="1" dirty="0">
                <a:latin typeface="Courier New" pitchFamily="49" charset="0"/>
              </a:rPr>
              <a:t>сохраняются без искажений по сравнению с </a:t>
            </a:r>
          </a:p>
          <a:p>
            <a:r>
              <a:rPr lang="ru-RU" b="1" dirty="0">
                <a:latin typeface="Courier New" pitchFamily="49" charset="0"/>
              </a:rPr>
              <a:t>    форматом </a:t>
            </a:r>
            <a:r>
              <a:rPr lang="en-US" b="1" dirty="0">
                <a:latin typeface="Courier New" pitchFamily="49" charset="0"/>
              </a:rPr>
              <a:t>jpg</a:t>
            </a:r>
            <a:r>
              <a:rPr lang="uk-UA" b="1" dirty="0">
                <a:latin typeface="Courier New" pitchFamily="49" charset="0"/>
              </a:rPr>
              <a:t>);</a:t>
            </a:r>
          </a:p>
          <a:p>
            <a:r>
              <a:rPr lang="uk-UA" b="1" dirty="0">
                <a:latin typeface="Courier New" pitchFamily="49" charset="0"/>
              </a:rPr>
              <a:t> - </a:t>
            </a:r>
            <a:r>
              <a:rPr lang="uk-UA" b="1" dirty="0" err="1">
                <a:latin typeface="Courier New" pitchFamily="49" charset="0"/>
              </a:rPr>
              <a:t>размер</a:t>
            </a:r>
            <a:r>
              <a:rPr lang="uk-UA" b="1" dirty="0">
                <a:latin typeface="Courier New" pitchFamily="49" charset="0"/>
              </a:rPr>
              <a:t> </a:t>
            </a:r>
            <a:r>
              <a:rPr lang="uk-UA" b="1" dirty="0" err="1">
                <a:latin typeface="Courier New" pitchFamily="49" charset="0"/>
              </a:rPr>
              <a:t>файла</a:t>
            </a:r>
            <a:r>
              <a:rPr lang="uk-UA" b="1" dirty="0">
                <a:latin typeface="Courier New" pitchFamily="49" charset="0"/>
              </a:rPr>
              <a:t> в </a:t>
            </a:r>
            <a:r>
              <a:rPr lang="uk-UA" b="1" dirty="0" err="1">
                <a:latin typeface="Courier New" pitchFamily="49" charset="0"/>
              </a:rPr>
              <a:t>сравнении</a:t>
            </a:r>
            <a:r>
              <a:rPr lang="uk-UA" b="1" dirty="0">
                <a:latin typeface="Courier New" pitchFamily="49" charset="0"/>
              </a:rPr>
              <a:t> с форматом </a:t>
            </a:r>
            <a:r>
              <a:rPr lang="en-US" b="1" dirty="0">
                <a:latin typeface="Courier New" pitchFamily="49" charset="0"/>
              </a:rPr>
              <a:t>jpg</a:t>
            </a:r>
            <a:r>
              <a:rPr lang="en-US" dirty="0">
                <a:latin typeface="Courier New" pitchFamily="49" charset="0"/>
              </a:rPr>
              <a:t>  </a:t>
            </a:r>
            <a:r>
              <a:rPr lang="ru-RU" b="1" dirty="0">
                <a:latin typeface="Courier New" pitchFamily="49" charset="0"/>
              </a:rPr>
              <a:t>больше</a:t>
            </a:r>
          </a:p>
          <a:p>
            <a:r>
              <a:rPr lang="ru-RU" b="1" dirty="0">
                <a:latin typeface="Courier New" pitchFamily="49" charset="0"/>
              </a:rPr>
              <a:t>   (не всегда - все  зависит от исходного качества изображения);</a:t>
            </a:r>
            <a:endParaRPr lang="uk-UA" b="1" dirty="0">
              <a:latin typeface="Courier New" pitchFamily="49" charset="0"/>
            </a:endParaRPr>
          </a:p>
          <a:p>
            <a:r>
              <a:rPr lang="en-US" b="1" dirty="0">
                <a:latin typeface="Courier New" pitchFamily="49" charset="0"/>
              </a:rPr>
              <a:t> - </a:t>
            </a:r>
            <a:r>
              <a:rPr lang="uk-UA" b="1" dirty="0" err="1">
                <a:latin typeface="Courier New" pitchFamily="49" charset="0"/>
              </a:rPr>
              <a:t>полупрозрачность</a:t>
            </a:r>
            <a:r>
              <a:rPr lang="uk-UA" b="1" dirty="0">
                <a:latin typeface="Courier New" pitchFamily="49" charset="0"/>
              </a:rPr>
              <a:t> не </a:t>
            </a:r>
            <a:r>
              <a:rPr lang="uk-UA" b="1" dirty="0" err="1">
                <a:latin typeface="Courier New" pitchFamily="49" charset="0"/>
              </a:rPr>
              <a:t>поддерживается</a:t>
            </a:r>
            <a:r>
              <a:rPr lang="uk-UA" b="1" dirty="0">
                <a:latin typeface="Courier New" pitchFamily="49" charset="0"/>
              </a:rPr>
              <a:t>.</a:t>
            </a:r>
          </a:p>
          <a:p>
            <a:endParaRPr lang="uk-UA" b="1" dirty="0">
              <a:latin typeface="Courier New" pitchFamily="49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PNG-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</a:rPr>
              <a:t>32</a:t>
            </a:r>
            <a:r>
              <a:rPr lang="uk-UA" b="1" dirty="0">
                <a:solidFill>
                  <a:srgbClr val="0070C0"/>
                </a:solidFill>
                <a:latin typeface="Courier New" pitchFamily="49" charset="0"/>
              </a:rPr>
              <a:t>:</a:t>
            </a:r>
          </a:p>
          <a:p>
            <a:r>
              <a:rPr lang="en-US" b="1" dirty="0">
                <a:latin typeface="Courier New" pitchFamily="49" charset="0"/>
              </a:rPr>
              <a:t> - </a:t>
            </a:r>
            <a:r>
              <a:rPr lang="uk-UA" b="1" dirty="0" err="1">
                <a:latin typeface="Courier New" pitchFamily="49" charset="0"/>
              </a:rPr>
              <a:t>полноцветный</a:t>
            </a:r>
            <a:r>
              <a:rPr lang="uk-UA" b="1" dirty="0">
                <a:latin typeface="Courier New" pitchFamily="49" charset="0"/>
              </a:rPr>
              <a:t>;</a:t>
            </a:r>
          </a:p>
          <a:p>
            <a:r>
              <a:rPr lang="en-US" b="1" dirty="0">
                <a:latin typeface="Courier New" pitchFamily="49" charset="0"/>
              </a:rPr>
              <a:t> - </a:t>
            </a:r>
            <a:r>
              <a:rPr lang="uk-UA" b="1" dirty="0" err="1">
                <a:latin typeface="Courier New" pitchFamily="49" charset="0"/>
              </a:rPr>
              <a:t>полупрозрачность</a:t>
            </a:r>
            <a:r>
              <a:rPr lang="en-US" b="1" dirty="0">
                <a:latin typeface="Courier New" pitchFamily="49" charset="0"/>
              </a:rPr>
              <a:t>- </a:t>
            </a:r>
            <a:r>
              <a:rPr lang="uk-UA" b="1" dirty="0" err="1">
                <a:latin typeface="Courier New" pitchFamily="49" charset="0"/>
              </a:rPr>
              <a:t>задается</a:t>
            </a:r>
            <a:r>
              <a:rPr lang="uk-UA" b="1" dirty="0">
                <a:latin typeface="Courier New" pitchFamily="49" charset="0"/>
              </a:rPr>
              <a:t> альфа-каналом(8 </a:t>
            </a:r>
            <a:r>
              <a:rPr lang="uk-UA" b="1" dirty="0" err="1">
                <a:latin typeface="Courier New" pitchFamily="49" charset="0"/>
              </a:rPr>
              <a:t>бит</a:t>
            </a:r>
            <a:r>
              <a:rPr lang="uk-UA" b="1" dirty="0">
                <a:latin typeface="Courier New" pitchFamily="49" charset="0"/>
              </a:rPr>
              <a:t> – 256 </a:t>
            </a:r>
            <a:r>
              <a:rPr lang="uk-UA" b="1" dirty="0" err="1">
                <a:latin typeface="Courier New" pitchFamily="49" charset="0"/>
              </a:rPr>
              <a:t>цветов</a:t>
            </a:r>
            <a:r>
              <a:rPr lang="uk-UA" b="1" dirty="0">
                <a:latin typeface="Courier New" pitchFamily="49" charset="0"/>
              </a:rPr>
              <a:t>).</a:t>
            </a:r>
            <a:endParaRPr lang="ru-RU" b="1" dirty="0">
              <a:latin typeface="Courier New" pitchFamily="49" charset="0"/>
            </a:endParaRPr>
          </a:p>
          <a:p>
            <a:endParaRPr lang="ru-RU" b="1" dirty="0">
              <a:latin typeface="Courier New" pitchFamily="49" charset="0"/>
            </a:endParaRPr>
          </a:p>
          <a:p>
            <a:pPr marL="457200" indent="-457200" eaLnBrk="0" hangingPunct="0"/>
            <a:endParaRPr lang="ru-RU" b="1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578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108136"/>
            <a:ext cx="439248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/>
              <a:t>Вставка изображения в </a:t>
            </a:r>
            <a:r>
              <a:rPr lang="en-US" dirty="0"/>
              <a:t>HTML </a:t>
            </a:r>
            <a:r>
              <a:rPr lang="ru-RU" dirty="0"/>
              <a:t>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512" y="548680"/>
            <a:ext cx="8784976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0" hangingPunct="0"/>
            <a:r>
              <a:rPr lang="ru-RU" sz="2400" b="1" dirty="0">
                <a:latin typeface="Courier New" pitchFamily="49" charset="0"/>
              </a:rPr>
              <a:t>&lt;</a:t>
            </a:r>
            <a:r>
              <a:rPr lang="en-US" sz="2400" b="1" dirty="0" err="1">
                <a:latin typeface="Courier New" pitchFamily="49" charset="0"/>
              </a:rPr>
              <a:t>img</a:t>
            </a:r>
            <a:r>
              <a:rPr lang="ru-RU" sz="2400" b="1" dirty="0">
                <a:latin typeface="Courier New" pitchFamily="49" charset="0"/>
              </a:rPr>
              <a:t> </a:t>
            </a:r>
            <a:r>
              <a:rPr lang="ru-RU" sz="2400" b="1" dirty="0" err="1">
                <a:solidFill>
                  <a:srgbClr val="0000FF"/>
                </a:solidFill>
                <a:latin typeface="Courier New" pitchFamily="49" charset="0"/>
              </a:rPr>
              <a:t>src</a:t>
            </a:r>
            <a:r>
              <a:rPr lang="ru-RU" sz="2400" b="1" dirty="0">
                <a:latin typeface="Courier New" pitchFamily="49" charset="0"/>
              </a:rPr>
              <a:t>=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ru-RU" sz="2400" b="1" dirty="0" err="1">
                <a:solidFill>
                  <a:srgbClr val="FF3300"/>
                </a:solidFill>
                <a:latin typeface="Courier New" pitchFamily="49" charset="0"/>
              </a:rPr>
              <a:t>путь_к_файлу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ru-RU" sz="2400" b="1" dirty="0">
                <a:latin typeface="Courier New" pitchFamily="49" charset="0"/>
              </a:rPr>
              <a:t>&gt;</a:t>
            </a:r>
          </a:p>
          <a:p>
            <a:pPr eaLnBrk="0" hangingPunct="0"/>
            <a:endParaRPr lang="en-US" sz="2400" b="1" dirty="0">
              <a:latin typeface="Courier New" pitchFamily="49" charset="0"/>
            </a:endParaRPr>
          </a:p>
          <a:p>
            <a:pPr eaLnBrk="0" hangingPunct="0"/>
            <a:r>
              <a:rPr lang="ru-RU" sz="2400" b="1" dirty="0">
                <a:latin typeface="Courier New" pitchFamily="49" charset="0"/>
              </a:rPr>
              <a:t>&lt;</a:t>
            </a:r>
            <a:r>
              <a:rPr lang="en-US" sz="2400" b="1" dirty="0" err="1">
                <a:latin typeface="Courier New" pitchFamily="49" charset="0"/>
              </a:rPr>
              <a:t>img</a:t>
            </a:r>
            <a:r>
              <a:rPr lang="ru-RU" sz="2400" b="1" dirty="0">
                <a:latin typeface="Courier New" pitchFamily="49" charset="0"/>
              </a:rPr>
              <a:t> </a:t>
            </a:r>
            <a:r>
              <a:rPr lang="ru-RU" sz="2400" b="1" dirty="0" err="1">
                <a:solidFill>
                  <a:srgbClr val="0000FF"/>
                </a:solidFill>
                <a:latin typeface="Courier New" pitchFamily="49" charset="0"/>
              </a:rPr>
              <a:t>src</a:t>
            </a:r>
            <a:r>
              <a:rPr lang="ru-RU" sz="2400" b="1" dirty="0">
                <a:latin typeface="Courier New" pitchFamily="49" charset="0"/>
              </a:rPr>
              <a:t>=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en-US" sz="2400" b="1" dirty="0">
                <a:solidFill>
                  <a:srgbClr val="FF3300"/>
                </a:solidFill>
                <a:latin typeface="Courier New" pitchFamily="49" charset="0"/>
              </a:rPr>
              <a:t>file</a:t>
            </a:r>
            <a:r>
              <a:rPr lang="ru-RU" sz="2400" b="1" dirty="0">
                <a:solidFill>
                  <a:srgbClr val="FF3300"/>
                </a:solidFill>
                <a:latin typeface="Courier New" pitchFamily="49" charset="0"/>
              </a:rPr>
              <a:t>.</a:t>
            </a:r>
            <a:r>
              <a:rPr lang="ru-RU" sz="2400" b="1" dirty="0" err="1">
                <a:solidFill>
                  <a:srgbClr val="FF3300"/>
                </a:solidFill>
                <a:latin typeface="Courier New" pitchFamily="49" charset="0"/>
              </a:rPr>
              <a:t>gif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ru-RU" sz="2400" b="1" dirty="0">
                <a:latin typeface="Courier New" pitchFamily="49" charset="0"/>
              </a:rPr>
              <a:t>&gt; </a:t>
            </a:r>
            <a:endParaRPr lang="en-US" sz="2400" b="1" dirty="0">
              <a:latin typeface="Courier New" pitchFamily="49" charset="0"/>
            </a:endParaRPr>
          </a:p>
          <a:p>
            <a:pPr eaLnBrk="0" hangingPunct="0"/>
            <a:r>
              <a:rPr lang="ru-RU" sz="2400" b="1" dirty="0">
                <a:latin typeface="Courier New" pitchFamily="49" charset="0"/>
              </a:rPr>
              <a:t>&lt;</a:t>
            </a:r>
            <a:r>
              <a:rPr lang="en-US" sz="2400" b="1" dirty="0" err="1">
                <a:latin typeface="Courier New" pitchFamily="49" charset="0"/>
              </a:rPr>
              <a:t>img</a:t>
            </a:r>
            <a:r>
              <a:rPr lang="ru-RU" sz="2400" b="1" dirty="0">
                <a:latin typeface="Courier New" pitchFamily="49" charset="0"/>
              </a:rPr>
              <a:t> </a:t>
            </a:r>
            <a:r>
              <a:rPr lang="ru-RU" sz="2400" b="1" dirty="0" err="1">
                <a:solidFill>
                  <a:srgbClr val="0000FF"/>
                </a:solidFill>
                <a:latin typeface="Courier New" pitchFamily="49" charset="0"/>
              </a:rPr>
              <a:t>src</a:t>
            </a:r>
            <a:r>
              <a:rPr lang="ru-RU" sz="2400" b="1" dirty="0">
                <a:latin typeface="Courier New" pitchFamily="49" charset="0"/>
              </a:rPr>
              <a:t>="</a:t>
            </a:r>
            <a:r>
              <a:rPr lang="ru-RU" sz="2400" b="1" dirty="0" err="1">
                <a:solidFill>
                  <a:srgbClr val="FF3300"/>
                </a:solidFill>
                <a:latin typeface="Courier New" pitchFamily="49" charset="0"/>
              </a:rPr>
              <a:t>pic</a:t>
            </a:r>
            <a:r>
              <a:rPr lang="ru-RU" sz="2400" b="1" dirty="0">
                <a:solidFill>
                  <a:srgbClr val="FF3300"/>
                </a:solidFill>
                <a:latin typeface="Courier New" pitchFamily="49" charset="0"/>
              </a:rPr>
              <a:t>/</a:t>
            </a:r>
            <a:r>
              <a:rPr lang="en-US" sz="2400" b="1" dirty="0">
                <a:solidFill>
                  <a:srgbClr val="FF3300"/>
                </a:solidFill>
                <a:latin typeface="Courier New" pitchFamily="49" charset="0"/>
              </a:rPr>
              <a:t>file2</a:t>
            </a:r>
            <a:r>
              <a:rPr lang="ru-RU" sz="2400" b="1" dirty="0">
                <a:solidFill>
                  <a:srgbClr val="FF3300"/>
                </a:solidFill>
                <a:latin typeface="Courier New" pitchFamily="49" charset="0"/>
              </a:rPr>
              <a:t>.</a:t>
            </a:r>
            <a:r>
              <a:rPr lang="en-US" sz="2400" b="1" dirty="0">
                <a:solidFill>
                  <a:srgbClr val="FF3300"/>
                </a:solidFill>
                <a:latin typeface="Courier New" pitchFamily="49" charset="0"/>
              </a:rPr>
              <a:t>jpg</a:t>
            </a:r>
            <a:r>
              <a:rPr lang="ru-RU" sz="2400" b="1" dirty="0">
                <a:latin typeface="Courier New" pitchFamily="49" charset="0"/>
              </a:rPr>
              <a:t>"&gt;</a:t>
            </a:r>
            <a:endParaRPr lang="en-US" sz="2400" b="1" dirty="0">
              <a:latin typeface="Courier New" pitchFamily="49" charset="0"/>
            </a:endParaRPr>
          </a:p>
          <a:p>
            <a:pPr eaLnBrk="0" hangingPunct="0"/>
            <a:r>
              <a:rPr lang="ru-RU" sz="2400" b="1" dirty="0">
                <a:latin typeface="Courier New" pitchFamily="49" charset="0"/>
              </a:rPr>
              <a:t>&lt;</a:t>
            </a:r>
            <a:r>
              <a:rPr lang="en-US" sz="2400" b="1" dirty="0" err="1">
                <a:latin typeface="Courier New" pitchFamily="49" charset="0"/>
              </a:rPr>
              <a:t>img</a:t>
            </a:r>
            <a:r>
              <a:rPr lang="ru-RU" sz="2400" b="1" dirty="0">
                <a:latin typeface="Courier New" pitchFamily="49" charset="0"/>
              </a:rPr>
              <a:t> </a:t>
            </a:r>
            <a:r>
              <a:rPr lang="ru-RU" sz="2400" b="1" dirty="0" err="1">
                <a:solidFill>
                  <a:srgbClr val="0000FF"/>
                </a:solidFill>
                <a:latin typeface="Courier New" pitchFamily="49" charset="0"/>
              </a:rPr>
              <a:t>src</a:t>
            </a:r>
            <a:r>
              <a:rPr lang="ru-RU" sz="2400" b="1" dirty="0">
                <a:latin typeface="Courier New" pitchFamily="49" charset="0"/>
              </a:rPr>
              <a:t>="</a:t>
            </a:r>
            <a:r>
              <a:rPr lang="en-US" sz="2400" b="1" dirty="0">
                <a:solidFill>
                  <a:srgbClr val="FF3300"/>
                </a:solidFill>
                <a:latin typeface="Courier New" pitchFamily="49" charset="0"/>
              </a:rPr>
              <a:t>http://site.ru/</a:t>
            </a:r>
            <a:r>
              <a:rPr lang="ru-RU" sz="2400" b="1" dirty="0" err="1">
                <a:solidFill>
                  <a:srgbClr val="FF3300"/>
                </a:solidFill>
                <a:latin typeface="Courier New" pitchFamily="49" charset="0"/>
              </a:rPr>
              <a:t>pic</a:t>
            </a:r>
            <a:r>
              <a:rPr lang="ru-RU" sz="2400" b="1" dirty="0">
                <a:solidFill>
                  <a:srgbClr val="FF3300"/>
                </a:solidFill>
                <a:latin typeface="Courier New" pitchFamily="49" charset="0"/>
              </a:rPr>
              <a:t>/img.gif</a:t>
            </a:r>
            <a:r>
              <a:rPr lang="ru-RU" sz="2400" b="1" dirty="0">
                <a:latin typeface="Courier New" pitchFamily="49" charset="0"/>
              </a:rPr>
              <a:t>"&gt;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202341" y="2558884"/>
            <a:ext cx="8568952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Это строчный элемент с замещаемым контентом </a:t>
            </a:r>
            <a:r>
              <a:rPr lang="ru-RU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 </a:t>
            </a:r>
            <a:r>
              <a:rPr lang="ru-RU" i="1" dirty="0">
                <a:latin typeface="Courier New" panose="02070309020205020404" pitchFamily="49" charset="0"/>
                <a:cs typeface="Courier New" panose="02070309020205020404" pitchFamily="49" charset="0"/>
              </a:rPr>
              <a:t>то есть он предполагает наличие внешнего файла, который будет загружаться  в область определяемую этим  элементом.</a:t>
            </a:r>
          </a:p>
          <a:p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Как только браузер встречает   тег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он создает строчную область в которую будет загружено изображение.  </a:t>
            </a: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Атрибут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является обязательным,  он указывает адрес по которому расположено изображение.</a:t>
            </a:r>
          </a:p>
          <a:p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Когда изображение загрузится браузер определит его  размеры  и формирует</a:t>
            </a: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размеры  созданной области в соответствии с размерами изображения</a:t>
            </a:r>
          </a:p>
        </p:txBody>
      </p:sp>
    </p:spTree>
    <p:extLst>
      <p:ext uri="{BB962C8B-B14F-4D97-AF65-F5344CB8AC3E}">
        <p14:creationId xmlns:p14="http://schemas.microsoft.com/office/powerpoint/2010/main" val="1881830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7374" y="332656"/>
            <a:ext cx="8568952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2000" dirty="0"/>
              <a:t>У тега </a:t>
            </a:r>
            <a:r>
              <a:rPr lang="en-US" sz="2000" dirty="0"/>
              <a:t>&lt;</a:t>
            </a:r>
            <a:r>
              <a:rPr lang="en-US" sz="2000" dirty="0" err="1"/>
              <a:t>img</a:t>
            </a:r>
            <a:r>
              <a:rPr lang="en-US" sz="2000" dirty="0"/>
              <a:t>&gt; </a:t>
            </a:r>
            <a:r>
              <a:rPr lang="ru-RU" sz="2000" dirty="0"/>
              <a:t>есть атрибут </a:t>
            </a:r>
            <a:r>
              <a:rPr lang="en-US" sz="2000" dirty="0"/>
              <a:t>  alt = </a:t>
            </a:r>
            <a:r>
              <a:rPr lang="ru-RU" sz="2000" dirty="0"/>
              <a:t>" </a:t>
            </a:r>
            <a:r>
              <a:rPr lang="ru-RU" sz="2000" dirty="0" err="1"/>
              <a:t>описание_изображения</a:t>
            </a:r>
            <a:r>
              <a:rPr lang="ru-RU" sz="2000" dirty="0"/>
              <a:t> "</a:t>
            </a:r>
          </a:p>
          <a:p>
            <a:endParaRPr lang="ru-RU" sz="2000" dirty="0"/>
          </a:p>
          <a:p>
            <a:r>
              <a:rPr lang="ru-RU" sz="2000" b="1" dirty="0">
                <a:latin typeface="Courier New" pitchFamily="49" charset="0"/>
              </a:rPr>
              <a:t>&lt;</a:t>
            </a:r>
            <a:r>
              <a:rPr lang="en-US" sz="2000" b="1" dirty="0" err="1">
                <a:latin typeface="Courier New" pitchFamily="49" charset="0"/>
              </a:rPr>
              <a:t>img</a:t>
            </a:r>
            <a:r>
              <a:rPr lang="ru-RU" sz="2000" b="1" dirty="0">
                <a:latin typeface="Courier New" pitchFamily="49" charset="0"/>
              </a:rPr>
              <a:t> </a:t>
            </a:r>
            <a:r>
              <a:rPr lang="ru-RU" sz="2000" b="1" dirty="0" err="1">
                <a:solidFill>
                  <a:srgbClr val="0000FF"/>
                </a:solidFill>
                <a:latin typeface="Courier New" pitchFamily="49" charset="0"/>
              </a:rPr>
              <a:t>src</a:t>
            </a:r>
            <a:r>
              <a:rPr lang="ru-RU" sz="2000" b="1" dirty="0">
                <a:latin typeface="Courier New" pitchFamily="49" charset="0"/>
              </a:rPr>
              <a:t>=</a:t>
            </a:r>
            <a:r>
              <a:rPr lang="en-US" sz="2000" b="1" dirty="0">
                <a:latin typeface="Courier New" pitchFamily="49" charset="0"/>
              </a:rPr>
              <a:t>"</a:t>
            </a:r>
            <a:r>
              <a:rPr lang="en-US" sz="2000" b="1" dirty="0">
                <a:solidFill>
                  <a:srgbClr val="FF3300"/>
                </a:solidFill>
                <a:latin typeface="Courier New" pitchFamily="49" charset="0"/>
              </a:rPr>
              <a:t>file</a:t>
            </a:r>
            <a:r>
              <a:rPr lang="ru-RU" sz="2000" b="1" dirty="0">
                <a:solidFill>
                  <a:srgbClr val="FF3300"/>
                </a:solidFill>
                <a:latin typeface="Courier New" pitchFamily="49" charset="0"/>
              </a:rPr>
              <a:t>.</a:t>
            </a:r>
            <a:r>
              <a:rPr lang="ru-RU" sz="2000" b="1" dirty="0" err="1">
                <a:solidFill>
                  <a:srgbClr val="FF3300"/>
                </a:solidFill>
                <a:latin typeface="Courier New" pitchFamily="49" charset="0"/>
              </a:rPr>
              <a:t>gif</a:t>
            </a:r>
            <a:r>
              <a:rPr lang="ru-RU" sz="2000" dirty="0"/>
              <a:t> "</a:t>
            </a:r>
            <a:r>
              <a:rPr lang="ru-RU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alt</a:t>
            </a:r>
            <a:r>
              <a:rPr lang="ru-RU" sz="2000" b="1" dirty="0">
                <a:latin typeface="Courier New" pitchFamily="49" charset="0"/>
              </a:rPr>
              <a:t> </a:t>
            </a:r>
            <a:r>
              <a:rPr lang="en-US" sz="2000" b="1" dirty="0">
                <a:latin typeface="Courier New" pitchFamily="49" charset="0"/>
              </a:rPr>
              <a:t>=</a:t>
            </a:r>
            <a:r>
              <a:rPr lang="ru-RU" sz="2000" b="1" dirty="0">
                <a:latin typeface="Courier New" pitchFamily="49" charset="0"/>
              </a:rPr>
              <a:t> </a:t>
            </a:r>
            <a:r>
              <a:rPr lang="ru-RU" sz="2000" dirty="0"/>
              <a:t>" </a:t>
            </a:r>
            <a:r>
              <a:rPr lang="ru-RU" sz="2000" b="1" dirty="0">
                <a:solidFill>
                  <a:srgbClr val="FF3300"/>
                </a:solidFill>
                <a:latin typeface="Courier New" pitchFamily="49" charset="0"/>
              </a:rPr>
              <a:t>изображение 1 </a:t>
            </a:r>
            <a:r>
              <a:rPr lang="ru-RU" sz="2000" dirty="0"/>
              <a:t>"</a:t>
            </a:r>
            <a:r>
              <a:rPr lang="ru-RU" sz="2000" b="1" dirty="0">
                <a:latin typeface="Courier New" pitchFamily="49" charset="0"/>
              </a:rPr>
              <a:t> &gt; </a:t>
            </a:r>
            <a:endParaRPr lang="en-US" sz="2000" b="1" dirty="0">
              <a:latin typeface="Courier New" pitchFamily="49" charset="0"/>
            </a:endParaRPr>
          </a:p>
          <a:p>
            <a:endParaRPr lang="ru-RU" sz="2000" dirty="0"/>
          </a:p>
          <a:p>
            <a:endParaRPr lang="ru-RU" sz="2000" dirty="0"/>
          </a:p>
          <a:p>
            <a:r>
              <a:rPr lang="ru-RU" sz="2000" dirty="0"/>
              <a:t>Также есть атрибуты  </a:t>
            </a:r>
            <a:r>
              <a:rPr lang="en-US" sz="2000" b="1" dirty="0"/>
              <a:t>width = </a:t>
            </a:r>
            <a:r>
              <a:rPr lang="ru-RU" sz="2000" b="1" dirty="0"/>
              <a:t>" </a:t>
            </a:r>
            <a:r>
              <a:rPr lang="ru-RU" sz="2000" b="1" dirty="0" err="1"/>
              <a:t>ширина_изображения</a:t>
            </a:r>
            <a:r>
              <a:rPr lang="ru-RU" sz="2000" b="1" dirty="0"/>
              <a:t> "</a:t>
            </a:r>
            <a:r>
              <a:rPr lang="en-US" sz="2000" b="1" dirty="0"/>
              <a:t>  </a:t>
            </a:r>
            <a:endParaRPr lang="ru-RU" sz="2000" b="1" dirty="0"/>
          </a:p>
          <a:p>
            <a:r>
              <a:rPr lang="ru-RU" sz="2000" b="1" dirty="0"/>
              <a:t>                                     </a:t>
            </a:r>
            <a:r>
              <a:rPr lang="en-US" sz="2000" b="1" dirty="0"/>
              <a:t>height</a:t>
            </a:r>
            <a:r>
              <a:rPr lang="ru-RU" sz="2000" b="1" dirty="0"/>
              <a:t> </a:t>
            </a:r>
            <a:r>
              <a:rPr lang="en-US" sz="2000" b="1" dirty="0"/>
              <a:t>=</a:t>
            </a:r>
            <a:r>
              <a:rPr lang="ru-RU" sz="2000" b="1" dirty="0"/>
              <a:t> " </a:t>
            </a:r>
            <a:r>
              <a:rPr lang="ru-RU" sz="2000" b="1" dirty="0" err="1"/>
              <a:t>высота_изображения</a:t>
            </a:r>
            <a:r>
              <a:rPr lang="ru-RU" sz="2000" b="1" dirty="0"/>
              <a:t> "</a:t>
            </a:r>
          </a:p>
          <a:p>
            <a:endParaRPr lang="ru-RU" sz="2000" b="1" dirty="0"/>
          </a:p>
          <a:p>
            <a:endParaRPr lang="ru-RU" sz="2000" b="1" dirty="0"/>
          </a:p>
          <a:p>
            <a:r>
              <a:rPr lang="ru-RU" sz="2000" b="1" dirty="0">
                <a:latin typeface="Courier New" pitchFamily="49" charset="0"/>
              </a:rPr>
              <a:t>&lt;</a:t>
            </a:r>
            <a:r>
              <a:rPr lang="en-US" sz="2000" b="1" dirty="0" err="1">
                <a:latin typeface="Courier New" pitchFamily="49" charset="0"/>
              </a:rPr>
              <a:t>img</a:t>
            </a:r>
            <a:r>
              <a:rPr lang="ru-RU" sz="2000" b="1" dirty="0">
                <a:latin typeface="Courier New" pitchFamily="49" charset="0"/>
              </a:rPr>
              <a:t> </a:t>
            </a:r>
            <a:r>
              <a:rPr lang="ru-RU" sz="2000" b="1" dirty="0" err="1">
                <a:solidFill>
                  <a:srgbClr val="0000FF"/>
                </a:solidFill>
                <a:latin typeface="Courier New" pitchFamily="49" charset="0"/>
              </a:rPr>
              <a:t>src</a:t>
            </a:r>
            <a:r>
              <a:rPr lang="ru-RU" sz="2000" b="1" dirty="0">
                <a:latin typeface="Courier New" pitchFamily="49" charset="0"/>
              </a:rPr>
              <a:t>=</a:t>
            </a:r>
            <a:r>
              <a:rPr lang="en-US" sz="2000" b="1" dirty="0">
                <a:latin typeface="Courier New" pitchFamily="49" charset="0"/>
              </a:rPr>
              <a:t>"</a:t>
            </a:r>
            <a:r>
              <a:rPr lang="en-US" sz="2000" b="1" dirty="0">
                <a:solidFill>
                  <a:srgbClr val="FF3300"/>
                </a:solidFill>
                <a:latin typeface="Courier New" pitchFamily="49" charset="0"/>
              </a:rPr>
              <a:t>file</a:t>
            </a:r>
            <a:r>
              <a:rPr lang="ru-RU" sz="2000" b="1" dirty="0">
                <a:solidFill>
                  <a:srgbClr val="FF3300"/>
                </a:solidFill>
                <a:latin typeface="Courier New" pitchFamily="49" charset="0"/>
              </a:rPr>
              <a:t>.</a:t>
            </a:r>
            <a:r>
              <a:rPr lang="ru-RU" sz="2000" b="1" dirty="0" err="1">
                <a:solidFill>
                  <a:srgbClr val="FF3300"/>
                </a:solidFill>
                <a:latin typeface="Courier New" pitchFamily="49" charset="0"/>
              </a:rPr>
              <a:t>gif</a:t>
            </a:r>
            <a:r>
              <a:rPr lang="ru-RU" sz="2000" dirty="0"/>
              <a:t> "</a:t>
            </a:r>
            <a:r>
              <a:rPr lang="ru-RU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alt</a:t>
            </a:r>
            <a:r>
              <a:rPr lang="ru-RU" sz="2000" b="1" dirty="0">
                <a:latin typeface="Courier New" pitchFamily="49" charset="0"/>
              </a:rPr>
              <a:t> </a:t>
            </a:r>
            <a:r>
              <a:rPr lang="en-US" sz="2000" b="1" dirty="0">
                <a:latin typeface="Courier New" pitchFamily="49" charset="0"/>
              </a:rPr>
              <a:t>=</a:t>
            </a:r>
            <a:r>
              <a:rPr lang="ru-RU" sz="2000" b="1" dirty="0">
                <a:latin typeface="Courier New" pitchFamily="49" charset="0"/>
              </a:rPr>
              <a:t> </a:t>
            </a:r>
            <a:r>
              <a:rPr lang="ru-RU" sz="2000" dirty="0"/>
              <a:t>" </a:t>
            </a:r>
            <a:r>
              <a:rPr lang="ru-RU" sz="2000" b="1" dirty="0">
                <a:solidFill>
                  <a:srgbClr val="FF3300"/>
                </a:solidFill>
                <a:latin typeface="Courier New" pitchFamily="49" charset="0"/>
              </a:rPr>
              <a:t>изображение 1 </a:t>
            </a:r>
            <a:r>
              <a:rPr lang="ru-RU" sz="2000" dirty="0"/>
              <a:t>"</a:t>
            </a:r>
            <a:r>
              <a:rPr lang="ru-RU" sz="2000" b="1" dirty="0">
                <a:latin typeface="Courier New" pitchFamily="49" charset="0"/>
              </a:rPr>
              <a:t> </a:t>
            </a:r>
          </a:p>
          <a:p>
            <a:r>
              <a:rPr lang="ru-RU" sz="2000" b="1" dirty="0"/>
              <a:t>	       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width </a:t>
            </a:r>
            <a:r>
              <a:rPr lang="en-US" sz="2000" b="1" dirty="0"/>
              <a:t>= </a:t>
            </a:r>
            <a:r>
              <a:rPr lang="ru-RU" sz="2000" b="1" dirty="0"/>
              <a:t>" </a:t>
            </a:r>
            <a:r>
              <a:rPr lang="en-US" sz="2000" b="1" dirty="0">
                <a:solidFill>
                  <a:srgbClr val="FF3300"/>
                </a:solidFill>
                <a:latin typeface="Courier New" pitchFamily="49" charset="0"/>
              </a:rPr>
              <a:t>200px</a:t>
            </a:r>
            <a:r>
              <a:rPr lang="ru-RU" sz="2000" b="1" dirty="0"/>
              <a:t>"</a:t>
            </a:r>
            <a:r>
              <a:rPr lang="en-US" sz="2000" b="1" dirty="0"/>
              <a:t>  </a:t>
            </a:r>
            <a:r>
              <a:rPr lang="ru-RU" sz="2000" b="1" dirty="0"/>
              <a:t>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height</a:t>
            </a:r>
            <a:r>
              <a:rPr lang="ru-RU" sz="20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b="1" dirty="0"/>
              <a:t>=</a:t>
            </a:r>
            <a:r>
              <a:rPr lang="ru-RU" sz="2000" b="1" dirty="0"/>
              <a:t> " </a:t>
            </a:r>
            <a:r>
              <a:rPr lang="en-US" sz="2000" b="1" dirty="0">
                <a:solidFill>
                  <a:srgbClr val="FF3300"/>
                </a:solidFill>
                <a:latin typeface="Courier New" pitchFamily="49" charset="0"/>
              </a:rPr>
              <a:t>300px</a:t>
            </a:r>
            <a:r>
              <a:rPr lang="ru-RU" sz="2000" b="1" dirty="0"/>
              <a:t> "</a:t>
            </a:r>
            <a:r>
              <a:rPr lang="en-US" sz="2000" b="1" dirty="0"/>
              <a:t> &gt;</a:t>
            </a:r>
            <a:r>
              <a:rPr lang="ru-RU" sz="2000" b="1" dirty="0">
                <a:latin typeface="Courier New" pitchFamily="49" charset="0"/>
              </a:rPr>
              <a:t> </a:t>
            </a:r>
            <a:endParaRPr lang="en-US" sz="2000" b="1" dirty="0">
              <a:latin typeface="Courier New" pitchFamily="49" charset="0"/>
            </a:endParaRPr>
          </a:p>
          <a:p>
            <a:endParaRPr lang="ru-RU" sz="2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98849" y="4509120"/>
            <a:ext cx="8568952" cy="923330"/>
          </a:xfrm>
          <a:prstGeom prst="rect">
            <a:avLst/>
          </a:prstGeom>
          <a:solidFill>
            <a:schemeClr val="tx2">
              <a:lumMod val="40000"/>
              <a:lumOff val="60000"/>
              <a:alpha val="22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Особенность – если указываем только один размер 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(например только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то браузер изменит вторую сторону в соответствии с существующими пропорциями изображения</a:t>
            </a:r>
          </a:p>
        </p:txBody>
      </p:sp>
    </p:spTree>
    <p:extLst>
      <p:ext uri="{BB962C8B-B14F-4D97-AF65-F5344CB8AC3E}">
        <p14:creationId xmlns:p14="http://schemas.microsoft.com/office/powerpoint/2010/main" val="2315426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107504" y="620688"/>
          <a:ext cx="8712262" cy="413877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296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6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8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а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lt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Альтернативный текст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8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height</a:t>
                      </a:r>
                      <a:endParaRPr lang="ru-RU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высота изображения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8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width</a:t>
                      </a:r>
                      <a:endParaRPr lang="ru-RU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ширина  изображения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8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border</a:t>
                      </a:r>
                      <a:endParaRPr lang="ru-RU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толщина рамки изображения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8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align</a:t>
                      </a:r>
                      <a:endParaRPr lang="ru-RU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Позволяет</a:t>
                      </a:r>
                      <a:r>
                        <a:rPr lang="ru-RU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задать выравнивание изображения относительно текста  (возможные значения рассмотрены на след. слайде)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842"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hspace</a:t>
                      </a:r>
                      <a:endParaRPr lang="ru-RU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Создает поле между изображением и текстом 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слева и справа</a:t>
                      </a:r>
                      <a:r>
                        <a:rPr lang="ru-RU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от изображения.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8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vspace</a:t>
                      </a:r>
                      <a:endParaRPr lang="ru-RU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Создает поле между изображением и текстом 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сверху и снизу</a:t>
                      </a:r>
                      <a:r>
                        <a:rPr lang="ru-RU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от изображения.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842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title</a:t>
                      </a:r>
                      <a:endParaRPr lang="ru-RU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Всплывающая</a:t>
                      </a:r>
                      <a:r>
                        <a:rPr lang="ru-RU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подсказка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622978" y="175149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Атрибуты  тега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203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3" y="44624"/>
            <a:ext cx="604867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Атрибут </a:t>
            </a:r>
            <a:r>
              <a:rPr lang="en-US" dirty="0">
                <a:solidFill>
                  <a:schemeClr val="tx1"/>
                </a:solidFill>
              </a:rPr>
              <a:t>align – </a:t>
            </a:r>
            <a:r>
              <a:rPr lang="ru-RU" dirty="0">
                <a:solidFill>
                  <a:schemeClr val="tx1"/>
                </a:solidFill>
              </a:rPr>
              <a:t>выравнивание изображения.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107504" y="692696"/>
          <a:ext cx="8712262" cy="3413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40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2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8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right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Изображение</a:t>
                      </a:r>
                      <a:r>
                        <a:rPr lang="ru-RU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выравнивается  по </a:t>
                      </a:r>
                      <a:r>
                        <a:rPr lang="ru-RU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правому краю</a:t>
                      </a:r>
                      <a:r>
                        <a:rPr lang="ru-RU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родительского элемента 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8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left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Изображение</a:t>
                      </a:r>
                      <a:r>
                        <a:rPr lang="ru-RU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выравнивается  по </a:t>
                      </a:r>
                      <a:r>
                        <a:rPr lang="ru-RU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левому краю </a:t>
                      </a:r>
                      <a:r>
                        <a:rPr lang="ru-RU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родительского элемента</a:t>
                      </a:r>
                      <a:endParaRPr lang="ru-RU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8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bottom</a:t>
                      </a:r>
                      <a:endParaRPr lang="ru-RU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Нижняя граница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изображения</a:t>
                      </a:r>
                      <a:r>
                        <a:rPr lang="ru-RU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выравнивается  по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базовой линии  </a:t>
                      </a:r>
                      <a:r>
                        <a:rPr lang="ru-RU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текстовой строки </a:t>
                      </a:r>
                      <a:r>
                        <a:rPr lang="ru-RU" sz="1400" b="0" baseline="0" dirty="0">
                          <a:solidFill>
                            <a:schemeClr val="accent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(такое поведение по умолчанию)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8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top</a:t>
                      </a:r>
                      <a:endParaRPr lang="ru-RU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Верхняя</a:t>
                      </a:r>
                      <a:r>
                        <a:rPr lang="ru-RU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граница</a:t>
                      </a:r>
                      <a:r>
                        <a:rPr lang="ru-RU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изображения выравнивается по самому высокому элементу строки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8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middle</a:t>
                      </a:r>
                      <a:endParaRPr lang="ru-RU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Середина</a:t>
                      </a:r>
                      <a:r>
                        <a:rPr lang="ru-RU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изображения выравнивается по </a:t>
                      </a: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базовой</a:t>
                      </a:r>
                      <a:r>
                        <a:rPr lang="ru-RU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линии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строки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2578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4292" y="692696"/>
            <a:ext cx="8728188" cy="501675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&lt;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a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</a:rPr>
              <a:t>href</a:t>
            </a:r>
            <a:r>
              <a:rPr lang="ru-RU" sz="2000" b="1" dirty="0">
                <a:latin typeface="Courier New" pitchFamily="49" charset="0"/>
              </a:rPr>
              <a:t> </a:t>
            </a:r>
            <a:r>
              <a:rPr lang="en-US" sz="2000" b="1" dirty="0">
                <a:latin typeface="Courier New" pitchFamily="49" charset="0"/>
              </a:rPr>
              <a:t>="</a:t>
            </a:r>
            <a:r>
              <a:rPr lang="ru-RU" sz="2000" b="1" dirty="0">
                <a:latin typeface="Courier New" pitchFamily="49" charset="0"/>
              </a:rPr>
              <a:t>ссылка</a:t>
            </a:r>
            <a:r>
              <a:rPr lang="en-US" sz="2000" b="1" dirty="0">
                <a:latin typeface="Courier New" pitchFamily="49" charset="0"/>
              </a:rPr>
              <a:t>"&gt;</a:t>
            </a:r>
            <a:r>
              <a:rPr lang="ru-RU" sz="2000" b="1" dirty="0">
                <a:latin typeface="Courier New" pitchFamily="49" charset="0"/>
              </a:rPr>
              <a:t> </a:t>
            </a:r>
            <a:r>
              <a:rPr lang="en-US" sz="2000" b="1" dirty="0">
                <a:latin typeface="Courier New" pitchFamily="49" charset="0"/>
              </a:rPr>
              <a:t>&lt;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</a:rPr>
              <a:t>img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</a:rPr>
              <a:t>src</a:t>
            </a:r>
            <a:r>
              <a:rPr lang="en-US" sz="2000" b="1" dirty="0">
                <a:latin typeface="Courier New" pitchFamily="49" charset="0"/>
              </a:rPr>
              <a:t> =</a:t>
            </a:r>
            <a:r>
              <a:rPr lang="ru-RU" sz="2000" b="1" dirty="0">
                <a:latin typeface="Courier New" pitchFamily="49" charset="0"/>
              </a:rPr>
              <a:t> </a:t>
            </a:r>
            <a:r>
              <a:rPr lang="en-US" sz="2000" b="1" dirty="0">
                <a:latin typeface="Courier New" pitchFamily="49" charset="0"/>
              </a:rPr>
              <a:t>"</a:t>
            </a:r>
            <a:r>
              <a:rPr lang="ru-RU" sz="2000" b="1" dirty="0">
                <a:latin typeface="Courier New" pitchFamily="49" charset="0"/>
              </a:rPr>
              <a:t>адрес</a:t>
            </a:r>
            <a:r>
              <a:rPr lang="en-US" sz="2000" b="1" dirty="0">
                <a:latin typeface="Courier New" pitchFamily="49" charset="0"/>
              </a:rPr>
              <a:t>"&gt;</a:t>
            </a:r>
            <a:r>
              <a:rPr lang="ru-RU" sz="2000" b="1" dirty="0">
                <a:latin typeface="Courier New" pitchFamily="49" charset="0"/>
              </a:rPr>
              <a:t> </a:t>
            </a:r>
            <a:r>
              <a:rPr lang="en-US" sz="2000" b="1" dirty="0">
                <a:latin typeface="Courier New" pitchFamily="49" charset="0"/>
              </a:rPr>
              <a:t>&lt;/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a</a:t>
            </a:r>
            <a:r>
              <a:rPr lang="en-US" sz="2000" b="1" dirty="0"/>
              <a:t>&gt;</a:t>
            </a:r>
            <a:endParaRPr lang="ru-RU" sz="2000" b="1" dirty="0"/>
          </a:p>
          <a:p>
            <a:endParaRPr lang="ru-RU" sz="2000" b="1" dirty="0"/>
          </a:p>
          <a:p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По умолчанию вокруг изображения прорисовывается рамка синего цвета шириной 3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px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endParaRPr lang="ru-RU" sz="2000" dirty="0"/>
          </a:p>
          <a:p>
            <a:r>
              <a:rPr lang="en-US" sz="2000" dirty="0"/>
              <a:t> </a:t>
            </a:r>
            <a:endParaRPr lang="ru-RU" sz="2000" dirty="0"/>
          </a:p>
          <a:p>
            <a:r>
              <a:rPr lang="ru-RU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Эту рамку можно убрать </a:t>
            </a:r>
          </a:p>
          <a:p>
            <a:endParaRPr lang="ru-RU" sz="2000" dirty="0"/>
          </a:p>
          <a:p>
            <a:pPr eaLnBrk="0" hangingPunct="0"/>
            <a:r>
              <a:rPr lang="ru-RU" sz="2000" b="1" dirty="0">
                <a:latin typeface="Courier New" pitchFamily="49" charset="0"/>
              </a:rPr>
              <a:t>&lt;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a</a:t>
            </a:r>
            <a:r>
              <a:rPr lang="ru-RU" sz="2000" b="1" dirty="0">
                <a:latin typeface="Courier New" pitchFamily="49" charset="0"/>
              </a:rPr>
              <a:t> </a:t>
            </a:r>
            <a:r>
              <a:rPr lang="ru-RU" sz="2000" b="1" dirty="0" err="1">
                <a:latin typeface="Courier New" pitchFamily="49" charset="0"/>
              </a:rPr>
              <a:t>href</a:t>
            </a:r>
            <a:r>
              <a:rPr lang="ru-RU" sz="2000" b="1" dirty="0">
                <a:latin typeface="Courier New" pitchFamily="49" charset="0"/>
              </a:rPr>
              <a:t>=</a:t>
            </a:r>
            <a:r>
              <a:rPr lang="en-US" sz="2000" b="1" dirty="0">
                <a:latin typeface="Courier New" pitchFamily="49" charset="0"/>
              </a:rPr>
              <a:t>"</a:t>
            </a:r>
            <a:r>
              <a:rPr lang="ru-RU" sz="2000" b="1" dirty="0">
                <a:latin typeface="Courier New" pitchFamily="49" charset="0"/>
              </a:rPr>
              <a:t>ссылка</a:t>
            </a:r>
            <a:r>
              <a:rPr lang="en-US" sz="2000" b="1" dirty="0">
                <a:latin typeface="Courier New" pitchFamily="49" charset="0"/>
              </a:rPr>
              <a:t>"</a:t>
            </a:r>
            <a:r>
              <a:rPr lang="ru-RU" sz="2000" b="1" dirty="0">
                <a:latin typeface="Courier New" pitchFamily="49" charset="0"/>
              </a:rPr>
              <a:t>&gt;&lt;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</a:rPr>
              <a:t>img</a:t>
            </a:r>
            <a:r>
              <a:rPr lang="ru-RU" sz="2000" b="1" dirty="0">
                <a:latin typeface="Courier New" pitchFamily="49" charset="0"/>
              </a:rPr>
              <a:t> </a:t>
            </a:r>
            <a:r>
              <a:rPr lang="ru-RU" sz="2000" b="1" dirty="0" err="1">
                <a:latin typeface="Courier New" pitchFamily="49" charset="0"/>
              </a:rPr>
              <a:t>src</a:t>
            </a:r>
            <a:r>
              <a:rPr lang="ru-RU" sz="2000" b="1" dirty="0">
                <a:latin typeface="Courier New" pitchFamily="49" charset="0"/>
              </a:rPr>
              <a:t>=</a:t>
            </a:r>
            <a:r>
              <a:rPr lang="en-US" sz="2000" b="1" dirty="0">
                <a:latin typeface="Courier New" pitchFamily="49" charset="0"/>
              </a:rPr>
              <a:t>"file</a:t>
            </a:r>
            <a:r>
              <a:rPr lang="ru-RU" sz="2000" b="1" dirty="0">
                <a:latin typeface="Courier New" pitchFamily="49" charset="0"/>
              </a:rPr>
              <a:t>.</a:t>
            </a:r>
            <a:r>
              <a:rPr lang="ru-RU" sz="2000" b="1" dirty="0" err="1">
                <a:latin typeface="Courier New" pitchFamily="49" charset="0"/>
              </a:rPr>
              <a:t>gif</a:t>
            </a:r>
            <a:r>
              <a:rPr lang="en-US" sz="2000" b="1" dirty="0">
                <a:latin typeface="Courier New" pitchFamily="49" charset="0"/>
              </a:rPr>
              <a:t>"</a:t>
            </a:r>
            <a:r>
              <a:rPr lang="ru-RU" sz="2000" b="1" dirty="0">
                <a:latin typeface="Courier New" pitchFamily="49" charset="0"/>
              </a:rPr>
              <a:t> </a:t>
            </a:r>
            <a:r>
              <a:rPr lang="en-US" sz="2000" b="1" dirty="0">
                <a:latin typeface="Courier New" pitchFamily="49" charset="0"/>
              </a:rPr>
              <a:t>border="</a:t>
            </a:r>
            <a:r>
              <a:rPr lang="en-US" sz="2000" b="1" dirty="0">
                <a:solidFill>
                  <a:srgbClr val="FF3300"/>
                </a:solidFill>
                <a:latin typeface="Courier New" pitchFamily="49" charset="0"/>
              </a:rPr>
              <a:t>0</a:t>
            </a:r>
            <a:r>
              <a:rPr lang="en-US" sz="2000" b="1" dirty="0">
                <a:latin typeface="Courier New" pitchFamily="49" charset="0"/>
              </a:rPr>
              <a:t>"</a:t>
            </a:r>
            <a:r>
              <a:rPr lang="ru-RU" sz="2000" b="1" dirty="0">
                <a:latin typeface="Courier New" pitchFamily="49" charset="0"/>
              </a:rPr>
              <a:t>&gt;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ru-RU" sz="2000" b="1" dirty="0">
                <a:latin typeface="Courier New" pitchFamily="49" charset="0"/>
              </a:rPr>
              <a:t>&lt;/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a</a:t>
            </a:r>
            <a:r>
              <a:rPr lang="ru-RU" sz="2000" b="1" dirty="0">
                <a:latin typeface="Courier New" pitchFamily="49" charset="0"/>
              </a:rPr>
              <a:t>&gt;  </a:t>
            </a:r>
          </a:p>
          <a:p>
            <a:pPr eaLnBrk="0" hangingPunct="0"/>
            <a:endParaRPr lang="ru-RU" sz="2000" b="1" dirty="0">
              <a:latin typeface="Courier New" pitchFamily="49" charset="0"/>
            </a:endParaRPr>
          </a:p>
          <a:p>
            <a:pPr eaLnBrk="0" hangingPunct="0"/>
            <a:endParaRPr lang="ru-RU" sz="2000" b="1" dirty="0">
              <a:latin typeface="Courier New" pitchFamily="49" charset="0"/>
            </a:endParaRPr>
          </a:p>
          <a:p>
            <a:pPr eaLnBrk="0" hangingPunct="0"/>
            <a:endParaRPr lang="ru-RU" sz="2000" b="1" dirty="0">
              <a:latin typeface="Courier New" pitchFamily="49" charset="0"/>
            </a:endParaRPr>
          </a:p>
          <a:p>
            <a:pPr eaLnBrk="0" hangingPunct="0"/>
            <a:r>
              <a:rPr lang="ru-RU" sz="2000" b="1" i="1" dirty="0">
                <a:latin typeface="Courier New" pitchFamily="49" charset="0"/>
              </a:rPr>
              <a:t>Или создать свою, например шириной </a:t>
            </a:r>
            <a:r>
              <a:rPr lang="en-US" sz="2000" b="1" i="1" dirty="0">
                <a:latin typeface="Courier New" pitchFamily="49" charset="0"/>
              </a:rPr>
              <a:t> </a:t>
            </a:r>
            <a:r>
              <a:rPr lang="ru-RU" sz="2000" b="1" i="1" dirty="0">
                <a:latin typeface="Courier New" pitchFamily="49" charset="0"/>
              </a:rPr>
              <a:t>1</a:t>
            </a:r>
            <a:r>
              <a:rPr lang="en-US" sz="2000" b="1" i="1" dirty="0" err="1">
                <a:latin typeface="Courier New" pitchFamily="49" charset="0"/>
              </a:rPr>
              <a:t>px</a:t>
            </a:r>
            <a:endParaRPr lang="ru-RU" sz="2000" b="1" i="1" dirty="0">
              <a:latin typeface="Courier New" pitchFamily="49" charset="0"/>
            </a:endParaRPr>
          </a:p>
          <a:p>
            <a:pPr eaLnBrk="0" hangingPunct="0"/>
            <a:endParaRPr lang="ru-RU" sz="2000" b="1" dirty="0">
              <a:latin typeface="Courier New" pitchFamily="49" charset="0"/>
            </a:endParaRPr>
          </a:p>
          <a:p>
            <a:pPr eaLnBrk="0" hangingPunct="0"/>
            <a:r>
              <a:rPr lang="ru-RU" sz="2000" b="1" dirty="0">
                <a:latin typeface="Courier New" pitchFamily="49" charset="0"/>
              </a:rPr>
              <a:t>&lt;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a</a:t>
            </a:r>
            <a:r>
              <a:rPr lang="ru-RU" sz="2000" b="1" dirty="0">
                <a:latin typeface="Courier New" pitchFamily="49" charset="0"/>
              </a:rPr>
              <a:t> </a:t>
            </a:r>
            <a:r>
              <a:rPr lang="ru-RU" sz="2000" b="1" dirty="0" err="1">
                <a:latin typeface="Courier New" pitchFamily="49" charset="0"/>
              </a:rPr>
              <a:t>href</a:t>
            </a:r>
            <a:r>
              <a:rPr lang="ru-RU" sz="2000" b="1" dirty="0">
                <a:latin typeface="Courier New" pitchFamily="49" charset="0"/>
              </a:rPr>
              <a:t>=</a:t>
            </a:r>
            <a:r>
              <a:rPr lang="en-US" sz="2000" b="1" dirty="0">
                <a:latin typeface="Courier New" pitchFamily="49" charset="0"/>
              </a:rPr>
              <a:t>"</a:t>
            </a:r>
            <a:r>
              <a:rPr lang="ru-RU" sz="2000" b="1" dirty="0">
                <a:latin typeface="Courier New" pitchFamily="49" charset="0"/>
              </a:rPr>
              <a:t>ссылка</a:t>
            </a:r>
            <a:r>
              <a:rPr lang="en-US" sz="2000" b="1" dirty="0">
                <a:latin typeface="Courier New" pitchFamily="49" charset="0"/>
              </a:rPr>
              <a:t>"</a:t>
            </a:r>
            <a:r>
              <a:rPr lang="ru-RU" sz="2000" b="1" dirty="0">
                <a:latin typeface="Courier New" pitchFamily="49" charset="0"/>
              </a:rPr>
              <a:t>&gt;&lt;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</a:rPr>
              <a:t>img</a:t>
            </a:r>
            <a:r>
              <a:rPr lang="ru-RU" sz="2000" b="1" dirty="0">
                <a:latin typeface="Courier New" pitchFamily="49" charset="0"/>
              </a:rPr>
              <a:t> </a:t>
            </a:r>
            <a:r>
              <a:rPr lang="ru-RU" sz="2000" b="1" dirty="0" err="1">
                <a:latin typeface="Courier New" pitchFamily="49" charset="0"/>
              </a:rPr>
              <a:t>src</a:t>
            </a:r>
            <a:r>
              <a:rPr lang="ru-RU" sz="2000" b="1" dirty="0">
                <a:latin typeface="Courier New" pitchFamily="49" charset="0"/>
              </a:rPr>
              <a:t>=</a:t>
            </a:r>
            <a:r>
              <a:rPr lang="en-US" sz="2000" b="1" dirty="0">
                <a:latin typeface="Courier New" pitchFamily="49" charset="0"/>
              </a:rPr>
              <a:t>"file</a:t>
            </a:r>
            <a:r>
              <a:rPr lang="ru-RU" sz="2000" b="1" dirty="0">
                <a:latin typeface="Courier New" pitchFamily="49" charset="0"/>
              </a:rPr>
              <a:t>.</a:t>
            </a:r>
            <a:r>
              <a:rPr lang="ru-RU" sz="2000" b="1" dirty="0" err="1">
                <a:latin typeface="Courier New" pitchFamily="49" charset="0"/>
              </a:rPr>
              <a:t>gif</a:t>
            </a:r>
            <a:r>
              <a:rPr lang="en-US" sz="2000" b="1" dirty="0">
                <a:latin typeface="Courier New" pitchFamily="49" charset="0"/>
              </a:rPr>
              <a:t>"</a:t>
            </a:r>
            <a:r>
              <a:rPr lang="ru-RU" sz="2000" b="1" dirty="0">
                <a:latin typeface="Courier New" pitchFamily="49" charset="0"/>
              </a:rPr>
              <a:t> </a:t>
            </a:r>
            <a:r>
              <a:rPr lang="en-US" sz="2000" b="1" dirty="0">
                <a:latin typeface="Courier New" pitchFamily="49" charset="0"/>
              </a:rPr>
              <a:t>border= "</a:t>
            </a:r>
            <a:r>
              <a:rPr lang="ru-RU" sz="2000" b="1" dirty="0">
                <a:solidFill>
                  <a:srgbClr val="FF3300"/>
                </a:solidFill>
                <a:latin typeface="Courier New" pitchFamily="49" charset="0"/>
              </a:rPr>
              <a:t>1</a:t>
            </a:r>
            <a:r>
              <a:rPr lang="en-US" sz="2000" b="1" dirty="0">
                <a:latin typeface="Courier New" pitchFamily="49" charset="0"/>
              </a:rPr>
              <a:t>"</a:t>
            </a:r>
            <a:r>
              <a:rPr lang="ru-RU" sz="2000" b="1" dirty="0">
                <a:latin typeface="Courier New" pitchFamily="49" charset="0"/>
              </a:rPr>
              <a:t>&gt;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ru-RU" sz="2000" b="1" dirty="0">
                <a:latin typeface="Courier New" pitchFamily="49" charset="0"/>
              </a:rPr>
              <a:t>&lt;/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a</a:t>
            </a:r>
            <a:r>
              <a:rPr lang="ru-RU" sz="2000" b="1" dirty="0">
                <a:latin typeface="Courier New" pitchFamily="49" charset="0"/>
              </a:rPr>
              <a:t>&gt;  </a:t>
            </a:r>
            <a:endParaRPr lang="en-US" sz="2000" b="1" dirty="0">
              <a:latin typeface="Courier New" pitchFamily="49" charset="0"/>
            </a:endParaRPr>
          </a:p>
          <a:p>
            <a:endParaRPr lang="ru-RU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935928" y="188640"/>
            <a:ext cx="5444384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b="1">
                <a:solidFill>
                  <a:srgbClr val="00206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/>
              <a:t>Изображение можно делать ссылкой</a:t>
            </a:r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3419872" y="2744924"/>
            <a:ext cx="2908544" cy="1800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7553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47436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2715</TotalTime>
  <Words>1459</Words>
  <Application>Microsoft Office PowerPoint</Application>
  <PresentationFormat>Экран (4:3)</PresentationFormat>
  <Paragraphs>223</Paragraphs>
  <Slides>21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Calibri</vt:lpstr>
      <vt:lpstr>Courier New</vt:lpstr>
      <vt:lpstr>Lucida Sans Unicode</vt:lpstr>
      <vt:lpstr>Verdana</vt:lpstr>
      <vt:lpstr>Wingdings 2</vt:lpstr>
      <vt:lpstr>Wingdings 3</vt:lpstr>
      <vt:lpstr>Тема1</vt:lpstr>
      <vt:lpstr>Links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Каскадные таблицы стилей  CSS</dc:title>
  <cp:lastModifiedBy>Роман Никифоров</cp:lastModifiedBy>
  <cp:revision>469</cp:revision>
  <dcterms:modified xsi:type="dcterms:W3CDTF">2022-01-24T16:30:57Z</dcterms:modified>
</cp:coreProperties>
</file>