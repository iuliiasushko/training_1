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503" r:id="rId2"/>
    <p:sldId id="546" r:id="rId3"/>
    <p:sldId id="513" r:id="rId4"/>
    <p:sldId id="547" r:id="rId5"/>
    <p:sldId id="548" r:id="rId6"/>
    <p:sldId id="551" r:id="rId7"/>
    <p:sldId id="516" r:id="rId8"/>
    <p:sldId id="552" r:id="rId9"/>
    <p:sldId id="553" r:id="rId10"/>
    <p:sldId id="462" r:id="rId11"/>
    <p:sldId id="442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0040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88" autoAdjust="0"/>
    <p:restoredTop sz="95404" autoAdjust="0"/>
  </p:normalViewPr>
  <p:slideViewPr>
    <p:cSldViewPr showGuides="1">
      <p:cViewPr varScale="1">
        <p:scale>
          <a:sx n="98" d="100"/>
          <a:sy n="98" d="100"/>
        </p:scale>
        <p:origin x="1723" y="87"/>
      </p:cViewPr>
      <p:guideLst>
        <p:guide orient="horz" pos="193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0" d="100"/>
          <a:sy n="70" d="100"/>
        </p:scale>
        <p:origin x="-1891" y="-10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31450-B050-45E2-8615-538A492B15A9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0A7537-64E2-4FB1-A143-BC4EC49EFF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302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44945-8607-4F2F-AB6B-4EC0DBA6E6CF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747D1-FEBF-423A-AD6B-EF9B292E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585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660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348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660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3416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105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286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660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113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6930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1486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6372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81336" y="58614"/>
            <a:ext cx="4618856" cy="562074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2200" b="1"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107504" y="908720"/>
            <a:ext cx="8928992" cy="369332"/>
          </a:xfrm>
          <a:prstGeom prst="rect">
            <a:avLst/>
          </a:prstGeom>
          <a:solidFill>
            <a:srgbClr val="92D05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text</a:t>
            </a:r>
            <a:endParaRPr lang="ru-RU" b="1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07504" y="2195572"/>
            <a:ext cx="8928992" cy="369332"/>
          </a:xfrm>
          <a:prstGeom prst="rect">
            <a:avLst/>
          </a:prstGeom>
          <a:solidFill>
            <a:srgbClr val="FFFF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text</a:t>
            </a:r>
            <a:endParaRPr lang="ru-RU" b="1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107504" y="3707740"/>
            <a:ext cx="8928992" cy="369332"/>
          </a:xfrm>
          <a:prstGeom prst="rect">
            <a:avLst/>
          </a:prstGeom>
          <a:solidFill>
            <a:srgbClr val="7030A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text</a:t>
            </a:r>
            <a:endParaRPr lang="ru-RU" b="1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35496" y="5219908"/>
            <a:ext cx="8928992" cy="369332"/>
          </a:xfrm>
          <a:prstGeom prst="rect">
            <a:avLst/>
          </a:prstGeom>
          <a:solidFill>
            <a:srgbClr val="FF00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text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4007336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2624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517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388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318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47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6803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5842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959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088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8998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6331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98EDE-99C0-458B-82F9-AAF47343B0E8}" type="datetimeFigureOut">
              <a:rPr lang="ru-RU" smtClean="0"/>
              <a:t>20.09.2019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40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046639"/>
            <a:ext cx="9144000" cy="4333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1700" y="188640"/>
            <a:ext cx="5400600" cy="707886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noFill/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uk-UA" sz="4000" dirty="0" err="1" smtClean="0"/>
              <a:t>занятие</a:t>
            </a:r>
            <a:r>
              <a:rPr lang="uk-UA" sz="4000" dirty="0" smtClean="0"/>
              <a:t> </a:t>
            </a:r>
            <a:r>
              <a:rPr lang="en-US" sz="4000" dirty="0" smtClean="0"/>
              <a:t>5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701887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07504" y="44624"/>
            <a:ext cx="9036496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en-US" dirty="0" smtClean="0">
                <a:solidFill>
                  <a:srgbClr val="002060"/>
                </a:solidFill>
              </a:rPr>
              <a:t>Case 1</a:t>
            </a:r>
            <a:r>
              <a:rPr lang="uk-UA" dirty="0" smtClean="0">
                <a:solidFill>
                  <a:srgbClr val="002060"/>
                </a:solidFill>
              </a:rPr>
              <a:t> – </a:t>
            </a:r>
            <a:r>
              <a:rPr lang="en-US" dirty="0" smtClean="0">
                <a:solidFill>
                  <a:srgbClr val="002060"/>
                </a:solidFill>
              </a:rPr>
              <a:t>rejected </a:t>
            </a:r>
            <a:r>
              <a:rPr lang="ru-RU" dirty="0" smtClean="0">
                <a:solidFill>
                  <a:srgbClr val="002060"/>
                </a:solidFill>
              </a:rPr>
              <a:t>для</a:t>
            </a:r>
            <a:r>
              <a:rPr lang="en-US" dirty="0" smtClean="0">
                <a:solidFill>
                  <a:srgbClr val="002060"/>
                </a:solidFill>
              </a:rPr>
              <a:t> User_2</a:t>
            </a:r>
            <a:endParaRPr lang="ru-RU" dirty="0">
              <a:solidFill>
                <a:srgbClr val="002060"/>
              </a:solidFill>
            </a:endParaRP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 flipH="1">
            <a:off x="3383869" y="3068960"/>
            <a:ext cx="8010" cy="213961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вал 12"/>
          <p:cNvSpPr/>
          <p:nvPr/>
        </p:nvSpPr>
        <p:spPr>
          <a:xfrm>
            <a:off x="3203848" y="3501008"/>
            <a:ext cx="360040" cy="360040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3211859" y="4653136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/>
          <p:cNvSpPr txBox="1"/>
          <p:nvPr/>
        </p:nvSpPr>
        <p:spPr>
          <a:xfrm>
            <a:off x="2912113" y="2636912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User_1</a:t>
            </a:r>
            <a:endParaRPr lang="ru-RU" b="1" dirty="0"/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 flipH="1">
            <a:off x="5686272" y="3089583"/>
            <a:ext cx="8010" cy="213961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Овал 20"/>
          <p:cNvSpPr/>
          <p:nvPr/>
        </p:nvSpPr>
        <p:spPr>
          <a:xfrm>
            <a:off x="5506251" y="3521631"/>
            <a:ext cx="360040" cy="3600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>
            <a:off x="5514262" y="4673759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/>
          <p:cNvSpPr txBox="1"/>
          <p:nvPr/>
        </p:nvSpPr>
        <p:spPr>
          <a:xfrm>
            <a:off x="60966" y="476672"/>
            <a:ext cx="8975530" cy="2031325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rgbClr val="C00000"/>
                </a:solidFill>
              </a:rPr>
              <a:t>User_1</a:t>
            </a:r>
            <a:r>
              <a:rPr lang="en-US" dirty="0" smtClean="0"/>
              <a:t> </a:t>
            </a:r>
            <a:r>
              <a:rPr lang="uk-UA" dirty="0" err="1" smtClean="0"/>
              <a:t>создал</a:t>
            </a:r>
            <a:r>
              <a:rPr lang="uk-UA" dirty="0" smtClean="0"/>
              <a:t> проект, </a:t>
            </a:r>
            <a:r>
              <a:rPr lang="uk-UA" dirty="0" err="1" smtClean="0"/>
              <a:t>добавил</a:t>
            </a:r>
            <a:r>
              <a:rPr lang="uk-UA" dirty="0" smtClean="0"/>
              <a:t> </a:t>
            </a:r>
            <a:r>
              <a:rPr lang="ru-RU" dirty="0" smtClean="0"/>
              <a:t>файл </a:t>
            </a:r>
            <a:r>
              <a:rPr lang="en-US" dirty="0" smtClean="0">
                <a:solidFill>
                  <a:srgbClr val="C00000"/>
                </a:solidFill>
              </a:rPr>
              <a:t>index.html</a:t>
            </a:r>
            <a:r>
              <a:rPr lang="ru-RU" dirty="0" smtClean="0"/>
              <a:t>, </a:t>
            </a:r>
            <a:r>
              <a:rPr lang="ru-RU" dirty="0" err="1" smtClean="0"/>
              <a:t>заккомитил</a:t>
            </a:r>
            <a:r>
              <a:rPr lang="ru-RU" dirty="0" smtClean="0"/>
              <a:t> его </a:t>
            </a:r>
            <a:r>
              <a:rPr lang="ru-RU" dirty="0"/>
              <a:t>и добавил проект </a:t>
            </a:r>
            <a:r>
              <a:rPr lang="ru-RU" dirty="0" smtClean="0"/>
              <a:t>на </a:t>
            </a:r>
            <a:r>
              <a:rPr lang="en-US" dirty="0" err="1" smtClean="0">
                <a:solidFill>
                  <a:srgbClr val="0070C0"/>
                </a:solidFill>
              </a:rPr>
              <a:t>github</a:t>
            </a:r>
            <a:r>
              <a:rPr lang="en-US" dirty="0" smtClean="0"/>
              <a:t> </a:t>
            </a:r>
            <a:r>
              <a:rPr lang="uk-UA" dirty="0" smtClean="0"/>
              <a:t> 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>
                <a:solidFill>
                  <a:schemeClr val="accent2"/>
                </a:solidFill>
              </a:rPr>
              <a:t>User_2</a:t>
            </a:r>
            <a:r>
              <a:rPr lang="en-US" dirty="0" smtClean="0"/>
              <a:t> </a:t>
            </a:r>
            <a:r>
              <a:rPr lang="ru-RU" dirty="0" err="1" smtClean="0"/>
              <a:t>склонировал</a:t>
            </a:r>
            <a:r>
              <a:rPr lang="ru-RU" dirty="0" smtClean="0"/>
              <a:t> проект себе, добавил файл </a:t>
            </a:r>
            <a:r>
              <a:rPr lang="en-US" dirty="0" smtClean="0">
                <a:solidFill>
                  <a:srgbClr val="C00000"/>
                </a:solidFill>
              </a:rPr>
              <a:t>license.txt</a:t>
            </a:r>
            <a:r>
              <a:rPr lang="en-US" dirty="0" smtClean="0"/>
              <a:t>, </a:t>
            </a:r>
            <a:r>
              <a:rPr lang="uk-UA" dirty="0" err="1" smtClean="0"/>
              <a:t>сделал</a:t>
            </a:r>
            <a:r>
              <a:rPr lang="uk-UA" dirty="0" smtClean="0"/>
              <a:t> </a:t>
            </a:r>
            <a:r>
              <a:rPr lang="en-US" dirty="0" smtClean="0">
                <a:solidFill>
                  <a:srgbClr val="0070C0"/>
                </a:solidFill>
              </a:rPr>
              <a:t>commit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en-US" dirty="0" smtClean="0">
                <a:solidFill>
                  <a:srgbClr val="0070C0"/>
                </a:solidFill>
              </a:rPr>
              <a:t>push</a:t>
            </a:r>
            <a:endParaRPr lang="ru-RU" dirty="0" smtClean="0">
              <a:solidFill>
                <a:srgbClr val="0070C0"/>
              </a:solidFill>
            </a:endParaRPr>
          </a:p>
          <a:p>
            <a:endParaRPr lang="ru-RU" dirty="0">
              <a:solidFill>
                <a:srgbClr val="0070C0"/>
              </a:solidFill>
            </a:endParaRPr>
          </a:p>
          <a:p>
            <a:r>
              <a:rPr lang="uk-UA" dirty="0" smtClean="0"/>
              <a:t>В то же </a:t>
            </a:r>
            <a:r>
              <a:rPr lang="uk-UA" dirty="0" err="1" smtClean="0"/>
              <a:t>время</a:t>
            </a:r>
            <a:r>
              <a:rPr lang="uk-UA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User_1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uk-UA" dirty="0" err="1" smtClean="0"/>
              <a:t>внес</a:t>
            </a:r>
            <a:r>
              <a:rPr lang="uk-UA" dirty="0" smtClean="0"/>
              <a:t> </a:t>
            </a:r>
            <a:r>
              <a:rPr lang="uk-UA" dirty="0" err="1" smtClean="0"/>
              <a:t>изме</a:t>
            </a:r>
            <a:r>
              <a:rPr lang="ru-RU" dirty="0"/>
              <a:t>н</a:t>
            </a:r>
            <a:r>
              <a:rPr lang="uk-UA" dirty="0" err="1" smtClean="0"/>
              <a:t>ения</a:t>
            </a:r>
            <a:r>
              <a:rPr lang="uk-UA" dirty="0" smtClean="0"/>
              <a:t> в файл </a:t>
            </a:r>
            <a:r>
              <a:rPr lang="en-US" dirty="0" smtClean="0">
                <a:solidFill>
                  <a:srgbClr val="C00000"/>
                </a:solidFill>
              </a:rPr>
              <a:t>index.html </a:t>
            </a:r>
            <a:r>
              <a:rPr lang="uk-UA" dirty="0" smtClean="0"/>
              <a:t>и </a:t>
            </a:r>
            <a:r>
              <a:rPr lang="uk-UA" dirty="0" err="1" smtClean="0"/>
              <a:t>вот</a:t>
            </a:r>
            <a:r>
              <a:rPr lang="uk-UA" dirty="0" smtClean="0"/>
              <a:t> </a:t>
            </a:r>
            <a:r>
              <a:rPr lang="uk-UA" dirty="0" err="1" smtClean="0"/>
              <a:t>что</a:t>
            </a:r>
            <a:r>
              <a:rPr lang="uk-UA" dirty="0" smtClean="0"/>
              <a:t> </a:t>
            </a:r>
            <a:r>
              <a:rPr lang="uk-UA" dirty="0" err="1" smtClean="0"/>
              <a:t>мы</a:t>
            </a:r>
            <a:r>
              <a:rPr lang="uk-UA" dirty="0" smtClean="0"/>
              <a:t> получили</a:t>
            </a:r>
            <a:r>
              <a:rPr lang="en-US" dirty="0" smtClean="0"/>
              <a:t> </a:t>
            </a:r>
            <a:r>
              <a:rPr lang="uk-UA" dirty="0" smtClean="0"/>
              <a:t>по </a:t>
            </a:r>
            <a:r>
              <a:rPr lang="uk-UA" dirty="0" err="1" smtClean="0"/>
              <a:t>коммитам</a:t>
            </a:r>
            <a:endParaRPr lang="uk-UA" dirty="0">
              <a:solidFill>
                <a:srgbClr val="0070C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88377" y="2636912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/>
              <a:t>github</a:t>
            </a:r>
            <a:endParaRPr lang="ru-RU" b="1" dirty="0"/>
          </a:p>
        </p:txBody>
      </p:sp>
      <p:cxnSp>
        <p:nvCxnSpPr>
          <p:cNvPr id="5" name="Прямая со стрелкой 4"/>
          <p:cNvCxnSpPr/>
          <p:nvPr/>
        </p:nvCxnSpPr>
        <p:spPr>
          <a:xfrm>
            <a:off x="3642054" y="4869160"/>
            <a:ext cx="1791325" cy="0"/>
          </a:xfrm>
          <a:prstGeom prst="straightConnector1">
            <a:avLst/>
          </a:prstGeom>
          <a:ln w="38100">
            <a:solidFill>
              <a:srgbClr val="660066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594414" y="4427113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>
                <a:solidFill>
                  <a:srgbClr val="660066"/>
                </a:solidFill>
              </a:rPr>
              <a:t>одно и то же</a:t>
            </a:r>
            <a:endParaRPr lang="ru-RU" b="1" dirty="0">
              <a:solidFill>
                <a:srgbClr val="660066"/>
              </a:solidFill>
            </a:endParaRPr>
          </a:p>
        </p:txBody>
      </p:sp>
      <p:cxnSp>
        <p:nvCxnSpPr>
          <p:cNvPr id="27" name="Прямая со стрелкой 26"/>
          <p:cNvCxnSpPr/>
          <p:nvPr/>
        </p:nvCxnSpPr>
        <p:spPr>
          <a:xfrm>
            <a:off x="3642054" y="3708042"/>
            <a:ext cx="1791325" cy="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029162" y="3274883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>
                <a:solidFill>
                  <a:srgbClr val="C00000"/>
                </a:solidFill>
              </a:rPr>
              <a:t>разное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3366" y="5445224"/>
            <a:ext cx="8975530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rgbClr val="C00000"/>
                </a:solidFill>
              </a:rPr>
              <a:t>User_1</a:t>
            </a:r>
            <a:r>
              <a:rPr lang="en-US" dirty="0" smtClean="0"/>
              <a:t> </a:t>
            </a:r>
            <a:r>
              <a:rPr lang="ru-RU" dirty="0" smtClean="0"/>
              <a:t>х</a:t>
            </a:r>
            <a:r>
              <a:rPr lang="uk-UA" dirty="0" err="1" smtClean="0"/>
              <a:t>очет</a:t>
            </a:r>
            <a:r>
              <a:rPr lang="uk-UA" dirty="0" smtClean="0"/>
              <a:t> </a:t>
            </a:r>
            <a:r>
              <a:rPr lang="uk-UA" dirty="0" err="1" smtClean="0"/>
              <a:t>сделать</a:t>
            </a:r>
            <a:r>
              <a:rPr lang="uk-UA" dirty="0" smtClean="0"/>
              <a:t> </a:t>
            </a:r>
            <a:r>
              <a:rPr lang="en-US" dirty="0">
                <a:solidFill>
                  <a:srgbClr val="0070C0"/>
                </a:solidFill>
              </a:rPr>
              <a:t>push</a:t>
            </a:r>
            <a:r>
              <a:rPr lang="uk-UA" dirty="0" smtClean="0"/>
              <a:t> </a:t>
            </a:r>
            <a:endParaRPr lang="uk-UA" dirty="0">
              <a:solidFill>
                <a:srgbClr val="0070C0"/>
              </a:solidFill>
            </a:endParaRPr>
          </a:p>
        </p:txBody>
      </p:sp>
      <p:cxnSp>
        <p:nvCxnSpPr>
          <p:cNvPr id="31" name="Прямая со стрелкой 30"/>
          <p:cNvCxnSpPr/>
          <p:nvPr/>
        </p:nvCxnSpPr>
        <p:spPr>
          <a:xfrm>
            <a:off x="755576" y="829312"/>
            <a:ext cx="2376264" cy="3818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/>
          <p:nvPr/>
        </p:nvCxnSpPr>
        <p:spPr>
          <a:xfrm>
            <a:off x="1835696" y="1628800"/>
            <a:ext cx="3678566" cy="1728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>
            <a:off x="2411760" y="2204864"/>
            <a:ext cx="790349" cy="1233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334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7504" y="3933056"/>
            <a:ext cx="8557744" cy="2031325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endParaRPr lang="en-US" dirty="0" smtClean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  <a:p>
            <a:endParaRPr lang="en-US" dirty="0" smtClean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  <a:p>
            <a:endParaRPr lang="en-US" dirty="0" smtClean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  <a:p>
            <a:endParaRPr lang="en-US" dirty="0" smtClean="0">
              <a:solidFill>
                <a:schemeClr val="accent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0" y="3213364"/>
            <a:ext cx="1149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local</a:t>
            </a:r>
          </a:p>
          <a:p>
            <a:r>
              <a:rPr lang="en-US" b="1" dirty="0" smtClean="0"/>
              <a:t>machine</a:t>
            </a:r>
            <a:endParaRPr lang="ru-RU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91134" y="5354452"/>
            <a:ext cx="1224136" cy="369332"/>
          </a:xfrm>
          <a:prstGeom prst="rect">
            <a:avLst/>
          </a:prstGeom>
          <a:solidFill>
            <a:schemeClr val="bg2">
              <a:lumMod val="50000"/>
              <a:alpha val="3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54fd76e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1847318" y="5359188"/>
            <a:ext cx="1224136" cy="369332"/>
          </a:xfrm>
          <a:prstGeom prst="rect">
            <a:avLst/>
          </a:prstGeom>
          <a:solidFill>
            <a:schemeClr val="bg2">
              <a:lumMod val="50000"/>
              <a:alpha val="3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 smtClean="0"/>
              <a:t>747fa</a:t>
            </a:r>
            <a:r>
              <a:rPr lang="ru-RU" dirty="0" smtClean="0"/>
              <a:t>с</a:t>
            </a:r>
            <a:r>
              <a:rPr lang="en-US" dirty="0" smtClean="0"/>
              <a:t>5</a:t>
            </a:r>
            <a:endParaRPr lang="ru-RU" dirty="0"/>
          </a:p>
        </p:txBody>
      </p:sp>
      <p:cxnSp>
        <p:nvCxnSpPr>
          <p:cNvPr id="21" name="Прямая соединительная линия 20"/>
          <p:cNvCxnSpPr>
            <a:stCxn id="18" idx="3"/>
            <a:endCxn id="19" idx="1"/>
          </p:cNvCxnSpPr>
          <p:nvPr/>
        </p:nvCxnSpPr>
        <p:spPr>
          <a:xfrm>
            <a:off x="1415270" y="5539118"/>
            <a:ext cx="432048" cy="47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79512" y="4922404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master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7504" y="476672"/>
            <a:ext cx="8856984" cy="2031325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endParaRPr lang="en-US" dirty="0" smtClean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  <a:p>
            <a:endParaRPr lang="en-US" dirty="0" smtClean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  <a:p>
            <a:endParaRPr lang="en-US" dirty="0" smtClean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  <a:p>
            <a:endParaRPr lang="en-US" dirty="0" smtClean="0">
              <a:solidFill>
                <a:schemeClr val="accent2"/>
              </a:solidFill>
            </a:endParaRPr>
          </a:p>
        </p:txBody>
      </p:sp>
      <p:grpSp>
        <p:nvGrpSpPr>
          <p:cNvPr id="34" name="Группа 33"/>
          <p:cNvGrpSpPr/>
          <p:nvPr/>
        </p:nvGrpSpPr>
        <p:grpSpPr>
          <a:xfrm>
            <a:off x="250182" y="1466020"/>
            <a:ext cx="2891942" cy="806116"/>
            <a:chOff x="1342848" y="2258108"/>
            <a:chExt cx="2891942" cy="806116"/>
          </a:xfrm>
        </p:grpSpPr>
        <p:sp>
          <p:nvSpPr>
            <p:cNvPr id="25" name="TextBox 24"/>
            <p:cNvSpPr txBox="1"/>
            <p:nvPr/>
          </p:nvSpPr>
          <p:spPr>
            <a:xfrm>
              <a:off x="1354470" y="2690156"/>
              <a:ext cx="1224136" cy="369332"/>
            </a:xfrm>
            <a:prstGeom prst="rect">
              <a:avLst/>
            </a:prstGeom>
            <a:solidFill>
              <a:schemeClr val="bg2">
                <a:lumMod val="50000"/>
                <a:alpha val="38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>
                <a:defRPr b="1"/>
              </a:lvl1pPr>
            </a:lstStyle>
            <a:p>
              <a:r>
                <a:rPr lang="en-US" dirty="0"/>
                <a:t>54fd76e</a:t>
              </a:r>
              <a:endParaRPr lang="ru-RU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010654" y="2694892"/>
              <a:ext cx="1224136" cy="369332"/>
            </a:xfrm>
            <a:prstGeom prst="rect">
              <a:avLst/>
            </a:prstGeom>
            <a:solidFill>
              <a:schemeClr val="bg2">
                <a:lumMod val="50000"/>
                <a:alpha val="38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>
                <a:defRPr b="1"/>
              </a:lvl1pPr>
            </a:lstStyle>
            <a:p>
              <a:r>
                <a:rPr lang="en-US" dirty="0" smtClean="0"/>
                <a:t>747fa</a:t>
              </a:r>
              <a:r>
                <a:rPr lang="ru-RU" dirty="0" smtClean="0"/>
                <a:t>с</a:t>
              </a:r>
              <a:r>
                <a:rPr lang="en-US" dirty="0" smtClean="0"/>
                <a:t>5</a:t>
              </a:r>
              <a:endParaRPr lang="ru-RU" dirty="0"/>
            </a:p>
          </p:txBody>
        </p:sp>
        <p:cxnSp>
          <p:nvCxnSpPr>
            <p:cNvPr id="28" name="Прямая соединительная линия 27"/>
            <p:cNvCxnSpPr>
              <a:stCxn id="25" idx="3"/>
              <a:endCxn id="26" idx="1"/>
            </p:cNvCxnSpPr>
            <p:nvPr/>
          </p:nvCxnSpPr>
          <p:spPr>
            <a:xfrm>
              <a:off x="2578606" y="2874822"/>
              <a:ext cx="432048" cy="47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1342848" y="2258108"/>
              <a:ext cx="1011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master</a:t>
              </a:r>
              <a:endParaRPr lang="ru-RU" b="1" dirty="0"/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3268401" y="601233"/>
            <a:ext cx="223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remote server</a:t>
            </a:r>
            <a:endParaRPr lang="ru-RU" sz="2000" b="1" dirty="0"/>
          </a:p>
        </p:txBody>
      </p:sp>
      <p:grpSp>
        <p:nvGrpSpPr>
          <p:cNvPr id="33" name="Группа 32"/>
          <p:cNvGrpSpPr/>
          <p:nvPr/>
        </p:nvGrpSpPr>
        <p:grpSpPr>
          <a:xfrm>
            <a:off x="1479962" y="2507997"/>
            <a:ext cx="851297" cy="1425059"/>
            <a:chOff x="1479962" y="3300085"/>
            <a:chExt cx="851297" cy="1425059"/>
          </a:xfrm>
        </p:grpSpPr>
        <p:cxnSp>
          <p:nvCxnSpPr>
            <p:cNvPr id="3" name="Прямая со стрелкой 2"/>
            <p:cNvCxnSpPr/>
            <p:nvPr/>
          </p:nvCxnSpPr>
          <p:spPr>
            <a:xfrm flipV="1">
              <a:off x="2331259" y="3300085"/>
              <a:ext cx="0" cy="142505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1479962" y="4034053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FF0000"/>
                  </a:solidFill>
                </a:rPr>
                <a:t>PUSH</a:t>
              </a:r>
              <a:endParaRPr lang="ru-RU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5" name="Группа 34"/>
          <p:cNvGrpSpPr/>
          <p:nvPr/>
        </p:nvGrpSpPr>
        <p:grpSpPr>
          <a:xfrm>
            <a:off x="251520" y="4005064"/>
            <a:ext cx="2891942" cy="806116"/>
            <a:chOff x="1342848" y="2258108"/>
            <a:chExt cx="2891942" cy="806116"/>
          </a:xfrm>
        </p:grpSpPr>
        <p:sp>
          <p:nvSpPr>
            <p:cNvPr id="36" name="TextBox 35"/>
            <p:cNvSpPr txBox="1"/>
            <p:nvPr/>
          </p:nvSpPr>
          <p:spPr>
            <a:xfrm>
              <a:off x="1354470" y="2690156"/>
              <a:ext cx="1224136" cy="369332"/>
            </a:xfrm>
            <a:prstGeom prst="rect">
              <a:avLst/>
            </a:prstGeom>
            <a:solidFill>
              <a:schemeClr val="bg2">
                <a:lumMod val="50000"/>
                <a:alpha val="38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>
                <a:defRPr b="1"/>
              </a:lvl1pPr>
            </a:lstStyle>
            <a:p>
              <a:r>
                <a:rPr lang="en-US" dirty="0"/>
                <a:t>54fd76e</a:t>
              </a:r>
              <a:endParaRPr lang="ru-RU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010654" y="2694892"/>
              <a:ext cx="1224136" cy="369332"/>
            </a:xfrm>
            <a:prstGeom prst="rect">
              <a:avLst/>
            </a:prstGeom>
            <a:solidFill>
              <a:schemeClr val="bg2">
                <a:lumMod val="50000"/>
                <a:alpha val="38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>
                <a:defRPr b="1"/>
              </a:lvl1pPr>
            </a:lstStyle>
            <a:p>
              <a:r>
                <a:rPr lang="en-US" dirty="0" smtClean="0"/>
                <a:t>747fa</a:t>
              </a:r>
              <a:r>
                <a:rPr lang="ru-RU" dirty="0" smtClean="0"/>
                <a:t>с</a:t>
              </a:r>
              <a:r>
                <a:rPr lang="en-US" dirty="0" smtClean="0"/>
                <a:t>5</a:t>
              </a:r>
              <a:endParaRPr lang="ru-RU" dirty="0"/>
            </a:p>
          </p:txBody>
        </p:sp>
        <p:cxnSp>
          <p:nvCxnSpPr>
            <p:cNvPr id="39" name="Прямая соединительная линия 38"/>
            <p:cNvCxnSpPr>
              <a:stCxn id="36" idx="3"/>
              <a:endCxn id="37" idx="1"/>
            </p:cNvCxnSpPr>
            <p:nvPr/>
          </p:nvCxnSpPr>
          <p:spPr>
            <a:xfrm>
              <a:off x="2578606" y="2874822"/>
              <a:ext cx="432048" cy="47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1342848" y="2258108"/>
              <a:ext cx="1011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C00000"/>
                  </a:solidFill>
                </a:rPr>
                <a:t>origin</a:t>
              </a:r>
              <a:endParaRPr lang="ru-RU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44" name="Группа 43"/>
          <p:cNvGrpSpPr/>
          <p:nvPr/>
        </p:nvGrpSpPr>
        <p:grpSpPr>
          <a:xfrm>
            <a:off x="3110324" y="5363924"/>
            <a:ext cx="1677700" cy="369332"/>
            <a:chOff x="6012160" y="6156012"/>
            <a:chExt cx="1677700" cy="369332"/>
          </a:xfrm>
        </p:grpSpPr>
        <p:sp>
          <p:nvSpPr>
            <p:cNvPr id="42" name="TextBox 41"/>
            <p:cNvSpPr txBox="1"/>
            <p:nvPr/>
          </p:nvSpPr>
          <p:spPr>
            <a:xfrm>
              <a:off x="6465724" y="6156012"/>
              <a:ext cx="1224136" cy="369332"/>
            </a:xfrm>
            <a:prstGeom prst="rect">
              <a:avLst/>
            </a:prstGeom>
            <a:solidFill>
              <a:schemeClr val="bg2">
                <a:lumMod val="50000"/>
                <a:alpha val="38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>
                <a:defRPr b="1"/>
              </a:lvl1pPr>
            </a:lstStyle>
            <a:p>
              <a:r>
                <a:rPr lang="en-US" dirty="0" smtClean="0"/>
                <a:t>abc33fd</a:t>
              </a:r>
              <a:endParaRPr lang="ru-RU" dirty="0"/>
            </a:p>
          </p:txBody>
        </p:sp>
        <p:cxnSp>
          <p:nvCxnSpPr>
            <p:cNvPr id="43" name="Прямая соединительная линия 42"/>
            <p:cNvCxnSpPr/>
            <p:nvPr/>
          </p:nvCxnSpPr>
          <p:spPr>
            <a:xfrm>
              <a:off x="6012160" y="6327566"/>
              <a:ext cx="432048" cy="47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Группа 44"/>
          <p:cNvGrpSpPr/>
          <p:nvPr/>
        </p:nvGrpSpPr>
        <p:grpSpPr>
          <a:xfrm>
            <a:off x="3138264" y="1916832"/>
            <a:ext cx="1677700" cy="369332"/>
            <a:chOff x="6012160" y="6156012"/>
            <a:chExt cx="1677700" cy="369332"/>
          </a:xfrm>
        </p:grpSpPr>
        <p:sp>
          <p:nvSpPr>
            <p:cNvPr id="46" name="TextBox 45"/>
            <p:cNvSpPr txBox="1"/>
            <p:nvPr/>
          </p:nvSpPr>
          <p:spPr>
            <a:xfrm>
              <a:off x="6465724" y="6156012"/>
              <a:ext cx="1224136" cy="369332"/>
            </a:xfrm>
            <a:prstGeom prst="rect">
              <a:avLst/>
            </a:prstGeom>
            <a:solidFill>
              <a:srgbClr val="FFFF00">
                <a:alpha val="38000"/>
              </a:srgb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>
                <a:defRPr b="1"/>
              </a:lvl1pPr>
            </a:lstStyle>
            <a:p>
              <a:r>
                <a:rPr lang="en-US" dirty="0" smtClean="0"/>
                <a:t>83bc34</a:t>
              </a:r>
              <a:endParaRPr lang="ru-RU" dirty="0"/>
            </a:p>
          </p:txBody>
        </p:sp>
        <p:cxnSp>
          <p:nvCxnSpPr>
            <p:cNvPr id="47" name="Прямая соединительная линия 46"/>
            <p:cNvCxnSpPr/>
            <p:nvPr/>
          </p:nvCxnSpPr>
          <p:spPr>
            <a:xfrm>
              <a:off x="6012160" y="6327566"/>
              <a:ext cx="432048" cy="47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Группа 47"/>
          <p:cNvGrpSpPr/>
          <p:nvPr/>
        </p:nvGrpSpPr>
        <p:grpSpPr>
          <a:xfrm>
            <a:off x="3182332" y="4437112"/>
            <a:ext cx="1677700" cy="369332"/>
            <a:chOff x="6012160" y="6156012"/>
            <a:chExt cx="1677700" cy="369332"/>
          </a:xfrm>
        </p:grpSpPr>
        <p:sp>
          <p:nvSpPr>
            <p:cNvPr id="49" name="TextBox 48"/>
            <p:cNvSpPr txBox="1"/>
            <p:nvPr/>
          </p:nvSpPr>
          <p:spPr>
            <a:xfrm>
              <a:off x="6465724" y="6156012"/>
              <a:ext cx="1224136" cy="369332"/>
            </a:xfrm>
            <a:prstGeom prst="rect">
              <a:avLst/>
            </a:prstGeom>
            <a:solidFill>
              <a:srgbClr val="FFFF00">
                <a:alpha val="38000"/>
              </a:srgb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>
                <a:defRPr b="1"/>
              </a:lvl1pPr>
            </a:lstStyle>
            <a:p>
              <a:r>
                <a:rPr lang="en-US" dirty="0" smtClean="0"/>
                <a:t>83bc34</a:t>
              </a:r>
              <a:endParaRPr lang="ru-RU" dirty="0"/>
            </a:p>
          </p:txBody>
        </p:sp>
        <p:cxnSp>
          <p:nvCxnSpPr>
            <p:cNvPr id="50" name="Прямая соединительная линия 49"/>
            <p:cNvCxnSpPr/>
            <p:nvPr/>
          </p:nvCxnSpPr>
          <p:spPr>
            <a:xfrm>
              <a:off x="6012160" y="6327566"/>
              <a:ext cx="432048" cy="47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Группа 53"/>
          <p:cNvGrpSpPr/>
          <p:nvPr/>
        </p:nvGrpSpPr>
        <p:grpSpPr>
          <a:xfrm>
            <a:off x="4838516" y="1916832"/>
            <a:ext cx="1677700" cy="369332"/>
            <a:chOff x="6012160" y="6156012"/>
            <a:chExt cx="1677700" cy="369332"/>
          </a:xfrm>
        </p:grpSpPr>
        <p:sp>
          <p:nvSpPr>
            <p:cNvPr id="55" name="TextBox 54"/>
            <p:cNvSpPr txBox="1"/>
            <p:nvPr/>
          </p:nvSpPr>
          <p:spPr>
            <a:xfrm>
              <a:off x="6465724" y="6156012"/>
              <a:ext cx="1224136" cy="369332"/>
            </a:xfrm>
            <a:prstGeom prst="rect">
              <a:avLst/>
            </a:prstGeom>
            <a:solidFill>
              <a:srgbClr val="FFFF00">
                <a:alpha val="38000"/>
              </a:srgb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>
                <a:defRPr b="1"/>
              </a:lvl1pPr>
            </a:lstStyle>
            <a:p>
              <a:r>
                <a:rPr lang="en-US" dirty="0" smtClean="0"/>
                <a:t>42fd43</a:t>
              </a:r>
              <a:endParaRPr lang="ru-RU" dirty="0"/>
            </a:p>
          </p:txBody>
        </p:sp>
        <p:cxnSp>
          <p:nvCxnSpPr>
            <p:cNvPr id="56" name="Прямая соединительная линия 55"/>
            <p:cNvCxnSpPr/>
            <p:nvPr/>
          </p:nvCxnSpPr>
          <p:spPr>
            <a:xfrm>
              <a:off x="6012160" y="6327566"/>
              <a:ext cx="432048" cy="47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Группа 56"/>
          <p:cNvGrpSpPr/>
          <p:nvPr/>
        </p:nvGrpSpPr>
        <p:grpSpPr>
          <a:xfrm>
            <a:off x="4910524" y="4437112"/>
            <a:ext cx="1677700" cy="369332"/>
            <a:chOff x="6012160" y="6156012"/>
            <a:chExt cx="1677700" cy="369332"/>
          </a:xfrm>
        </p:grpSpPr>
        <p:sp>
          <p:nvSpPr>
            <p:cNvPr id="58" name="TextBox 57"/>
            <p:cNvSpPr txBox="1"/>
            <p:nvPr/>
          </p:nvSpPr>
          <p:spPr>
            <a:xfrm>
              <a:off x="6465724" y="6156012"/>
              <a:ext cx="1224136" cy="369332"/>
            </a:xfrm>
            <a:prstGeom prst="rect">
              <a:avLst/>
            </a:prstGeom>
            <a:solidFill>
              <a:srgbClr val="FFFF00">
                <a:alpha val="38000"/>
              </a:srgb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>
                <a:defRPr b="1"/>
              </a:lvl1pPr>
            </a:lstStyle>
            <a:p>
              <a:r>
                <a:rPr lang="en-US" dirty="0" smtClean="0"/>
                <a:t>42fd43</a:t>
              </a:r>
              <a:endParaRPr lang="ru-RU" dirty="0"/>
            </a:p>
          </p:txBody>
        </p:sp>
        <p:cxnSp>
          <p:nvCxnSpPr>
            <p:cNvPr id="59" name="Прямая соединительная линия 58"/>
            <p:cNvCxnSpPr/>
            <p:nvPr/>
          </p:nvCxnSpPr>
          <p:spPr>
            <a:xfrm>
              <a:off x="6012160" y="6327566"/>
              <a:ext cx="432048" cy="47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Группа 59"/>
          <p:cNvGrpSpPr/>
          <p:nvPr/>
        </p:nvGrpSpPr>
        <p:grpSpPr>
          <a:xfrm>
            <a:off x="3467587" y="2487786"/>
            <a:ext cx="960397" cy="1440160"/>
            <a:chOff x="1852193" y="3300293"/>
            <a:chExt cx="1220662" cy="1061361"/>
          </a:xfrm>
        </p:grpSpPr>
        <p:cxnSp>
          <p:nvCxnSpPr>
            <p:cNvPr id="61" name="Прямая со стрелкой 60"/>
            <p:cNvCxnSpPr/>
            <p:nvPr/>
          </p:nvCxnSpPr>
          <p:spPr>
            <a:xfrm>
              <a:off x="3072855" y="3300293"/>
              <a:ext cx="0" cy="106136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1852193" y="3807530"/>
              <a:ext cx="1029138" cy="2721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FF0000"/>
                  </a:solidFill>
                </a:rPr>
                <a:t>PULL</a:t>
              </a:r>
              <a:endParaRPr lang="ru-RU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5783569" y="4922404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merge</a:t>
            </a:r>
            <a:endParaRPr lang="ru-RU" b="1" dirty="0">
              <a:solidFill>
                <a:srgbClr val="FF0000"/>
              </a:solidFill>
            </a:endParaRPr>
          </a:p>
        </p:txBody>
      </p:sp>
      <p:grpSp>
        <p:nvGrpSpPr>
          <p:cNvPr id="67" name="Группа 66"/>
          <p:cNvGrpSpPr/>
          <p:nvPr/>
        </p:nvGrpSpPr>
        <p:grpSpPr>
          <a:xfrm>
            <a:off x="4788024" y="4608666"/>
            <a:ext cx="3348372" cy="1076147"/>
            <a:chOff x="4305484" y="5400754"/>
            <a:chExt cx="3348372" cy="1076147"/>
          </a:xfrm>
        </p:grpSpPr>
        <p:cxnSp>
          <p:nvCxnSpPr>
            <p:cNvPr id="69" name="Прямая соединительная линия 68"/>
            <p:cNvCxnSpPr/>
            <p:nvPr/>
          </p:nvCxnSpPr>
          <p:spPr>
            <a:xfrm>
              <a:off x="4305484" y="6309320"/>
              <a:ext cx="273630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Прямая соединительная линия 62"/>
            <p:cNvCxnSpPr/>
            <p:nvPr/>
          </p:nvCxnSpPr>
          <p:spPr>
            <a:xfrm>
              <a:off x="6105684" y="5400754"/>
              <a:ext cx="936104" cy="9351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6429720" y="6107569"/>
              <a:ext cx="1224136" cy="3693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>
                <a:defRPr b="1"/>
              </a:lvl1pPr>
            </a:lstStyle>
            <a:p>
              <a:r>
                <a:rPr lang="en-US" dirty="0" smtClean="0"/>
                <a:t>87fa75</a:t>
              </a:r>
              <a:endParaRPr lang="ru-RU" dirty="0"/>
            </a:p>
          </p:txBody>
        </p:sp>
      </p:grpSp>
      <p:grpSp>
        <p:nvGrpSpPr>
          <p:cNvPr id="10" name="Группа 9"/>
          <p:cNvGrpSpPr/>
          <p:nvPr/>
        </p:nvGrpSpPr>
        <p:grpSpPr>
          <a:xfrm>
            <a:off x="6537732" y="1898068"/>
            <a:ext cx="1660680" cy="369332"/>
            <a:chOff x="6537732" y="2690156"/>
            <a:chExt cx="1660680" cy="369332"/>
          </a:xfrm>
        </p:grpSpPr>
        <p:sp>
          <p:nvSpPr>
            <p:cNvPr id="78" name="TextBox 77"/>
            <p:cNvSpPr txBox="1"/>
            <p:nvPr/>
          </p:nvSpPr>
          <p:spPr>
            <a:xfrm>
              <a:off x="6974276" y="2690156"/>
              <a:ext cx="1224136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8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>
                <a:defRPr b="1"/>
              </a:lvl1pPr>
            </a:lstStyle>
            <a:p>
              <a:r>
                <a:rPr lang="en-US" dirty="0"/>
                <a:t>87fa75</a:t>
              </a:r>
              <a:endParaRPr lang="ru-RU" dirty="0"/>
            </a:p>
          </p:txBody>
        </p:sp>
        <p:cxnSp>
          <p:nvCxnSpPr>
            <p:cNvPr id="79" name="Прямая соединительная линия 78"/>
            <p:cNvCxnSpPr/>
            <p:nvPr/>
          </p:nvCxnSpPr>
          <p:spPr>
            <a:xfrm>
              <a:off x="6537732" y="2893586"/>
              <a:ext cx="432048" cy="47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Группа 79"/>
          <p:cNvGrpSpPr/>
          <p:nvPr/>
        </p:nvGrpSpPr>
        <p:grpSpPr>
          <a:xfrm>
            <a:off x="6690132" y="4427820"/>
            <a:ext cx="1660680" cy="369332"/>
            <a:chOff x="6537732" y="2690156"/>
            <a:chExt cx="1660680" cy="369332"/>
          </a:xfrm>
        </p:grpSpPr>
        <p:sp>
          <p:nvSpPr>
            <p:cNvPr id="81" name="TextBox 80"/>
            <p:cNvSpPr txBox="1"/>
            <p:nvPr/>
          </p:nvSpPr>
          <p:spPr>
            <a:xfrm>
              <a:off x="6974276" y="2690156"/>
              <a:ext cx="1224136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8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>
                <a:defRPr b="1"/>
              </a:lvl1pPr>
            </a:lstStyle>
            <a:p>
              <a:r>
                <a:rPr lang="en-US" dirty="0"/>
                <a:t>87fa75</a:t>
              </a:r>
              <a:endParaRPr lang="ru-RU" dirty="0"/>
            </a:p>
          </p:txBody>
        </p:sp>
        <p:cxnSp>
          <p:nvCxnSpPr>
            <p:cNvPr id="82" name="Прямая соединительная линия 81"/>
            <p:cNvCxnSpPr/>
            <p:nvPr/>
          </p:nvCxnSpPr>
          <p:spPr>
            <a:xfrm>
              <a:off x="6537732" y="2893586"/>
              <a:ext cx="432048" cy="47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67884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2696"/>
            <a:ext cx="9144000" cy="219188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9512" y="116632"/>
            <a:ext cx="40559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accent2"/>
                </a:solidFill>
              </a:rPr>
              <a:t>rejected</a:t>
            </a:r>
            <a:r>
              <a:rPr lang="en-US" sz="2400" dirty="0" smtClean="0"/>
              <a:t> </a:t>
            </a:r>
            <a:r>
              <a:rPr lang="en-US" sz="2400" b="1" dirty="0" smtClean="0"/>
              <a:t>-&gt; </a:t>
            </a:r>
            <a:r>
              <a:rPr lang="ru-RU" sz="2400" b="1" dirty="0" smtClean="0"/>
              <a:t>отклонено</a:t>
            </a:r>
            <a:endParaRPr lang="ru-RU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126192" y="3356992"/>
            <a:ext cx="8891615" cy="830997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sz="2400" dirty="0" smtClean="0">
                <a:solidFill>
                  <a:schemeClr val="accent2"/>
                </a:solidFill>
              </a:rPr>
              <a:t>!!! ПРАВИЛО – перед тем </a:t>
            </a:r>
            <a:r>
              <a:rPr lang="uk-UA" sz="2400" dirty="0" err="1" smtClean="0">
                <a:solidFill>
                  <a:schemeClr val="accent2"/>
                </a:solidFill>
              </a:rPr>
              <a:t>как</a:t>
            </a:r>
            <a:r>
              <a:rPr lang="uk-UA" sz="2400" dirty="0" smtClean="0">
                <a:solidFill>
                  <a:schemeClr val="accent2"/>
                </a:solidFill>
              </a:rPr>
              <a:t> </a:t>
            </a:r>
            <a:r>
              <a:rPr lang="uk-UA" sz="2400" dirty="0" err="1" smtClean="0">
                <a:solidFill>
                  <a:schemeClr val="accent2"/>
                </a:solidFill>
              </a:rPr>
              <a:t>выполнить</a:t>
            </a:r>
            <a:r>
              <a:rPr lang="uk-UA" sz="2400" dirty="0" smtClean="0">
                <a:solidFill>
                  <a:schemeClr val="accent2"/>
                </a:solidFill>
              </a:rPr>
              <a:t> </a:t>
            </a:r>
            <a:r>
              <a:rPr lang="en-US" sz="2400" dirty="0" smtClean="0">
                <a:solidFill>
                  <a:srgbClr val="002060"/>
                </a:solidFill>
              </a:rPr>
              <a:t>push</a:t>
            </a:r>
            <a:r>
              <a:rPr lang="en-US" sz="2400" dirty="0" smtClean="0">
                <a:solidFill>
                  <a:schemeClr val="accent2"/>
                </a:solidFill>
              </a:rPr>
              <a:t> </a:t>
            </a:r>
            <a:r>
              <a:rPr lang="uk-UA" sz="2400" dirty="0" smtClean="0">
                <a:solidFill>
                  <a:schemeClr val="accent2"/>
                </a:solidFill>
              </a:rPr>
              <a:t>на </a:t>
            </a:r>
            <a:r>
              <a:rPr lang="en-US" sz="2400" dirty="0" err="1" smtClean="0">
                <a:solidFill>
                  <a:srgbClr val="7030A0"/>
                </a:solidFill>
              </a:rPr>
              <a:t>github</a:t>
            </a:r>
            <a:r>
              <a:rPr lang="uk-UA" sz="2400" dirty="0" smtClean="0">
                <a:solidFill>
                  <a:schemeClr val="accent2"/>
                </a:solidFill>
              </a:rPr>
              <a:t> </a:t>
            </a:r>
            <a:r>
              <a:rPr lang="uk-UA" sz="2400" dirty="0" err="1" smtClean="0">
                <a:solidFill>
                  <a:schemeClr val="accent2"/>
                </a:solidFill>
              </a:rPr>
              <a:t>всегда</a:t>
            </a:r>
            <a:r>
              <a:rPr lang="uk-UA" sz="2400" dirty="0" smtClean="0">
                <a:solidFill>
                  <a:schemeClr val="accent2"/>
                </a:solidFill>
              </a:rPr>
              <a:t> </a:t>
            </a:r>
            <a:r>
              <a:rPr lang="uk-UA" sz="2400" dirty="0" err="1" smtClean="0">
                <a:solidFill>
                  <a:schemeClr val="accent2"/>
                </a:solidFill>
              </a:rPr>
              <a:t>предварительно</a:t>
            </a:r>
            <a:r>
              <a:rPr lang="uk-UA" sz="2400" dirty="0" smtClean="0">
                <a:solidFill>
                  <a:schemeClr val="accent2"/>
                </a:solidFill>
              </a:rPr>
              <a:t> </a:t>
            </a:r>
            <a:r>
              <a:rPr lang="uk-UA" sz="2400" dirty="0" err="1" smtClean="0">
                <a:solidFill>
                  <a:schemeClr val="accent2"/>
                </a:solidFill>
              </a:rPr>
              <a:t>выполнять</a:t>
            </a:r>
            <a:r>
              <a:rPr lang="uk-UA" sz="2400" dirty="0" smtClean="0">
                <a:solidFill>
                  <a:schemeClr val="accent2"/>
                </a:solidFill>
              </a:rPr>
              <a:t> </a:t>
            </a:r>
            <a:r>
              <a:rPr lang="en-US" sz="2400" dirty="0" smtClean="0">
                <a:solidFill>
                  <a:srgbClr val="002060"/>
                </a:solidFill>
              </a:rPr>
              <a:t>pull</a:t>
            </a:r>
            <a:endParaRPr lang="ru-RU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58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124744"/>
            <a:ext cx="8932826" cy="56051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504" y="44624"/>
            <a:ext cx="9036496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smtClean="0">
                <a:solidFill>
                  <a:srgbClr val="002060"/>
                </a:solidFill>
              </a:rPr>
              <a:t>Команда </a:t>
            </a:r>
            <a:r>
              <a:rPr lang="en-US" dirty="0" smtClean="0">
                <a:solidFill>
                  <a:schemeClr val="accent2"/>
                </a:solidFill>
              </a:rPr>
              <a:t>pull</a:t>
            </a:r>
            <a:r>
              <a:rPr lang="en-US" dirty="0" smtClean="0">
                <a:solidFill>
                  <a:srgbClr val="002060"/>
                </a:solidFill>
              </a:rPr>
              <a:t> – </a:t>
            </a:r>
            <a:r>
              <a:rPr lang="ru-RU" dirty="0" smtClean="0">
                <a:solidFill>
                  <a:srgbClr val="002060"/>
                </a:solidFill>
              </a:rPr>
              <a:t>это две последовательно выполняемые команды </a:t>
            </a:r>
            <a:endParaRPr lang="en-US" dirty="0" smtClean="0">
              <a:solidFill>
                <a:srgbClr val="002060"/>
              </a:solidFill>
            </a:endParaRPr>
          </a:p>
          <a:p>
            <a:r>
              <a:rPr lang="en-US" dirty="0" smtClean="0">
                <a:solidFill>
                  <a:schemeClr val="accent2"/>
                </a:solidFill>
              </a:rPr>
              <a:t>fetch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ru-RU" dirty="0" smtClean="0">
                <a:solidFill>
                  <a:srgbClr val="002060"/>
                </a:solidFill>
              </a:rPr>
              <a:t>и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smtClean="0">
                <a:solidFill>
                  <a:schemeClr val="accent2"/>
                </a:solidFill>
              </a:rPr>
              <a:t>merge</a:t>
            </a:r>
            <a:endParaRPr lang="ru-RU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312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07504" y="44624"/>
            <a:ext cx="9036496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en-US" dirty="0" smtClean="0">
                <a:solidFill>
                  <a:srgbClr val="002060"/>
                </a:solidFill>
              </a:rPr>
              <a:t>Case 2</a:t>
            </a:r>
            <a:r>
              <a:rPr lang="uk-UA" dirty="0" smtClean="0">
                <a:solidFill>
                  <a:srgbClr val="002060"/>
                </a:solidFill>
              </a:rPr>
              <a:t> – </a:t>
            </a:r>
            <a:r>
              <a:rPr lang="ru-RU" dirty="0" smtClean="0">
                <a:solidFill>
                  <a:srgbClr val="002060"/>
                </a:solidFill>
              </a:rPr>
              <a:t>конфликты при работе в команде</a:t>
            </a:r>
            <a:endParaRPr lang="ru-RU" dirty="0">
              <a:solidFill>
                <a:srgbClr val="002060"/>
              </a:solidFill>
            </a:endParaRP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 flipH="1">
            <a:off x="3383869" y="2564904"/>
            <a:ext cx="8010" cy="213961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вал 12"/>
          <p:cNvSpPr/>
          <p:nvPr/>
        </p:nvSpPr>
        <p:spPr>
          <a:xfrm>
            <a:off x="3203848" y="2996952"/>
            <a:ext cx="360040" cy="360040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3211859" y="4149080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/>
          <p:cNvSpPr txBox="1"/>
          <p:nvPr/>
        </p:nvSpPr>
        <p:spPr>
          <a:xfrm>
            <a:off x="2912113" y="2132856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User_2</a:t>
            </a:r>
            <a:endParaRPr lang="ru-RU" b="1" dirty="0">
              <a:solidFill>
                <a:srgbClr val="FF0000"/>
              </a:solidFill>
            </a:endParaRP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 flipH="1">
            <a:off x="5686272" y="2585527"/>
            <a:ext cx="8010" cy="213961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Овал 20"/>
          <p:cNvSpPr/>
          <p:nvPr/>
        </p:nvSpPr>
        <p:spPr>
          <a:xfrm>
            <a:off x="5506251" y="3017575"/>
            <a:ext cx="360040" cy="3600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>
            <a:off x="5514262" y="4169703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/>
          <p:cNvSpPr txBox="1"/>
          <p:nvPr/>
        </p:nvSpPr>
        <p:spPr>
          <a:xfrm>
            <a:off x="60966" y="476672"/>
            <a:ext cx="8975530" cy="1477328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 smtClean="0">
                <a:solidFill>
                  <a:schemeClr val="accent2"/>
                </a:solidFill>
              </a:rPr>
              <a:t>User_1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en-US" dirty="0" smtClean="0">
                <a:solidFill>
                  <a:srgbClr val="C00000"/>
                </a:solidFill>
              </a:rPr>
              <a:t>User_2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ru-RU" dirty="0" smtClean="0"/>
              <a:t> одновременно изменили в файле </a:t>
            </a:r>
            <a:r>
              <a:rPr lang="en-US" dirty="0" smtClean="0">
                <a:solidFill>
                  <a:srgbClr val="C00000"/>
                </a:solidFill>
              </a:rPr>
              <a:t>readme.txt</a:t>
            </a:r>
            <a:r>
              <a:rPr lang="ru-RU" dirty="0" smtClean="0"/>
              <a:t>, одну и ту же строку и сделали у себя локальные </a:t>
            </a:r>
            <a:r>
              <a:rPr lang="en-US" dirty="0" smtClean="0">
                <a:solidFill>
                  <a:srgbClr val="0070C0"/>
                </a:solidFill>
              </a:rPr>
              <a:t>commit</a:t>
            </a:r>
            <a:endParaRPr lang="ru-RU" dirty="0" smtClean="0">
              <a:solidFill>
                <a:srgbClr val="0070C0"/>
              </a:solidFill>
            </a:endParaRPr>
          </a:p>
          <a:p>
            <a:endParaRPr lang="ru-RU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User_1</a:t>
            </a:r>
            <a:r>
              <a:rPr lang="en-US" dirty="0" smtClean="0"/>
              <a:t> </a:t>
            </a:r>
            <a:r>
              <a:rPr lang="ru-RU" dirty="0" smtClean="0"/>
              <a:t>сделал </a:t>
            </a:r>
            <a:r>
              <a:rPr lang="en-US" dirty="0" smtClean="0"/>
              <a:t>push </a:t>
            </a:r>
            <a:r>
              <a:rPr lang="ru-RU" dirty="0" smtClean="0"/>
              <a:t>на </a:t>
            </a:r>
            <a:r>
              <a:rPr lang="en-US" dirty="0" err="1" smtClean="0"/>
              <a:t>github</a:t>
            </a:r>
            <a:endParaRPr lang="en-US" dirty="0" smtClean="0"/>
          </a:p>
          <a:p>
            <a:r>
              <a:rPr lang="ru-RU" dirty="0" smtClean="0"/>
              <a:t>Что мы имеем</a:t>
            </a:r>
            <a:endParaRPr lang="en-US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5288377" y="2132856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/>
              <a:t>github</a:t>
            </a:r>
            <a:endParaRPr lang="ru-RU" b="1" dirty="0"/>
          </a:p>
        </p:txBody>
      </p:sp>
      <p:cxnSp>
        <p:nvCxnSpPr>
          <p:cNvPr id="5" name="Прямая со стрелкой 4"/>
          <p:cNvCxnSpPr/>
          <p:nvPr/>
        </p:nvCxnSpPr>
        <p:spPr>
          <a:xfrm>
            <a:off x="3642054" y="4365104"/>
            <a:ext cx="1791325" cy="0"/>
          </a:xfrm>
          <a:prstGeom prst="straightConnector1">
            <a:avLst/>
          </a:prstGeom>
          <a:ln w="38100">
            <a:solidFill>
              <a:srgbClr val="660066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594414" y="3923057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>
                <a:solidFill>
                  <a:srgbClr val="660066"/>
                </a:solidFill>
              </a:rPr>
              <a:t>одно и то же</a:t>
            </a:r>
            <a:endParaRPr lang="ru-RU" b="1" dirty="0">
              <a:solidFill>
                <a:srgbClr val="660066"/>
              </a:solidFill>
            </a:endParaRPr>
          </a:p>
        </p:txBody>
      </p:sp>
      <p:cxnSp>
        <p:nvCxnSpPr>
          <p:cNvPr id="27" name="Прямая со стрелкой 26"/>
          <p:cNvCxnSpPr/>
          <p:nvPr/>
        </p:nvCxnSpPr>
        <p:spPr>
          <a:xfrm>
            <a:off x="3642054" y="3203986"/>
            <a:ext cx="1791325" cy="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029162" y="2770827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>
                <a:solidFill>
                  <a:srgbClr val="C00000"/>
                </a:solidFill>
              </a:rPr>
              <a:t>разное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3366" y="5445224"/>
            <a:ext cx="8975530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rgbClr val="C00000"/>
                </a:solidFill>
              </a:rPr>
              <a:t>User_2</a:t>
            </a:r>
            <a:r>
              <a:rPr lang="en-US" dirty="0" smtClean="0"/>
              <a:t> </a:t>
            </a:r>
            <a:r>
              <a:rPr lang="ru-RU" dirty="0" smtClean="0"/>
              <a:t>делает</a:t>
            </a:r>
            <a:r>
              <a:rPr lang="uk-UA" dirty="0" smtClean="0"/>
              <a:t> </a:t>
            </a:r>
            <a:r>
              <a:rPr lang="en-US" dirty="0" smtClean="0">
                <a:solidFill>
                  <a:srgbClr val="0070C0"/>
                </a:solidFill>
              </a:rPr>
              <a:t>pull </a:t>
            </a:r>
            <a:r>
              <a:rPr lang="ru-RU" dirty="0" smtClean="0"/>
              <a:t>и получает ко</a:t>
            </a:r>
            <a:r>
              <a:rPr lang="ru-RU" dirty="0"/>
              <a:t>н</a:t>
            </a:r>
            <a:r>
              <a:rPr lang="ru-RU" dirty="0" smtClean="0"/>
              <a:t>фликт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uk-UA" dirty="0" smtClean="0"/>
              <a:t> </a:t>
            </a:r>
            <a:endParaRPr lang="uk-UA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429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4624"/>
            <a:ext cx="8784976" cy="266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54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07504" y="116632"/>
            <a:ext cx="6336704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smtClean="0"/>
              <a:t>Чтобы посмотреть где конфликт можно набрать</a:t>
            </a:r>
            <a:endParaRPr lang="en-US" dirty="0" smtClean="0">
              <a:solidFill>
                <a:schemeClr val="accent2"/>
              </a:solidFill>
            </a:endParaRPr>
          </a:p>
          <a:p>
            <a:r>
              <a:rPr lang="en-US" dirty="0" smtClean="0">
                <a:solidFill>
                  <a:schemeClr val="accent2"/>
                </a:solidFill>
              </a:rPr>
              <a:t>$ </a:t>
            </a:r>
            <a:r>
              <a:rPr lang="en-US" dirty="0" err="1" smtClean="0">
                <a:solidFill>
                  <a:schemeClr val="accent2"/>
                </a:solidFill>
              </a:rPr>
              <a:t>git</a:t>
            </a:r>
            <a:r>
              <a:rPr lang="en-US" dirty="0" smtClean="0">
                <a:solidFill>
                  <a:schemeClr val="accent2"/>
                </a:solidFill>
              </a:rPr>
              <a:t> status</a:t>
            </a:r>
            <a:endParaRPr lang="uk-UA" dirty="0">
              <a:solidFill>
                <a:srgbClr val="0070C0"/>
              </a:solidFill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01" y="836712"/>
            <a:ext cx="8868353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06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9325" y="188640"/>
            <a:ext cx="8925350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smtClean="0"/>
              <a:t>Открыть файл и выбрать нужный вариант (см </a:t>
            </a:r>
            <a:r>
              <a:rPr lang="en-US" dirty="0" smtClean="0"/>
              <a:t>GIT_2, slide 13</a:t>
            </a:r>
            <a:r>
              <a:rPr lang="ru-RU" dirty="0" smtClean="0"/>
              <a:t>)</a:t>
            </a:r>
            <a:endParaRPr lang="uk-UA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5683" y="3501008"/>
            <a:ext cx="8567131" cy="1200329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smtClean="0"/>
              <a:t>Выполнить команду</a:t>
            </a:r>
          </a:p>
          <a:p>
            <a:r>
              <a:rPr lang="en-US" dirty="0" smtClean="0">
                <a:solidFill>
                  <a:schemeClr val="accent2"/>
                </a:solidFill>
              </a:rPr>
              <a:t>$ </a:t>
            </a:r>
            <a:r>
              <a:rPr lang="en-US" dirty="0" err="1" smtClean="0">
                <a:solidFill>
                  <a:schemeClr val="accent2"/>
                </a:solidFill>
              </a:rPr>
              <a:t>git</a:t>
            </a:r>
            <a:r>
              <a:rPr lang="en-US" dirty="0" smtClean="0">
                <a:solidFill>
                  <a:schemeClr val="accent2"/>
                </a:solidFill>
              </a:rPr>
              <a:t> commit –a </a:t>
            </a:r>
            <a:r>
              <a:rPr lang="ru-RU" dirty="0" smtClean="0">
                <a:solidFill>
                  <a:schemeClr val="accent2"/>
                </a:solidFill>
              </a:rPr>
              <a:t>  </a:t>
            </a:r>
            <a:r>
              <a:rPr lang="ru-RU" dirty="0" smtClean="0">
                <a:solidFill>
                  <a:schemeClr val="bg1">
                    <a:lumMod val="50000"/>
                  </a:schemeClr>
                </a:solidFill>
              </a:rPr>
              <a:t>(при этом откроется редактор для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message)</a:t>
            </a:r>
            <a:endParaRPr lang="ru-RU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ru-RU" dirty="0" smtClean="0"/>
              <a:t> или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commit –</a:t>
            </a:r>
            <a:r>
              <a:rPr lang="en-US" dirty="0" smtClean="0">
                <a:solidFill>
                  <a:schemeClr val="accent2"/>
                </a:solidFill>
              </a:rPr>
              <a:t>am  </a:t>
            </a:r>
            <a:r>
              <a:rPr lang="en-US" dirty="0">
                <a:solidFill>
                  <a:schemeClr val="accent2"/>
                </a:solidFill>
              </a:rPr>
              <a:t>"</a:t>
            </a:r>
            <a:r>
              <a:rPr lang="en-US" dirty="0" smtClean="0">
                <a:solidFill>
                  <a:schemeClr val="accent2"/>
                </a:solidFill>
              </a:rPr>
              <a:t>..."</a:t>
            </a:r>
            <a:endParaRPr lang="uk-UA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73" y="836712"/>
            <a:ext cx="4732960" cy="201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11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876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Прямая соединительная линия 23"/>
          <p:cNvCxnSpPr/>
          <p:nvPr/>
        </p:nvCxnSpPr>
        <p:spPr>
          <a:xfrm flipH="1">
            <a:off x="4824029" y="2348880"/>
            <a:ext cx="8010" cy="213961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4644008" y="2780928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4652019" y="3933056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7" name="Группа 26"/>
          <p:cNvGrpSpPr/>
          <p:nvPr/>
        </p:nvGrpSpPr>
        <p:grpSpPr>
          <a:xfrm>
            <a:off x="3329505" y="2578653"/>
            <a:ext cx="1224136" cy="778339"/>
            <a:chOff x="4724735" y="5308082"/>
            <a:chExt cx="1224136" cy="778339"/>
          </a:xfrm>
        </p:grpSpPr>
        <p:sp>
          <p:nvSpPr>
            <p:cNvPr id="28" name="Стрелка влево 27"/>
            <p:cNvSpPr/>
            <p:nvPr/>
          </p:nvSpPr>
          <p:spPr>
            <a:xfrm rot="10800000">
              <a:off x="4724735" y="5308082"/>
              <a:ext cx="1224136" cy="778339"/>
            </a:xfrm>
            <a:prstGeom prst="leftArrow">
              <a:avLst/>
            </a:prstGeom>
            <a:solidFill>
              <a:schemeClr val="accent2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855928" y="5517232"/>
              <a:ext cx="8002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>
                  <a:solidFill>
                    <a:schemeClr val="bg1"/>
                  </a:solidFill>
                </a:rPr>
                <a:t>HEAD</a:t>
              </a:r>
              <a:endParaRPr lang="ru-RU" sz="20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0" name="Прямая соединительная линия 29"/>
          <p:cNvCxnSpPr/>
          <p:nvPr/>
        </p:nvCxnSpPr>
        <p:spPr>
          <a:xfrm flipH="1">
            <a:off x="4832039" y="3356992"/>
            <a:ext cx="1288133" cy="43204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/>
        </p:nvCxnSpPr>
        <p:spPr>
          <a:xfrm>
            <a:off x="6120172" y="2348880"/>
            <a:ext cx="9381" cy="1011392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Овал 31"/>
          <p:cNvSpPr/>
          <p:nvPr/>
        </p:nvSpPr>
        <p:spPr>
          <a:xfrm>
            <a:off x="5940152" y="2708920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/>
          <p:cNvSpPr txBox="1"/>
          <p:nvPr/>
        </p:nvSpPr>
        <p:spPr>
          <a:xfrm>
            <a:off x="4352273" y="1916832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master</a:t>
            </a:r>
            <a:endParaRPr lang="ru-RU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5648417" y="191683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cat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571917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1.11111E-6 L 0.1757 -0.1733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85" y="-8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57 -0.17338 L -2.77778E-6 1.11111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85" y="8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1.11111E-6 L -0.00468 -0.341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3" y="-170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Метро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Cour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4697</TotalTime>
  <Words>233</Words>
  <Application>Microsoft Office PowerPoint</Application>
  <PresentationFormat>Экран (4:3)</PresentationFormat>
  <Paragraphs>79</Paragraphs>
  <Slides>11</Slides>
  <Notes>11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*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roman</dc:creator>
  <cp:lastModifiedBy>romannikiforov2012@gmail.com</cp:lastModifiedBy>
  <cp:revision>778</cp:revision>
  <dcterms:created xsi:type="dcterms:W3CDTF">2012-03-08T07:38:11Z</dcterms:created>
  <dcterms:modified xsi:type="dcterms:W3CDTF">2019-09-20T05:58:07Z</dcterms:modified>
</cp:coreProperties>
</file>